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58" r:id="rId4"/>
    <p:sldId id="259" r:id="rId5"/>
    <p:sldId id="260" r:id="rId6"/>
    <p:sldId id="263" r:id="rId7"/>
    <p:sldId id="261" r:id="rId8"/>
    <p:sldId id="264" r:id="rId9"/>
    <p:sldId id="265" r:id="rId10"/>
    <p:sldId id="266" r:id="rId11"/>
    <p:sldId id="267" r:id="rId12"/>
    <p:sldId id="268" r:id="rId13"/>
    <p:sldId id="269" r:id="rId14"/>
    <p:sldId id="270" r:id="rId15"/>
    <p:sldId id="271" r:id="rId1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59" autoAdjust="0"/>
    <p:restoredTop sz="94660"/>
  </p:normalViewPr>
  <p:slideViewPr>
    <p:cSldViewPr snapToGrid="0">
      <p:cViewPr varScale="1">
        <p:scale>
          <a:sx n="94" d="100"/>
          <a:sy n="94" d="100"/>
        </p:scale>
        <p:origin x="91" y="1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_rels/data2.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png"/></Relationships>
</file>

<file path=ppt/diagrams/_rels/data3.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10" Type="http://schemas.openxmlformats.org/officeDocument/2006/relationships/image" Target="../media/image28.svg"/><Relationship Id="rId4" Type="http://schemas.openxmlformats.org/officeDocument/2006/relationships/image" Target="../media/image22.svg"/><Relationship Id="rId9" Type="http://schemas.openxmlformats.org/officeDocument/2006/relationships/image" Target="../media/image27.png"/></Relationships>
</file>

<file path=ppt/diagrams/_rels/drawing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png"/></Relationships>
</file>

<file path=ppt/diagrams/_rels/drawing3.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10" Type="http://schemas.openxmlformats.org/officeDocument/2006/relationships/image" Target="../media/image28.svg"/><Relationship Id="rId4" Type="http://schemas.openxmlformats.org/officeDocument/2006/relationships/image" Target="../media/image22.svg"/><Relationship Id="rId9" Type="http://schemas.openxmlformats.org/officeDocument/2006/relationships/image" Target="../media/image27.png"/></Relationships>
</file>

<file path=ppt/diagrams/colors1.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99EA13C-C93B-47FC-BC45-EC65A8AB624E}" type="doc">
      <dgm:prSet loTypeId="urn:microsoft.com/office/officeart/2018/5/layout/IconCircle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58D476BA-1513-4C39-8DEE-67869F05C0C8}">
      <dgm:prSet/>
      <dgm:spPr/>
      <dgm:t>
        <a:bodyPr/>
        <a:lstStyle/>
        <a:p>
          <a:pPr>
            <a:lnSpc>
              <a:spcPct val="100000"/>
            </a:lnSpc>
            <a:defRPr cap="all"/>
          </a:pPr>
          <a:r>
            <a:rPr lang="fr-FR" dirty="0"/>
            <a:t>Typologie : </a:t>
          </a:r>
          <a:r>
            <a:rPr lang="fr-FR" dirty="0">
              <a:latin typeface="Aptos Display" panose="020F0302020204030204"/>
            </a:rPr>
            <a:t>Micro entreprise</a:t>
          </a:r>
          <a:r>
            <a:rPr lang="fr-FR" dirty="0"/>
            <a:t> </a:t>
          </a:r>
          <a:r>
            <a:rPr lang="fr-FR" dirty="0">
              <a:latin typeface="Aptos Display" panose="020F0302020204030204"/>
            </a:rPr>
            <a:t>(</a:t>
          </a:r>
          <a:r>
            <a:rPr lang="fr-FR" dirty="0"/>
            <a:t>1 à 9</a:t>
          </a:r>
          <a:r>
            <a:rPr lang="fr-FR" dirty="0">
              <a:latin typeface="Aptos Display" panose="020F0302020204030204"/>
            </a:rPr>
            <a:t>)</a:t>
          </a:r>
          <a:endParaRPr lang="en-US" dirty="0"/>
        </a:p>
      </dgm:t>
    </dgm:pt>
    <dgm:pt modelId="{67651D7E-8B71-405E-85B9-4D5A84F294F4}" type="parTrans" cxnId="{B36B9C86-F84A-4595-B960-08A3E66E30CE}">
      <dgm:prSet/>
      <dgm:spPr/>
      <dgm:t>
        <a:bodyPr/>
        <a:lstStyle/>
        <a:p>
          <a:endParaRPr lang="en-US"/>
        </a:p>
      </dgm:t>
    </dgm:pt>
    <dgm:pt modelId="{A8F2A1F2-C6EF-437F-824D-719B8EA619E4}" type="sibTrans" cxnId="{B36B9C86-F84A-4595-B960-08A3E66E30CE}">
      <dgm:prSet/>
      <dgm:spPr/>
      <dgm:t>
        <a:bodyPr/>
        <a:lstStyle/>
        <a:p>
          <a:endParaRPr lang="en-US"/>
        </a:p>
      </dgm:t>
    </dgm:pt>
    <dgm:pt modelId="{DA1C5626-D99B-4687-B6DE-D6FC481FC10D}">
      <dgm:prSet/>
      <dgm:spPr/>
      <dgm:t>
        <a:bodyPr/>
        <a:lstStyle/>
        <a:p>
          <a:pPr>
            <a:lnSpc>
              <a:spcPct val="100000"/>
            </a:lnSpc>
            <a:defRPr cap="all"/>
          </a:pPr>
          <a:r>
            <a:rPr lang="fr-FR" dirty="0"/>
            <a:t>Effectif : 6</a:t>
          </a:r>
          <a:endParaRPr lang="en-US" dirty="0"/>
        </a:p>
      </dgm:t>
    </dgm:pt>
    <dgm:pt modelId="{AA56AB3F-67F5-4948-94FA-32B2AEBFEE84}" type="parTrans" cxnId="{A449BB9C-5FF0-4F12-B304-9FF58BDBE5EE}">
      <dgm:prSet/>
      <dgm:spPr/>
      <dgm:t>
        <a:bodyPr/>
        <a:lstStyle/>
        <a:p>
          <a:endParaRPr lang="en-US"/>
        </a:p>
      </dgm:t>
    </dgm:pt>
    <dgm:pt modelId="{5F72D042-BC98-40E0-A9B6-FBB2341BBA51}" type="sibTrans" cxnId="{A449BB9C-5FF0-4F12-B304-9FF58BDBE5EE}">
      <dgm:prSet/>
      <dgm:spPr/>
      <dgm:t>
        <a:bodyPr/>
        <a:lstStyle/>
        <a:p>
          <a:endParaRPr lang="en-US"/>
        </a:p>
      </dgm:t>
    </dgm:pt>
    <dgm:pt modelId="{3005C999-BF8C-42C2-BE40-528DDC6A83FF}" type="pres">
      <dgm:prSet presAssocID="{999EA13C-C93B-47FC-BC45-EC65A8AB624E}" presName="root" presStyleCnt="0">
        <dgm:presLayoutVars>
          <dgm:dir/>
          <dgm:resizeHandles val="exact"/>
        </dgm:presLayoutVars>
      </dgm:prSet>
      <dgm:spPr/>
    </dgm:pt>
    <dgm:pt modelId="{64D429BC-9113-4B1A-B83D-57B948C2B25C}" type="pres">
      <dgm:prSet presAssocID="{58D476BA-1513-4C39-8DEE-67869F05C0C8}" presName="compNode" presStyleCnt="0"/>
      <dgm:spPr/>
    </dgm:pt>
    <dgm:pt modelId="{22FD5D66-0556-48B4-BD09-C5A3E2CE218C}" type="pres">
      <dgm:prSet presAssocID="{58D476BA-1513-4C39-8DEE-67869F05C0C8}" presName="iconBgRect" presStyleLbl="bgShp" presStyleIdx="0" presStyleCnt="2"/>
      <dgm:spPr/>
    </dgm:pt>
    <dgm:pt modelId="{68E8C1ED-C94A-45D5-A1D3-37C44C6A0504}" type="pres">
      <dgm:prSet presAssocID="{58D476BA-1513-4C39-8DEE-67869F05C0C8}"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Réunion"/>
        </a:ext>
      </dgm:extLst>
    </dgm:pt>
    <dgm:pt modelId="{1E636115-9446-42E2-A115-358B9530535D}" type="pres">
      <dgm:prSet presAssocID="{58D476BA-1513-4C39-8DEE-67869F05C0C8}" presName="spaceRect" presStyleCnt="0"/>
      <dgm:spPr/>
    </dgm:pt>
    <dgm:pt modelId="{33949EBC-C84B-4B18-9982-DC57538E2108}" type="pres">
      <dgm:prSet presAssocID="{58D476BA-1513-4C39-8DEE-67869F05C0C8}" presName="textRect" presStyleLbl="revTx" presStyleIdx="0" presStyleCnt="2">
        <dgm:presLayoutVars>
          <dgm:chMax val="1"/>
          <dgm:chPref val="1"/>
        </dgm:presLayoutVars>
      </dgm:prSet>
      <dgm:spPr/>
    </dgm:pt>
    <dgm:pt modelId="{D93F60A9-64C6-498E-A452-9D0C2BE17230}" type="pres">
      <dgm:prSet presAssocID="{A8F2A1F2-C6EF-437F-824D-719B8EA619E4}" presName="sibTrans" presStyleCnt="0"/>
      <dgm:spPr/>
    </dgm:pt>
    <dgm:pt modelId="{9C7552DE-9468-417C-9001-BE56EBFCE5A1}" type="pres">
      <dgm:prSet presAssocID="{DA1C5626-D99B-4687-B6DE-D6FC481FC10D}" presName="compNode" presStyleCnt="0"/>
      <dgm:spPr/>
    </dgm:pt>
    <dgm:pt modelId="{69FE29CD-1F37-4C4F-8688-EED0198C2AD8}" type="pres">
      <dgm:prSet presAssocID="{DA1C5626-D99B-4687-B6DE-D6FC481FC10D}" presName="iconBgRect" presStyleLbl="bgShp" presStyleIdx="1" presStyleCnt="2"/>
      <dgm:spPr/>
    </dgm:pt>
    <dgm:pt modelId="{B176A4D6-B7D0-4A69-8CA6-474B0246B5B5}" type="pres">
      <dgm:prSet presAssocID="{DA1C5626-D99B-4687-B6DE-D6FC481FC10D}"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Ice cream"/>
        </a:ext>
      </dgm:extLst>
    </dgm:pt>
    <dgm:pt modelId="{0524C80E-0864-4509-81F1-B94AFA67D040}" type="pres">
      <dgm:prSet presAssocID="{DA1C5626-D99B-4687-B6DE-D6FC481FC10D}" presName="spaceRect" presStyleCnt="0"/>
      <dgm:spPr/>
    </dgm:pt>
    <dgm:pt modelId="{0612A798-8B52-4353-A23F-9EC01184E118}" type="pres">
      <dgm:prSet presAssocID="{DA1C5626-D99B-4687-B6DE-D6FC481FC10D}" presName="textRect" presStyleLbl="revTx" presStyleIdx="1" presStyleCnt="2">
        <dgm:presLayoutVars>
          <dgm:chMax val="1"/>
          <dgm:chPref val="1"/>
        </dgm:presLayoutVars>
      </dgm:prSet>
      <dgm:spPr/>
    </dgm:pt>
  </dgm:ptLst>
  <dgm:cxnLst>
    <dgm:cxn modelId="{65960E6B-A41A-4BB9-A839-C40D1FD0E00B}" type="presOf" srcId="{999EA13C-C93B-47FC-BC45-EC65A8AB624E}" destId="{3005C999-BF8C-42C2-BE40-528DDC6A83FF}" srcOrd="0" destOrd="0" presId="urn:microsoft.com/office/officeart/2018/5/layout/IconCircleLabelList"/>
    <dgm:cxn modelId="{B36B9C86-F84A-4595-B960-08A3E66E30CE}" srcId="{999EA13C-C93B-47FC-BC45-EC65A8AB624E}" destId="{58D476BA-1513-4C39-8DEE-67869F05C0C8}" srcOrd="0" destOrd="0" parTransId="{67651D7E-8B71-405E-85B9-4D5A84F294F4}" sibTransId="{A8F2A1F2-C6EF-437F-824D-719B8EA619E4}"/>
    <dgm:cxn modelId="{A449BB9C-5FF0-4F12-B304-9FF58BDBE5EE}" srcId="{999EA13C-C93B-47FC-BC45-EC65A8AB624E}" destId="{DA1C5626-D99B-4687-B6DE-D6FC481FC10D}" srcOrd="1" destOrd="0" parTransId="{AA56AB3F-67F5-4948-94FA-32B2AEBFEE84}" sibTransId="{5F72D042-BC98-40E0-A9B6-FBB2341BBA51}"/>
    <dgm:cxn modelId="{9879A2E4-6144-4305-BCFB-92DA4FDE5C0B}" type="presOf" srcId="{DA1C5626-D99B-4687-B6DE-D6FC481FC10D}" destId="{0612A798-8B52-4353-A23F-9EC01184E118}" srcOrd="0" destOrd="0" presId="urn:microsoft.com/office/officeart/2018/5/layout/IconCircleLabelList"/>
    <dgm:cxn modelId="{9514A2FA-01BA-4641-9ED6-1A7A3F5FC552}" type="presOf" srcId="{58D476BA-1513-4C39-8DEE-67869F05C0C8}" destId="{33949EBC-C84B-4B18-9982-DC57538E2108}" srcOrd="0" destOrd="0" presId="urn:microsoft.com/office/officeart/2018/5/layout/IconCircleLabelList"/>
    <dgm:cxn modelId="{9BA5A1DB-75AA-448D-BF8B-63F8762EFC6C}" type="presParOf" srcId="{3005C999-BF8C-42C2-BE40-528DDC6A83FF}" destId="{64D429BC-9113-4B1A-B83D-57B948C2B25C}" srcOrd="0" destOrd="0" presId="urn:microsoft.com/office/officeart/2018/5/layout/IconCircleLabelList"/>
    <dgm:cxn modelId="{B1ABF901-2C0C-472F-BA78-844A3AF9FD57}" type="presParOf" srcId="{64D429BC-9113-4B1A-B83D-57B948C2B25C}" destId="{22FD5D66-0556-48B4-BD09-C5A3E2CE218C}" srcOrd="0" destOrd="0" presId="urn:microsoft.com/office/officeart/2018/5/layout/IconCircleLabelList"/>
    <dgm:cxn modelId="{032BB2CE-0701-47E1-A78D-32B981E9A6C4}" type="presParOf" srcId="{64D429BC-9113-4B1A-B83D-57B948C2B25C}" destId="{68E8C1ED-C94A-45D5-A1D3-37C44C6A0504}" srcOrd="1" destOrd="0" presId="urn:microsoft.com/office/officeart/2018/5/layout/IconCircleLabelList"/>
    <dgm:cxn modelId="{79BE073D-7E6B-4048-9F6E-511F466FC7AB}" type="presParOf" srcId="{64D429BC-9113-4B1A-B83D-57B948C2B25C}" destId="{1E636115-9446-42E2-A115-358B9530535D}" srcOrd="2" destOrd="0" presId="urn:microsoft.com/office/officeart/2018/5/layout/IconCircleLabelList"/>
    <dgm:cxn modelId="{DF071D7E-A359-40BB-B28C-C36B554C493F}" type="presParOf" srcId="{64D429BC-9113-4B1A-B83D-57B948C2B25C}" destId="{33949EBC-C84B-4B18-9982-DC57538E2108}" srcOrd="3" destOrd="0" presId="urn:microsoft.com/office/officeart/2018/5/layout/IconCircleLabelList"/>
    <dgm:cxn modelId="{926A8062-A08B-4F80-B7B7-FFA31B372F99}" type="presParOf" srcId="{3005C999-BF8C-42C2-BE40-528DDC6A83FF}" destId="{D93F60A9-64C6-498E-A452-9D0C2BE17230}" srcOrd="1" destOrd="0" presId="urn:microsoft.com/office/officeart/2018/5/layout/IconCircleLabelList"/>
    <dgm:cxn modelId="{B1102BC2-D91F-4A85-B5C6-B5425081B39D}" type="presParOf" srcId="{3005C999-BF8C-42C2-BE40-528DDC6A83FF}" destId="{9C7552DE-9468-417C-9001-BE56EBFCE5A1}" srcOrd="2" destOrd="0" presId="urn:microsoft.com/office/officeart/2018/5/layout/IconCircleLabelList"/>
    <dgm:cxn modelId="{94F409C2-030F-4C11-B3C8-BD6A5B5D3EE4}" type="presParOf" srcId="{9C7552DE-9468-417C-9001-BE56EBFCE5A1}" destId="{69FE29CD-1F37-4C4F-8688-EED0198C2AD8}" srcOrd="0" destOrd="0" presId="urn:microsoft.com/office/officeart/2018/5/layout/IconCircleLabelList"/>
    <dgm:cxn modelId="{381CF688-3F73-45CB-8966-EE7AF4FE0855}" type="presParOf" srcId="{9C7552DE-9468-417C-9001-BE56EBFCE5A1}" destId="{B176A4D6-B7D0-4A69-8CA6-474B0246B5B5}" srcOrd="1" destOrd="0" presId="urn:microsoft.com/office/officeart/2018/5/layout/IconCircleLabelList"/>
    <dgm:cxn modelId="{D173008C-1424-48E1-9C27-862A2613F1DF}" type="presParOf" srcId="{9C7552DE-9468-417C-9001-BE56EBFCE5A1}" destId="{0524C80E-0864-4509-81F1-B94AFA67D040}" srcOrd="2" destOrd="0" presId="urn:microsoft.com/office/officeart/2018/5/layout/IconCircleLabelList"/>
    <dgm:cxn modelId="{D59368D0-EC55-47F4-B10F-477B6E8F5A33}" type="presParOf" srcId="{9C7552DE-9468-417C-9001-BE56EBFCE5A1}" destId="{0612A798-8B52-4353-A23F-9EC01184E118}"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154D0F5-2774-4C06-BAB4-1F5404D8ACCF}" type="doc">
      <dgm:prSet loTypeId="urn:microsoft.com/office/officeart/2018/2/layout/IconCircle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8B0EB286-BE20-4FEF-9C86-1FBA44A3F662}">
      <dgm:prSet/>
      <dgm:spPr/>
      <dgm:t>
        <a:bodyPr/>
        <a:lstStyle/>
        <a:p>
          <a:r>
            <a:rPr lang="fr-FR"/>
            <a:t>Collecte des données: Nom, email, adresse, informations de commande.</a:t>
          </a:r>
          <a:endParaRPr lang="en-US"/>
        </a:p>
      </dgm:t>
    </dgm:pt>
    <dgm:pt modelId="{498A8B71-77BC-4425-A4D9-F4B889EEAC8E}" type="parTrans" cxnId="{9BD53636-91C2-4425-ADD3-17F32E2490A1}">
      <dgm:prSet/>
      <dgm:spPr/>
      <dgm:t>
        <a:bodyPr/>
        <a:lstStyle/>
        <a:p>
          <a:endParaRPr lang="en-US"/>
        </a:p>
      </dgm:t>
    </dgm:pt>
    <dgm:pt modelId="{0816DBB0-C50B-45E4-B4BE-2FA1E059900B}" type="sibTrans" cxnId="{9BD53636-91C2-4425-ADD3-17F32E2490A1}">
      <dgm:prSet/>
      <dgm:spPr/>
      <dgm:t>
        <a:bodyPr/>
        <a:lstStyle/>
        <a:p>
          <a:endParaRPr lang="en-US"/>
        </a:p>
      </dgm:t>
    </dgm:pt>
    <dgm:pt modelId="{E0F8C862-2B7F-40EB-9FCB-1FE384F47FFA}">
      <dgm:prSet/>
      <dgm:spPr/>
      <dgm:t>
        <a:bodyPr/>
        <a:lstStyle/>
        <a:p>
          <a:r>
            <a:rPr lang="fr-FR"/>
            <a:t>Consentement explicite: Les utilisateurs acceptent le traitement des données via une case à cocher.</a:t>
          </a:r>
          <a:endParaRPr lang="en-US"/>
        </a:p>
      </dgm:t>
    </dgm:pt>
    <dgm:pt modelId="{5C9D4392-F5C6-42EB-B172-C02936C778BB}" type="parTrans" cxnId="{D82C2D70-6BA0-4F4D-900F-FD33A93D98FF}">
      <dgm:prSet/>
      <dgm:spPr/>
      <dgm:t>
        <a:bodyPr/>
        <a:lstStyle/>
        <a:p>
          <a:endParaRPr lang="en-US"/>
        </a:p>
      </dgm:t>
    </dgm:pt>
    <dgm:pt modelId="{47319085-F925-4CF0-B67C-CA89C01D15DF}" type="sibTrans" cxnId="{D82C2D70-6BA0-4F4D-900F-FD33A93D98FF}">
      <dgm:prSet/>
      <dgm:spPr/>
      <dgm:t>
        <a:bodyPr/>
        <a:lstStyle/>
        <a:p>
          <a:endParaRPr lang="en-US"/>
        </a:p>
      </dgm:t>
    </dgm:pt>
    <dgm:pt modelId="{B5EA85DE-83EE-49B7-9B7E-192400D39896}">
      <dgm:prSet/>
      <dgm:spPr/>
      <dgm:t>
        <a:bodyPr/>
        <a:lstStyle/>
        <a:p>
          <a:r>
            <a:rPr lang="fr-FR"/>
            <a:t>Protection des données : Chiffrement des informations sensibles pour éviter les fuites de données</a:t>
          </a:r>
          <a:endParaRPr lang="en-US"/>
        </a:p>
      </dgm:t>
    </dgm:pt>
    <dgm:pt modelId="{A9793DE4-58C3-404D-8099-2CE55E8AD1E8}" type="parTrans" cxnId="{018061E3-6BEB-424C-8E3C-3D3F6DD716AB}">
      <dgm:prSet/>
      <dgm:spPr/>
      <dgm:t>
        <a:bodyPr/>
        <a:lstStyle/>
        <a:p>
          <a:endParaRPr lang="en-US"/>
        </a:p>
      </dgm:t>
    </dgm:pt>
    <dgm:pt modelId="{B691421E-08E6-42DC-874A-F573F6980123}" type="sibTrans" cxnId="{018061E3-6BEB-424C-8E3C-3D3F6DD716AB}">
      <dgm:prSet/>
      <dgm:spPr/>
      <dgm:t>
        <a:bodyPr/>
        <a:lstStyle/>
        <a:p>
          <a:endParaRPr lang="en-US"/>
        </a:p>
      </dgm:t>
    </dgm:pt>
    <dgm:pt modelId="{0CEACF25-2B01-45E5-A974-55F29CCCCAE6}">
      <dgm:prSet/>
      <dgm:spPr/>
      <dgm:t>
        <a:bodyPr/>
        <a:lstStyle/>
        <a:p>
          <a:r>
            <a:rPr lang="fr-FR" dirty="0"/>
            <a:t>Droits des utilisateurs : Accéder, corriger ou supprimer leurs données personnelles.</a:t>
          </a:r>
          <a:endParaRPr lang="en-US" dirty="0"/>
        </a:p>
      </dgm:t>
    </dgm:pt>
    <dgm:pt modelId="{72C12ED9-1C8D-4E83-A5B6-5F2C6A64397A}" type="parTrans" cxnId="{D59CCE4E-6DF1-4D33-AF29-D50C58485625}">
      <dgm:prSet/>
      <dgm:spPr/>
      <dgm:t>
        <a:bodyPr/>
        <a:lstStyle/>
        <a:p>
          <a:endParaRPr lang="en-US"/>
        </a:p>
      </dgm:t>
    </dgm:pt>
    <dgm:pt modelId="{FE1EEC0D-B627-4095-AD39-594179A2BA68}" type="sibTrans" cxnId="{D59CCE4E-6DF1-4D33-AF29-D50C58485625}">
      <dgm:prSet/>
      <dgm:spPr/>
      <dgm:t>
        <a:bodyPr/>
        <a:lstStyle/>
        <a:p>
          <a:endParaRPr lang="en-US"/>
        </a:p>
      </dgm:t>
    </dgm:pt>
    <dgm:pt modelId="{A1F6B7C8-BA0A-425D-B845-17A26BED6594}">
      <dgm:prSet/>
      <dgm:spPr/>
      <dgm:t>
        <a:bodyPr/>
        <a:lstStyle/>
        <a:p>
          <a:r>
            <a:rPr lang="fr-FR"/>
            <a:t>Durée de conservation : Seulement pour la durée nécessaire à l'exécution des services.</a:t>
          </a:r>
          <a:endParaRPr lang="en-US"/>
        </a:p>
      </dgm:t>
    </dgm:pt>
    <dgm:pt modelId="{F8657870-2C20-43FE-806E-253789837574}" type="parTrans" cxnId="{2017549E-8C8B-4FDB-A280-EF1304BB27FA}">
      <dgm:prSet/>
      <dgm:spPr/>
      <dgm:t>
        <a:bodyPr/>
        <a:lstStyle/>
        <a:p>
          <a:endParaRPr lang="en-US"/>
        </a:p>
      </dgm:t>
    </dgm:pt>
    <dgm:pt modelId="{DE0357C5-C8DE-4383-9B51-6F542C745C0E}" type="sibTrans" cxnId="{2017549E-8C8B-4FDB-A280-EF1304BB27FA}">
      <dgm:prSet/>
      <dgm:spPr/>
      <dgm:t>
        <a:bodyPr/>
        <a:lstStyle/>
        <a:p>
          <a:endParaRPr lang="en-US"/>
        </a:p>
      </dgm:t>
    </dgm:pt>
    <dgm:pt modelId="{3FEABA7B-7661-47B1-BA73-47F025758C64}" type="pres">
      <dgm:prSet presAssocID="{B154D0F5-2774-4C06-BAB4-1F5404D8ACCF}" presName="root" presStyleCnt="0">
        <dgm:presLayoutVars>
          <dgm:dir/>
          <dgm:resizeHandles val="exact"/>
        </dgm:presLayoutVars>
      </dgm:prSet>
      <dgm:spPr/>
    </dgm:pt>
    <dgm:pt modelId="{EB4483A9-AFA9-4B1B-9546-3C99B8A188DE}" type="pres">
      <dgm:prSet presAssocID="{B154D0F5-2774-4C06-BAB4-1F5404D8ACCF}" presName="container" presStyleCnt="0">
        <dgm:presLayoutVars>
          <dgm:dir/>
          <dgm:resizeHandles val="exact"/>
        </dgm:presLayoutVars>
      </dgm:prSet>
      <dgm:spPr/>
    </dgm:pt>
    <dgm:pt modelId="{2B41BFB8-A5D8-488E-A5AA-E277A1EFB683}" type="pres">
      <dgm:prSet presAssocID="{8B0EB286-BE20-4FEF-9C86-1FBA44A3F662}" presName="compNode" presStyleCnt="0"/>
      <dgm:spPr/>
    </dgm:pt>
    <dgm:pt modelId="{8827C115-1CB8-4B57-A2B1-F67ED554EC35}" type="pres">
      <dgm:prSet presAssocID="{8B0EB286-BE20-4FEF-9C86-1FBA44A3F662}" presName="iconBgRect" presStyleLbl="bgShp" presStyleIdx="0" presStyleCnt="5"/>
      <dgm:spPr/>
    </dgm:pt>
    <dgm:pt modelId="{FA1B011A-CD96-4DB0-8858-7374688ACEDC}" type="pres">
      <dgm:prSet presAssocID="{8B0EB286-BE20-4FEF-9C86-1FBA44A3F662}"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Enveloppe"/>
        </a:ext>
      </dgm:extLst>
    </dgm:pt>
    <dgm:pt modelId="{EAD7C631-DE9F-4B25-918C-2576157834E5}" type="pres">
      <dgm:prSet presAssocID="{8B0EB286-BE20-4FEF-9C86-1FBA44A3F662}" presName="spaceRect" presStyleCnt="0"/>
      <dgm:spPr/>
    </dgm:pt>
    <dgm:pt modelId="{42944993-0D60-414E-8520-A2E5A550708F}" type="pres">
      <dgm:prSet presAssocID="{8B0EB286-BE20-4FEF-9C86-1FBA44A3F662}" presName="textRect" presStyleLbl="revTx" presStyleIdx="0" presStyleCnt="5">
        <dgm:presLayoutVars>
          <dgm:chMax val="1"/>
          <dgm:chPref val="1"/>
        </dgm:presLayoutVars>
      </dgm:prSet>
      <dgm:spPr/>
    </dgm:pt>
    <dgm:pt modelId="{90827F83-F6BE-4342-B4CA-0A35D03367C6}" type="pres">
      <dgm:prSet presAssocID="{0816DBB0-C50B-45E4-B4BE-2FA1E059900B}" presName="sibTrans" presStyleLbl="sibTrans2D1" presStyleIdx="0" presStyleCnt="0"/>
      <dgm:spPr/>
    </dgm:pt>
    <dgm:pt modelId="{208ECF74-9C38-4077-AD9A-52E2A70E5BCE}" type="pres">
      <dgm:prSet presAssocID="{E0F8C862-2B7F-40EB-9FCB-1FE384F47FFA}" presName="compNode" presStyleCnt="0"/>
      <dgm:spPr/>
    </dgm:pt>
    <dgm:pt modelId="{4812EA58-2018-45E1-8D17-E126E27DD78C}" type="pres">
      <dgm:prSet presAssocID="{E0F8C862-2B7F-40EB-9FCB-1FE384F47FFA}" presName="iconBgRect" presStyleLbl="bgShp" presStyleIdx="1" presStyleCnt="5"/>
      <dgm:spPr/>
    </dgm:pt>
    <dgm:pt modelId="{E2F8107E-3FB6-4338-93BB-8AAB7D0E6CAB}" type="pres">
      <dgm:prSet presAssocID="{E0F8C862-2B7F-40EB-9FCB-1FE384F47FFA}"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che"/>
        </a:ext>
      </dgm:extLst>
    </dgm:pt>
    <dgm:pt modelId="{C922C47A-4D52-4C0D-AB10-AC1EB4D330C4}" type="pres">
      <dgm:prSet presAssocID="{E0F8C862-2B7F-40EB-9FCB-1FE384F47FFA}" presName="spaceRect" presStyleCnt="0"/>
      <dgm:spPr/>
    </dgm:pt>
    <dgm:pt modelId="{E5DF3339-AB13-4FFB-A110-16E2AA1D929F}" type="pres">
      <dgm:prSet presAssocID="{E0F8C862-2B7F-40EB-9FCB-1FE384F47FFA}" presName="textRect" presStyleLbl="revTx" presStyleIdx="1" presStyleCnt="5">
        <dgm:presLayoutVars>
          <dgm:chMax val="1"/>
          <dgm:chPref val="1"/>
        </dgm:presLayoutVars>
      </dgm:prSet>
      <dgm:spPr/>
    </dgm:pt>
    <dgm:pt modelId="{CB6224B5-0F6E-4272-A9AC-742713A6FD71}" type="pres">
      <dgm:prSet presAssocID="{47319085-F925-4CF0-B67C-CA89C01D15DF}" presName="sibTrans" presStyleLbl="sibTrans2D1" presStyleIdx="0" presStyleCnt="0"/>
      <dgm:spPr/>
    </dgm:pt>
    <dgm:pt modelId="{569B767C-1349-4AF8-9306-7C35B93CA680}" type="pres">
      <dgm:prSet presAssocID="{B5EA85DE-83EE-49B7-9B7E-192400D39896}" presName="compNode" presStyleCnt="0"/>
      <dgm:spPr/>
    </dgm:pt>
    <dgm:pt modelId="{0232820C-1C44-4921-BF5B-B4F4A2FCEBD5}" type="pres">
      <dgm:prSet presAssocID="{B5EA85DE-83EE-49B7-9B7E-192400D39896}" presName="iconBgRect" presStyleLbl="bgShp" presStyleIdx="2" presStyleCnt="5"/>
      <dgm:spPr/>
    </dgm:pt>
    <dgm:pt modelId="{506033FE-5748-4A80-B712-DDA1DAB45566}" type="pres">
      <dgm:prSet presAssocID="{B5EA85DE-83EE-49B7-9B7E-192400D39896}"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Verrou"/>
        </a:ext>
      </dgm:extLst>
    </dgm:pt>
    <dgm:pt modelId="{37AAB617-AC60-4790-8E18-8B67A4CC12F4}" type="pres">
      <dgm:prSet presAssocID="{B5EA85DE-83EE-49B7-9B7E-192400D39896}" presName="spaceRect" presStyleCnt="0"/>
      <dgm:spPr/>
    </dgm:pt>
    <dgm:pt modelId="{E5859662-6108-4DCB-B829-C806386A725B}" type="pres">
      <dgm:prSet presAssocID="{B5EA85DE-83EE-49B7-9B7E-192400D39896}" presName="textRect" presStyleLbl="revTx" presStyleIdx="2" presStyleCnt="5">
        <dgm:presLayoutVars>
          <dgm:chMax val="1"/>
          <dgm:chPref val="1"/>
        </dgm:presLayoutVars>
      </dgm:prSet>
      <dgm:spPr/>
    </dgm:pt>
    <dgm:pt modelId="{C25B68E2-AB25-4787-9FDB-49B8747A06DF}" type="pres">
      <dgm:prSet presAssocID="{B691421E-08E6-42DC-874A-F573F6980123}" presName="sibTrans" presStyleLbl="sibTrans2D1" presStyleIdx="0" presStyleCnt="0"/>
      <dgm:spPr/>
    </dgm:pt>
    <dgm:pt modelId="{F9612BE3-71C8-4C62-853E-AEA71152EF9C}" type="pres">
      <dgm:prSet presAssocID="{0CEACF25-2B01-45E5-A974-55F29CCCCAE6}" presName="compNode" presStyleCnt="0"/>
      <dgm:spPr/>
    </dgm:pt>
    <dgm:pt modelId="{D6CC6351-F594-4417-AA66-008B9C0884C6}" type="pres">
      <dgm:prSet presAssocID="{0CEACF25-2B01-45E5-A974-55F29CCCCAE6}" presName="iconBgRect" presStyleLbl="bgShp" presStyleIdx="3" presStyleCnt="5"/>
      <dgm:spPr/>
    </dgm:pt>
    <dgm:pt modelId="{AB2951CF-0432-4C1E-955F-4C5F166A6E49}" type="pres">
      <dgm:prSet presAssocID="{0CEACF25-2B01-45E5-A974-55F29CCCCAE6}"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top Sign"/>
        </a:ext>
      </dgm:extLst>
    </dgm:pt>
    <dgm:pt modelId="{299F60A3-9875-46EC-9211-417EFAEF1ECA}" type="pres">
      <dgm:prSet presAssocID="{0CEACF25-2B01-45E5-A974-55F29CCCCAE6}" presName="spaceRect" presStyleCnt="0"/>
      <dgm:spPr/>
    </dgm:pt>
    <dgm:pt modelId="{4467D8BB-BDA5-46DA-98C6-930E80D07A1B}" type="pres">
      <dgm:prSet presAssocID="{0CEACF25-2B01-45E5-A974-55F29CCCCAE6}" presName="textRect" presStyleLbl="revTx" presStyleIdx="3" presStyleCnt="5">
        <dgm:presLayoutVars>
          <dgm:chMax val="1"/>
          <dgm:chPref val="1"/>
        </dgm:presLayoutVars>
      </dgm:prSet>
      <dgm:spPr/>
    </dgm:pt>
    <dgm:pt modelId="{0D9E1323-F228-48F8-831C-186225BAADED}" type="pres">
      <dgm:prSet presAssocID="{FE1EEC0D-B627-4095-AD39-594179A2BA68}" presName="sibTrans" presStyleLbl="sibTrans2D1" presStyleIdx="0" presStyleCnt="0"/>
      <dgm:spPr/>
    </dgm:pt>
    <dgm:pt modelId="{AC3B8F91-A7D3-4D1A-8B03-393DF96E1DC9}" type="pres">
      <dgm:prSet presAssocID="{A1F6B7C8-BA0A-425D-B845-17A26BED6594}" presName="compNode" presStyleCnt="0"/>
      <dgm:spPr/>
    </dgm:pt>
    <dgm:pt modelId="{063A289E-974E-484B-BFBF-052DDC17BDBF}" type="pres">
      <dgm:prSet presAssocID="{A1F6B7C8-BA0A-425D-B845-17A26BED6594}" presName="iconBgRect" presStyleLbl="bgShp" presStyleIdx="4" presStyleCnt="5"/>
      <dgm:spPr/>
    </dgm:pt>
    <dgm:pt modelId="{28078AF5-65C2-440A-925D-A426958DAA74}" type="pres">
      <dgm:prSet presAssocID="{A1F6B7C8-BA0A-425D-B845-17A26BED6594}"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Juge"/>
        </a:ext>
      </dgm:extLst>
    </dgm:pt>
    <dgm:pt modelId="{12E0EA93-1ECC-448E-A62A-FB25EBFF1BE5}" type="pres">
      <dgm:prSet presAssocID="{A1F6B7C8-BA0A-425D-B845-17A26BED6594}" presName="spaceRect" presStyleCnt="0"/>
      <dgm:spPr/>
    </dgm:pt>
    <dgm:pt modelId="{1312C8FE-1034-4B2E-9BE0-7A18B6C73316}" type="pres">
      <dgm:prSet presAssocID="{A1F6B7C8-BA0A-425D-B845-17A26BED6594}" presName="textRect" presStyleLbl="revTx" presStyleIdx="4" presStyleCnt="5">
        <dgm:presLayoutVars>
          <dgm:chMax val="1"/>
          <dgm:chPref val="1"/>
        </dgm:presLayoutVars>
      </dgm:prSet>
      <dgm:spPr/>
    </dgm:pt>
  </dgm:ptLst>
  <dgm:cxnLst>
    <dgm:cxn modelId="{67B4F101-CD30-4D0F-A5EF-1687034CE737}" type="presOf" srcId="{B5EA85DE-83EE-49B7-9B7E-192400D39896}" destId="{E5859662-6108-4DCB-B829-C806386A725B}" srcOrd="0" destOrd="0" presId="urn:microsoft.com/office/officeart/2018/2/layout/IconCircleList"/>
    <dgm:cxn modelId="{F12E6222-F1B7-41AB-9CC0-0AADF99978DE}" type="presOf" srcId="{A1F6B7C8-BA0A-425D-B845-17A26BED6594}" destId="{1312C8FE-1034-4B2E-9BE0-7A18B6C73316}" srcOrd="0" destOrd="0" presId="urn:microsoft.com/office/officeart/2018/2/layout/IconCircleList"/>
    <dgm:cxn modelId="{9BD53636-91C2-4425-ADD3-17F32E2490A1}" srcId="{B154D0F5-2774-4C06-BAB4-1F5404D8ACCF}" destId="{8B0EB286-BE20-4FEF-9C86-1FBA44A3F662}" srcOrd="0" destOrd="0" parTransId="{498A8B71-77BC-4425-A4D9-F4B889EEAC8E}" sibTransId="{0816DBB0-C50B-45E4-B4BE-2FA1E059900B}"/>
    <dgm:cxn modelId="{57DBFE3E-ABEC-448C-B6F9-81422D77F4C8}" type="presOf" srcId="{0816DBB0-C50B-45E4-B4BE-2FA1E059900B}" destId="{90827F83-F6BE-4342-B4CA-0A35D03367C6}" srcOrd="0" destOrd="0" presId="urn:microsoft.com/office/officeart/2018/2/layout/IconCircleList"/>
    <dgm:cxn modelId="{D8A15E69-6A71-400B-BB28-7933854C6965}" type="presOf" srcId="{B154D0F5-2774-4C06-BAB4-1F5404D8ACCF}" destId="{3FEABA7B-7661-47B1-BA73-47F025758C64}" srcOrd="0" destOrd="0" presId="urn:microsoft.com/office/officeart/2018/2/layout/IconCircleList"/>
    <dgm:cxn modelId="{4D63C04E-2ADA-4F17-AA0B-F48A58645698}" type="presOf" srcId="{8B0EB286-BE20-4FEF-9C86-1FBA44A3F662}" destId="{42944993-0D60-414E-8520-A2E5A550708F}" srcOrd="0" destOrd="0" presId="urn:microsoft.com/office/officeart/2018/2/layout/IconCircleList"/>
    <dgm:cxn modelId="{D59CCE4E-6DF1-4D33-AF29-D50C58485625}" srcId="{B154D0F5-2774-4C06-BAB4-1F5404D8ACCF}" destId="{0CEACF25-2B01-45E5-A974-55F29CCCCAE6}" srcOrd="3" destOrd="0" parTransId="{72C12ED9-1C8D-4E83-A5B6-5F2C6A64397A}" sibTransId="{FE1EEC0D-B627-4095-AD39-594179A2BA68}"/>
    <dgm:cxn modelId="{D82C2D70-6BA0-4F4D-900F-FD33A93D98FF}" srcId="{B154D0F5-2774-4C06-BAB4-1F5404D8ACCF}" destId="{E0F8C862-2B7F-40EB-9FCB-1FE384F47FFA}" srcOrd="1" destOrd="0" parTransId="{5C9D4392-F5C6-42EB-B172-C02936C778BB}" sibTransId="{47319085-F925-4CF0-B67C-CA89C01D15DF}"/>
    <dgm:cxn modelId="{44703F52-F07A-4A52-99C3-FD179A3D2255}" type="presOf" srcId="{47319085-F925-4CF0-B67C-CA89C01D15DF}" destId="{CB6224B5-0F6E-4272-A9AC-742713A6FD71}" srcOrd="0" destOrd="0" presId="urn:microsoft.com/office/officeart/2018/2/layout/IconCircleList"/>
    <dgm:cxn modelId="{1C5F8E73-8436-4412-840D-CFFB70892A5A}" type="presOf" srcId="{B691421E-08E6-42DC-874A-F573F6980123}" destId="{C25B68E2-AB25-4787-9FDB-49B8747A06DF}" srcOrd="0" destOrd="0" presId="urn:microsoft.com/office/officeart/2018/2/layout/IconCircleList"/>
    <dgm:cxn modelId="{33C00476-9081-4BD5-95FD-3E3CA0896798}" type="presOf" srcId="{FE1EEC0D-B627-4095-AD39-594179A2BA68}" destId="{0D9E1323-F228-48F8-831C-186225BAADED}" srcOrd="0" destOrd="0" presId="urn:microsoft.com/office/officeart/2018/2/layout/IconCircleList"/>
    <dgm:cxn modelId="{65FC4A80-E562-41DB-8EA2-B02411CA53E6}" type="presOf" srcId="{0CEACF25-2B01-45E5-A974-55F29CCCCAE6}" destId="{4467D8BB-BDA5-46DA-98C6-930E80D07A1B}" srcOrd="0" destOrd="0" presId="urn:microsoft.com/office/officeart/2018/2/layout/IconCircleList"/>
    <dgm:cxn modelId="{2017549E-8C8B-4FDB-A280-EF1304BB27FA}" srcId="{B154D0F5-2774-4C06-BAB4-1F5404D8ACCF}" destId="{A1F6B7C8-BA0A-425D-B845-17A26BED6594}" srcOrd="4" destOrd="0" parTransId="{F8657870-2C20-43FE-806E-253789837574}" sibTransId="{DE0357C5-C8DE-4383-9B51-6F542C745C0E}"/>
    <dgm:cxn modelId="{BB98DFDA-96D2-4392-8E28-489A3B622B25}" type="presOf" srcId="{E0F8C862-2B7F-40EB-9FCB-1FE384F47FFA}" destId="{E5DF3339-AB13-4FFB-A110-16E2AA1D929F}" srcOrd="0" destOrd="0" presId="urn:microsoft.com/office/officeart/2018/2/layout/IconCircleList"/>
    <dgm:cxn modelId="{018061E3-6BEB-424C-8E3C-3D3F6DD716AB}" srcId="{B154D0F5-2774-4C06-BAB4-1F5404D8ACCF}" destId="{B5EA85DE-83EE-49B7-9B7E-192400D39896}" srcOrd="2" destOrd="0" parTransId="{A9793DE4-58C3-404D-8099-2CE55E8AD1E8}" sibTransId="{B691421E-08E6-42DC-874A-F573F6980123}"/>
    <dgm:cxn modelId="{0630E383-0F6B-498A-A77C-2CBE7243000E}" type="presParOf" srcId="{3FEABA7B-7661-47B1-BA73-47F025758C64}" destId="{EB4483A9-AFA9-4B1B-9546-3C99B8A188DE}" srcOrd="0" destOrd="0" presId="urn:microsoft.com/office/officeart/2018/2/layout/IconCircleList"/>
    <dgm:cxn modelId="{F9A8F2B8-B325-4E28-9608-1A9EA35E5ADB}" type="presParOf" srcId="{EB4483A9-AFA9-4B1B-9546-3C99B8A188DE}" destId="{2B41BFB8-A5D8-488E-A5AA-E277A1EFB683}" srcOrd="0" destOrd="0" presId="urn:microsoft.com/office/officeart/2018/2/layout/IconCircleList"/>
    <dgm:cxn modelId="{E4FDF02D-CA06-4DC3-A74E-BFDDA1A77E29}" type="presParOf" srcId="{2B41BFB8-A5D8-488E-A5AA-E277A1EFB683}" destId="{8827C115-1CB8-4B57-A2B1-F67ED554EC35}" srcOrd="0" destOrd="0" presId="urn:microsoft.com/office/officeart/2018/2/layout/IconCircleList"/>
    <dgm:cxn modelId="{B3F5C885-FE38-491A-86D8-02A1DEACA329}" type="presParOf" srcId="{2B41BFB8-A5D8-488E-A5AA-E277A1EFB683}" destId="{FA1B011A-CD96-4DB0-8858-7374688ACEDC}" srcOrd="1" destOrd="0" presId="urn:microsoft.com/office/officeart/2018/2/layout/IconCircleList"/>
    <dgm:cxn modelId="{DF4D85C1-1D54-457B-A428-CAB13587A90A}" type="presParOf" srcId="{2B41BFB8-A5D8-488E-A5AA-E277A1EFB683}" destId="{EAD7C631-DE9F-4B25-918C-2576157834E5}" srcOrd="2" destOrd="0" presId="urn:microsoft.com/office/officeart/2018/2/layout/IconCircleList"/>
    <dgm:cxn modelId="{73F61F2A-3755-4A76-801D-40F6169A4E8D}" type="presParOf" srcId="{2B41BFB8-A5D8-488E-A5AA-E277A1EFB683}" destId="{42944993-0D60-414E-8520-A2E5A550708F}" srcOrd="3" destOrd="0" presId="urn:microsoft.com/office/officeart/2018/2/layout/IconCircleList"/>
    <dgm:cxn modelId="{B6C4BA32-602D-42A1-915E-C5D846C85DEB}" type="presParOf" srcId="{EB4483A9-AFA9-4B1B-9546-3C99B8A188DE}" destId="{90827F83-F6BE-4342-B4CA-0A35D03367C6}" srcOrd="1" destOrd="0" presId="urn:microsoft.com/office/officeart/2018/2/layout/IconCircleList"/>
    <dgm:cxn modelId="{6D4D505B-8373-414D-82CB-B286509EB0FE}" type="presParOf" srcId="{EB4483A9-AFA9-4B1B-9546-3C99B8A188DE}" destId="{208ECF74-9C38-4077-AD9A-52E2A70E5BCE}" srcOrd="2" destOrd="0" presId="urn:microsoft.com/office/officeart/2018/2/layout/IconCircleList"/>
    <dgm:cxn modelId="{5754CED5-CFAF-4092-9DF3-24178BED009C}" type="presParOf" srcId="{208ECF74-9C38-4077-AD9A-52E2A70E5BCE}" destId="{4812EA58-2018-45E1-8D17-E126E27DD78C}" srcOrd="0" destOrd="0" presId="urn:microsoft.com/office/officeart/2018/2/layout/IconCircleList"/>
    <dgm:cxn modelId="{3AC890B6-201B-4CBC-A275-BD2AEB06FE0C}" type="presParOf" srcId="{208ECF74-9C38-4077-AD9A-52E2A70E5BCE}" destId="{E2F8107E-3FB6-4338-93BB-8AAB7D0E6CAB}" srcOrd="1" destOrd="0" presId="urn:microsoft.com/office/officeart/2018/2/layout/IconCircleList"/>
    <dgm:cxn modelId="{2AD86A5B-BB02-4CF3-8080-846F4911FC1C}" type="presParOf" srcId="{208ECF74-9C38-4077-AD9A-52E2A70E5BCE}" destId="{C922C47A-4D52-4C0D-AB10-AC1EB4D330C4}" srcOrd="2" destOrd="0" presId="urn:microsoft.com/office/officeart/2018/2/layout/IconCircleList"/>
    <dgm:cxn modelId="{F931400B-D981-43CB-97E7-4B315418E7F1}" type="presParOf" srcId="{208ECF74-9C38-4077-AD9A-52E2A70E5BCE}" destId="{E5DF3339-AB13-4FFB-A110-16E2AA1D929F}" srcOrd="3" destOrd="0" presId="urn:microsoft.com/office/officeart/2018/2/layout/IconCircleList"/>
    <dgm:cxn modelId="{37824CEA-7C58-4344-AC0C-3908962C13BF}" type="presParOf" srcId="{EB4483A9-AFA9-4B1B-9546-3C99B8A188DE}" destId="{CB6224B5-0F6E-4272-A9AC-742713A6FD71}" srcOrd="3" destOrd="0" presId="urn:microsoft.com/office/officeart/2018/2/layout/IconCircleList"/>
    <dgm:cxn modelId="{301E7C04-2565-4606-98A8-9EEBD2DB470E}" type="presParOf" srcId="{EB4483A9-AFA9-4B1B-9546-3C99B8A188DE}" destId="{569B767C-1349-4AF8-9306-7C35B93CA680}" srcOrd="4" destOrd="0" presId="urn:microsoft.com/office/officeart/2018/2/layout/IconCircleList"/>
    <dgm:cxn modelId="{905A7C35-8F00-4A7F-9A78-85E1ABFED584}" type="presParOf" srcId="{569B767C-1349-4AF8-9306-7C35B93CA680}" destId="{0232820C-1C44-4921-BF5B-B4F4A2FCEBD5}" srcOrd="0" destOrd="0" presId="urn:microsoft.com/office/officeart/2018/2/layout/IconCircleList"/>
    <dgm:cxn modelId="{BFD0859F-8A16-48E9-AB95-5E22F7095499}" type="presParOf" srcId="{569B767C-1349-4AF8-9306-7C35B93CA680}" destId="{506033FE-5748-4A80-B712-DDA1DAB45566}" srcOrd="1" destOrd="0" presId="urn:microsoft.com/office/officeart/2018/2/layout/IconCircleList"/>
    <dgm:cxn modelId="{90EFCAD8-C573-497D-8EB9-30B673ADCED9}" type="presParOf" srcId="{569B767C-1349-4AF8-9306-7C35B93CA680}" destId="{37AAB617-AC60-4790-8E18-8B67A4CC12F4}" srcOrd="2" destOrd="0" presId="urn:microsoft.com/office/officeart/2018/2/layout/IconCircleList"/>
    <dgm:cxn modelId="{61C81C35-F340-4CC8-9BD1-6FDAAB85E51B}" type="presParOf" srcId="{569B767C-1349-4AF8-9306-7C35B93CA680}" destId="{E5859662-6108-4DCB-B829-C806386A725B}" srcOrd="3" destOrd="0" presId="urn:microsoft.com/office/officeart/2018/2/layout/IconCircleList"/>
    <dgm:cxn modelId="{9157F718-CA3B-4726-AFDD-8E65F3FC0BD7}" type="presParOf" srcId="{EB4483A9-AFA9-4B1B-9546-3C99B8A188DE}" destId="{C25B68E2-AB25-4787-9FDB-49B8747A06DF}" srcOrd="5" destOrd="0" presId="urn:microsoft.com/office/officeart/2018/2/layout/IconCircleList"/>
    <dgm:cxn modelId="{32BAC939-2583-484F-ACEA-6A755C2DFD2C}" type="presParOf" srcId="{EB4483A9-AFA9-4B1B-9546-3C99B8A188DE}" destId="{F9612BE3-71C8-4C62-853E-AEA71152EF9C}" srcOrd="6" destOrd="0" presId="urn:microsoft.com/office/officeart/2018/2/layout/IconCircleList"/>
    <dgm:cxn modelId="{727B2933-5C77-4836-A473-11889F240D4A}" type="presParOf" srcId="{F9612BE3-71C8-4C62-853E-AEA71152EF9C}" destId="{D6CC6351-F594-4417-AA66-008B9C0884C6}" srcOrd="0" destOrd="0" presId="urn:microsoft.com/office/officeart/2018/2/layout/IconCircleList"/>
    <dgm:cxn modelId="{DC625285-6D89-4B38-A673-ADF0DFC2A337}" type="presParOf" srcId="{F9612BE3-71C8-4C62-853E-AEA71152EF9C}" destId="{AB2951CF-0432-4C1E-955F-4C5F166A6E49}" srcOrd="1" destOrd="0" presId="urn:microsoft.com/office/officeart/2018/2/layout/IconCircleList"/>
    <dgm:cxn modelId="{BD7A0A67-F73B-4F57-BEAD-06C56BF5FD26}" type="presParOf" srcId="{F9612BE3-71C8-4C62-853E-AEA71152EF9C}" destId="{299F60A3-9875-46EC-9211-417EFAEF1ECA}" srcOrd="2" destOrd="0" presId="urn:microsoft.com/office/officeart/2018/2/layout/IconCircleList"/>
    <dgm:cxn modelId="{F732BB5A-C71A-43F6-A8A3-E978810F08DD}" type="presParOf" srcId="{F9612BE3-71C8-4C62-853E-AEA71152EF9C}" destId="{4467D8BB-BDA5-46DA-98C6-930E80D07A1B}" srcOrd="3" destOrd="0" presId="urn:microsoft.com/office/officeart/2018/2/layout/IconCircleList"/>
    <dgm:cxn modelId="{61DDBD08-A54E-48E2-9731-BA99E5264F56}" type="presParOf" srcId="{EB4483A9-AFA9-4B1B-9546-3C99B8A188DE}" destId="{0D9E1323-F228-48F8-831C-186225BAADED}" srcOrd="7" destOrd="0" presId="urn:microsoft.com/office/officeart/2018/2/layout/IconCircleList"/>
    <dgm:cxn modelId="{520C933A-1A43-4614-AA9A-66C03931485D}" type="presParOf" srcId="{EB4483A9-AFA9-4B1B-9546-3C99B8A188DE}" destId="{AC3B8F91-A7D3-4D1A-8B03-393DF96E1DC9}" srcOrd="8" destOrd="0" presId="urn:microsoft.com/office/officeart/2018/2/layout/IconCircleList"/>
    <dgm:cxn modelId="{346F7AF2-28DD-4018-8D87-6875378324D5}" type="presParOf" srcId="{AC3B8F91-A7D3-4D1A-8B03-393DF96E1DC9}" destId="{063A289E-974E-484B-BFBF-052DDC17BDBF}" srcOrd="0" destOrd="0" presId="urn:microsoft.com/office/officeart/2018/2/layout/IconCircleList"/>
    <dgm:cxn modelId="{4AE57361-DAEA-450C-ADEE-CB0EBADA447F}" type="presParOf" srcId="{AC3B8F91-A7D3-4D1A-8B03-393DF96E1DC9}" destId="{28078AF5-65C2-440A-925D-A426958DAA74}" srcOrd="1" destOrd="0" presId="urn:microsoft.com/office/officeart/2018/2/layout/IconCircleList"/>
    <dgm:cxn modelId="{83DF0CD0-390C-417F-8713-7B61658D3CEE}" type="presParOf" srcId="{AC3B8F91-A7D3-4D1A-8B03-393DF96E1DC9}" destId="{12E0EA93-1ECC-448E-A62A-FB25EBFF1BE5}" srcOrd="2" destOrd="0" presId="urn:microsoft.com/office/officeart/2018/2/layout/IconCircleList"/>
    <dgm:cxn modelId="{5EF4B474-0566-4CF2-AA32-160711560575}" type="presParOf" srcId="{AC3B8F91-A7D3-4D1A-8B03-393DF96E1DC9}" destId="{1312C8FE-1034-4B2E-9BE0-7A18B6C73316}"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E864B6C-5874-407F-A0DC-2CF168BEC3ED}" type="doc">
      <dgm:prSet loTypeId="urn:microsoft.com/office/officeart/2018/2/layout/IconVerticalSolidList" loCatId="icon" qsTypeId="urn:microsoft.com/office/officeart/2005/8/quickstyle/simple1" qsCatId="simple" csTypeId="urn:microsoft.com/office/officeart/2018/5/colors/Iconchunking_neutralbg_colorful5" csCatId="colorful" phldr="1"/>
      <dgm:spPr/>
      <dgm:t>
        <a:bodyPr/>
        <a:lstStyle/>
        <a:p>
          <a:endParaRPr lang="en-US"/>
        </a:p>
      </dgm:t>
    </dgm:pt>
    <dgm:pt modelId="{4B100B34-4761-4C16-AAF1-44BEE5D6CF6A}">
      <dgm:prSet/>
      <dgm:spPr/>
      <dgm:t>
        <a:bodyPr/>
        <a:lstStyle/>
        <a:p>
          <a:pPr algn="l">
            <a:lnSpc>
              <a:spcPct val="90000"/>
            </a:lnSpc>
          </a:pPr>
          <a:r>
            <a:rPr lang="fr-FR" dirty="0">
              <a:latin typeface="Aptos" panose="020B0004020202020204"/>
              <a:ea typeface="+mn-ea"/>
              <a:cs typeface="+mn-cs"/>
            </a:rPr>
            <a:t>Bonne relation clients</a:t>
          </a:r>
          <a:endParaRPr lang="en-US" dirty="0">
            <a:latin typeface="Aptos" panose="020B0004020202020204"/>
            <a:ea typeface="+mn-ea"/>
            <a:cs typeface="+mn-cs"/>
          </a:endParaRPr>
        </a:p>
      </dgm:t>
    </dgm:pt>
    <dgm:pt modelId="{B1EEC96E-5320-48E0-8D98-6396C3030E1C}" type="parTrans" cxnId="{0AE61CDA-3466-4D65-97E6-308953474BFC}">
      <dgm:prSet/>
      <dgm:spPr/>
      <dgm:t>
        <a:bodyPr/>
        <a:lstStyle/>
        <a:p>
          <a:endParaRPr lang="en-US"/>
        </a:p>
      </dgm:t>
    </dgm:pt>
    <dgm:pt modelId="{B0F4A573-9CA6-47B3-95F8-ADDE603B2262}" type="sibTrans" cxnId="{0AE61CDA-3466-4D65-97E6-308953474BFC}">
      <dgm:prSet/>
      <dgm:spPr/>
      <dgm:t>
        <a:bodyPr/>
        <a:lstStyle/>
        <a:p>
          <a:endParaRPr lang="en-US"/>
        </a:p>
      </dgm:t>
    </dgm:pt>
    <dgm:pt modelId="{1D7CD4C0-1344-474B-85A3-B9B960200848}">
      <dgm:prSet/>
      <dgm:spPr/>
      <dgm:t>
        <a:bodyPr/>
        <a:lstStyle/>
        <a:p>
          <a:pPr algn="l">
            <a:lnSpc>
              <a:spcPct val="90000"/>
            </a:lnSpc>
          </a:pPr>
          <a:r>
            <a:rPr lang="fr-FR" dirty="0">
              <a:latin typeface="Aptos"/>
              <a:ea typeface="+mn-ea"/>
              <a:cs typeface="+mn-cs"/>
            </a:rPr>
            <a:t>Bonne gestion des salariés</a:t>
          </a:r>
          <a:endParaRPr lang="en-US" dirty="0">
            <a:latin typeface="Aptos" panose="020B0004020202020204"/>
            <a:ea typeface="+mn-ea"/>
            <a:cs typeface="+mn-cs"/>
          </a:endParaRPr>
        </a:p>
      </dgm:t>
    </dgm:pt>
    <dgm:pt modelId="{D1B3EEA1-735F-4402-A222-625462B4B3FC}" type="parTrans" cxnId="{E3095212-3AC2-4A33-A7E9-A0F5525DC9AD}">
      <dgm:prSet/>
      <dgm:spPr/>
      <dgm:t>
        <a:bodyPr/>
        <a:lstStyle/>
        <a:p>
          <a:endParaRPr lang="en-US"/>
        </a:p>
      </dgm:t>
    </dgm:pt>
    <dgm:pt modelId="{9735D74B-0DB6-4727-9FAD-6D563A424CF0}" type="sibTrans" cxnId="{E3095212-3AC2-4A33-A7E9-A0F5525DC9AD}">
      <dgm:prSet/>
      <dgm:spPr/>
      <dgm:t>
        <a:bodyPr/>
        <a:lstStyle/>
        <a:p>
          <a:endParaRPr lang="en-US"/>
        </a:p>
      </dgm:t>
    </dgm:pt>
    <dgm:pt modelId="{B9D60F5F-6E8C-4948-90CD-2118CDB75D07}">
      <dgm:prSet/>
      <dgm:spPr/>
      <dgm:t>
        <a:bodyPr/>
        <a:lstStyle/>
        <a:p>
          <a:pPr algn="l">
            <a:lnSpc>
              <a:spcPct val="90000"/>
            </a:lnSpc>
          </a:pPr>
          <a:r>
            <a:rPr lang="fr-FR" dirty="0">
              <a:latin typeface="Aptos" panose="020B0004020202020204"/>
              <a:ea typeface="+mn-ea"/>
              <a:cs typeface="+mn-cs"/>
            </a:rPr>
            <a:t>Innovation</a:t>
          </a:r>
          <a:endParaRPr lang="en-US" dirty="0">
            <a:latin typeface="Aptos" panose="020B0004020202020204"/>
            <a:ea typeface="+mn-ea"/>
            <a:cs typeface="+mn-cs"/>
          </a:endParaRPr>
        </a:p>
      </dgm:t>
    </dgm:pt>
    <dgm:pt modelId="{797D427B-B20D-40A6-84D2-DE94B3ED364B}" type="parTrans" cxnId="{EA6CA2DD-6AC0-4F79-819B-27668CFECE36}">
      <dgm:prSet/>
      <dgm:spPr/>
      <dgm:t>
        <a:bodyPr/>
        <a:lstStyle/>
        <a:p>
          <a:endParaRPr lang="en-US"/>
        </a:p>
      </dgm:t>
    </dgm:pt>
    <dgm:pt modelId="{FD725340-0A87-4CAE-96F0-A05546DB4A50}" type="sibTrans" cxnId="{EA6CA2DD-6AC0-4F79-819B-27668CFECE36}">
      <dgm:prSet/>
      <dgm:spPr/>
      <dgm:t>
        <a:bodyPr/>
        <a:lstStyle/>
        <a:p>
          <a:endParaRPr lang="en-US"/>
        </a:p>
      </dgm:t>
    </dgm:pt>
    <dgm:pt modelId="{B190C6D5-FBA4-4670-9D82-FC0175ED06F1}">
      <dgm:prSet/>
      <dgm:spPr/>
      <dgm:t>
        <a:bodyPr/>
        <a:lstStyle/>
        <a:p>
          <a:pPr algn="l">
            <a:lnSpc>
              <a:spcPct val="90000"/>
            </a:lnSpc>
          </a:pPr>
          <a:r>
            <a:rPr lang="fr-FR" dirty="0">
              <a:latin typeface="Aptos" panose="020B0004020202020204"/>
              <a:ea typeface="+mn-ea"/>
              <a:cs typeface="+mn-cs"/>
            </a:rPr>
            <a:t>Savoir s'adapter</a:t>
          </a:r>
          <a:endParaRPr lang="en-US" dirty="0">
            <a:latin typeface="Aptos" panose="020B0004020202020204"/>
            <a:ea typeface="+mn-ea"/>
            <a:cs typeface="+mn-cs"/>
          </a:endParaRPr>
        </a:p>
      </dgm:t>
    </dgm:pt>
    <dgm:pt modelId="{021A333C-C342-45DA-A7CB-E34BB3635D0C}" type="parTrans" cxnId="{EEA78193-C77D-46FB-B5B9-0ED794EB1238}">
      <dgm:prSet/>
      <dgm:spPr/>
      <dgm:t>
        <a:bodyPr/>
        <a:lstStyle/>
        <a:p>
          <a:endParaRPr lang="en-US"/>
        </a:p>
      </dgm:t>
    </dgm:pt>
    <dgm:pt modelId="{F208A732-CF56-4DF3-82DD-05D02921649A}" type="sibTrans" cxnId="{EEA78193-C77D-46FB-B5B9-0ED794EB1238}">
      <dgm:prSet/>
      <dgm:spPr/>
      <dgm:t>
        <a:bodyPr/>
        <a:lstStyle/>
        <a:p>
          <a:endParaRPr lang="en-US"/>
        </a:p>
      </dgm:t>
    </dgm:pt>
    <dgm:pt modelId="{FDE176E3-B4C0-4406-A43D-DC70F989B5F5}">
      <dgm:prSet/>
      <dgm:spPr/>
      <dgm:t>
        <a:bodyPr/>
        <a:lstStyle/>
        <a:p>
          <a:pPr algn="l">
            <a:lnSpc>
              <a:spcPct val="90000"/>
            </a:lnSpc>
          </a:pPr>
          <a:r>
            <a:rPr lang="fr-FR" dirty="0">
              <a:latin typeface="Aptos" panose="020B0004020202020204"/>
              <a:ea typeface="+mn-ea"/>
              <a:cs typeface="+mn-cs"/>
            </a:rPr>
            <a:t>Réduit son impact environnemental</a:t>
          </a:r>
          <a:endParaRPr lang="en-US" dirty="0">
            <a:latin typeface="Aptos" panose="020B0004020202020204"/>
            <a:ea typeface="+mn-ea"/>
            <a:cs typeface="+mn-cs"/>
          </a:endParaRPr>
        </a:p>
      </dgm:t>
    </dgm:pt>
    <dgm:pt modelId="{47E397C0-6FAA-456E-A7C0-918813A13A30}" type="parTrans" cxnId="{C7E2C8B4-D42F-44CF-A7F3-D2AB4CAF878A}">
      <dgm:prSet/>
      <dgm:spPr/>
      <dgm:t>
        <a:bodyPr/>
        <a:lstStyle/>
        <a:p>
          <a:endParaRPr lang="en-US"/>
        </a:p>
      </dgm:t>
    </dgm:pt>
    <dgm:pt modelId="{93A549EF-E3E6-4D76-8EA3-3477766B3DD7}" type="sibTrans" cxnId="{C7E2C8B4-D42F-44CF-A7F3-D2AB4CAF878A}">
      <dgm:prSet/>
      <dgm:spPr/>
      <dgm:t>
        <a:bodyPr/>
        <a:lstStyle/>
        <a:p>
          <a:endParaRPr lang="en-US"/>
        </a:p>
      </dgm:t>
    </dgm:pt>
    <dgm:pt modelId="{C8FA91C1-BC4B-4E6D-A674-5DFAA2974F47}" type="pres">
      <dgm:prSet presAssocID="{4E864B6C-5874-407F-A0DC-2CF168BEC3ED}" presName="root" presStyleCnt="0">
        <dgm:presLayoutVars>
          <dgm:dir/>
          <dgm:resizeHandles val="exact"/>
        </dgm:presLayoutVars>
      </dgm:prSet>
      <dgm:spPr/>
    </dgm:pt>
    <dgm:pt modelId="{0C372A03-DB84-4AC2-93E5-8E9E0CBCEA7A}" type="pres">
      <dgm:prSet presAssocID="{4B100B34-4761-4C16-AAF1-44BEE5D6CF6A}" presName="compNode" presStyleCnt="0"/>
      <dgm:spPr/>
    </dgm:pt>
    <dgm:pt modelId="{4A958B77-8D67-40FD-9DEC-71184CB7FF1F}" type="pres">
      <dgm:prSet presAssocID="{4B100B34-4761-4C16-AAF1-44BEE5D6CF6A}" presName="bgRect" presStyleLbl="bgShp" presStyleIdx="0" presStyleCnt="5"/>
      <dgm:spPr/>
    </dgm:pt>
    <dgm:pt modelId="{581F858E-7E28-40CA-AD08-F61169320336}" type="pres">
      <dgm:prSet presAssocID="{4B100B34-4761-4C16-AAF1-44BEE5D6CF6A}"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oignée de main"/>
        </a:ext>
      </dgm:extLst>
    </dgm:pt>
    <dgm:pt modelId="{61BEE79D-10E1-4020-8246-B362D3A40202}" type="pres">
      <dgm:prSet presAssocID="{4B100B34-4761-4C16-AAF1-44BEE5D6CF6A}" presName="spaceRect" presStyleCnt="0"/>
      <dgm:spPr/>
    </dgm:pt>
    <dgm:pt modelId="{60F4DB2E-CA5E-4985-BF33-28E7FB63C211}" type="pres">
      <dgm:prSet presAssocID="{4B100B34-4761-4C16-AAF1-44BEE5D6CF6A}" presName="parTx" presStyleLbl="revTx" presStyleIdx="0" presStyleCnt="5">
        <dgm:presLayoutVars>
          <dgm:chMax val="0"/>
          <dgm:chPref val="0"/>
        </dgm:presLayoutVars>
      </dgm:prSet>
      <dgm:spPr/>
    </dgm:pt>
    <dgm:pt modelId="{8EDCD05B-2C07-4F2E-9BE3-6C2D9241B958}" type="pres">
      <dgm:prSet presAssocID="{B0F4A573-9CA6-47B3-95F8-ADDE603B2262}" presName="sibTrans" presStyleCnt="0"/>
      <dgm:spPr/>
    </dgm:pt>
    <dgm:pt modelId="{1DAE3CD6-9FFD-4182-A4A4-F1370FBF9FDC}" type="pres">
      <dgm:prSet presAssocID="{1D7CD4C0-1344-474B-85A3-B9B960200848}" presName="compNode" presStyleCnt="0"/>
      <dgm:spPr/>
    </dgm:pt>
    <dgm:pt modelId="{C8DF3D2A-F30C-40AC-AAC8-6A581972E872}" type="pres">
      <dgm:prSet presAssocID="{1D7CD4C0-1344-474B-85A3-B9B960200848}" presName="bgRect" presStyleLbl="bgShp" presStyleIdx="1" presStyleCnt="5"/>
      <dgm:spPr/>
    </dgm:pt>
    <dgm:pt modelId="{E34BF03D-04C0-4850-AC61-E82099865FCE}" type="pres">
      <dgm:prSet presAssocID="{1D7CD4C0-1344-474B-85A3-B9B960200848}"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humbs Up Sign"/>
        </a:ext>
      </dgm:extLst>
    </dgm:pt>
    <dgm:pt modelId="{C857A518-AC02-41E5-9D33-83A9BB24C9E8}" type="pres">
      <dgm:prSet presAssocID="{1D7CD4C0-1344-474B-85A3-B9B960200848}" presName="spaceRect" presStyleCnt="0"/>
      <dgm:spPr/>
    </dgm:pt>
    <dgm:pt modelId="{87E8B2B2-18C0-4B33-89F7-781AF4BCE601}" type="pres">
      <dgm:prSet presAssocID="{1D7CD4C0-1344-474B-85A3-B9B960200848}" presName="parTx" presStyleLbl="revTx" presStyleIdx="1" presStyleCnt="5">
        <dgm:presLayoutVars>
          <dgm:chMax val="0"/>
          <dgm:chPref val="0"/>
        </dgm:presLayoutVars>
      </dgm:prSet>
      <dgm:spPr/>
    </dgm:pt>
    <dgm:pt modelId="{D10EF7F0-FE0B-494C-BF7F-61FC9E1F2866}" type="pres">
      <dgm:prSet presAssocID="{9735D74B-0DB6-4727-9FAD-6D563A424CF0}" presName="sibTrans" presStyleCnt="0"/>
      <dgm:spPr/>
    </dgm:pt>
    <dgm:pt modelId="{FBE29D98-D05D-4669-A9EB-07DBB5222079}" type="pres">
      <dgm:prSet presAssocID="{B9D60F5F-6E8C-4948-90CD-2118CDB75D07}" presName="compNode" presStyleCnt="0"/>
      <dgm:spPr/>
    </dgm:pt>
    <dgm:pt modelId="{69BB909F-6D13-41CB-B5BB-58DFF446DE94}" type="pres">
      <dgm:prSet presAssocID="{B9D60F5F-6E8C-4948-90CD-2118CDB75D07}" presName="bgRect" presStyleLbl="bgShp" presStyleIdx="2" presStyleCnt="5"/>
      <dgm:spPr/>
    </dgm:pt>
    <dgm:pt modelId="{5C33B01A-C2AE-44F1-BCD1-13D74A21F37C}" type="pres">
      <dgm:prSet presAssocID="{B9D60F5F-6E8C-4948-90CD-2118CDB75D07}"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uzzle Pieces"/>
        </a:ext>
      </dgm:extLst>
    </dgm:pt>
    <dgm:pt modelId="{44D5BF54-A7B6-4F49-BE42-6F10A67C1A2C}" type="pres">
      <dgm:prSet presAssocID="{B9D60F5F-6E8C-4948-90CD-2118CDB75D07}" presName="spaceRect" presStyleCnt="0"/>
      <dgm:spPr/>
    </dgm:pt>
    <dgm:pt modelId="{CFE60682-72DF-4DBD-8975-92090870F94A}" type="pres">
      <dgm:prSet presAssocID="{B9D60F5F-6E8C-4948-90CD-2118CDB75D07}" presName="parTx" presStyleLbl="revTx" presStyleIdx="2" presStyleCnt="5">
        <dgm:presLayoutVars>
          <dgm:chMax val="0"/>
          <dgm:chPref val="0"/>
        </dgm:presLayoutVars>
      </dgm:prSet>
      <dgm:spPr/>
    </dgm:pt>
    <dgm:pt modelId="{63776C4D-BD76-4AA1-AA8A-FC1D1A4D0D2F}" type="pres">
      <dgm:prSet presAssocID="{FD725340-0A87-4CAE-96F0-A05546DB4A50}" presName="sibTrans" presStyleCnt="0"/>
      <dgm:spPr/>
    </dgm:pt>
    <dgm:pt modelId="{D59D05C6-C170-43F2-8F74-84D2E47C27BC}" type="pres">
      <dgm:prSet presAssocID="{B190C6D5-FBA4-4670-9D82-FC0175ED06F1}" presName="compNode" presStyleCnt="0"/>
      <dgm:spPr/>
    </dgm:pt>
    <dgm:pt modelId="{A01EB4F6-AF68-447A-A164-B49B680AFBB5}" type="pres">
      <dgm:prSet presAssocID="{B190C6D5-FBA4-4670-9D82-FC0175ED06F1}" presName="bgRect" presStyleLbl="bgShp" presStyleIdx="3" presStyleCnt="5"/>
      <dgm:spPr/>
    </dgm:pt>
    <dgm:pt modelId="{9D9752FD-E884-48AC-AA29-856342FC7FD0}" type="pres">
      <dgm:prSet presAssocID="{B190C6D5-FBA4-4670-9D82-FC0175ED06F1}"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Head with Gears"/>
        </a:ext>
      </dgm:extLst>
    </dgm:pt>
    <dgm:pt modelId="{7E45AFF0-EF38-4448-AC39-4283BB8785CB}" type="pres">
      <dgm:prSet presAssocID="{B190C6D5-FBA4-4670-9D82-FC0175ED06F1}" presName="spaceRect" presStyleCnt="0"/>
      <dgm:spPr/>
    </dgm:pt>
    <dgm:pt modelId="{4E9F385A-8F58-4A8A-9599-BDE794C66A75}" type="pres">
      <dgm:prSet presAssocID="{B190C6D5-FBA4-4670-9D82-FC0175ED06F1}" presName="parTx" presStyleLbl="revTx" presStyleIdx="3" presStyleCnt="5">
        <dgm:presLayoutVars>
          <dgm:chMax val="0"/>
          <dgm:chPref val="0"/>
        </dgm:presLayoutVars>
      </dgm:prSet>
      <dgm:spPr/>
    </dgm:pt>
    <dgm:pt modelId="{4CEAA316-881C-473A-AB5E-13D081E77C0A}" type="pres">
      <dgm:prSet presAssocID="{F208A732-CF56-4DF3-82DD-05D02921649A}" presName="sibTrans" presStyleCnt="0"/>
      <dgm:spPr/>
    </dgm:pt>
    <dgm:pt modelId="{17911717-AF37-48ED-B089-2ADEB4A64F7B}" type="pres">
      <dgm:prSet presAssocID="{FDE176E3-B4C0-4406-A43D-DC70F989B5F5}" presName="compNode" presStyleCnt="0"/>
      <dgm:spPr/>
    </dgm:pt>
    <dgm:pt modelId="{EBD97D88-A624-44FE-A4F0-81168221A973}" type="pres">
      <dgm:prSet presAssocID="{FDE176E3-B4C0-4406-A43D-DC70F989B5F5}" presName="bgRect" presStyleLbl="bgShp" presStyleIdx="4" presStyleCnt="5"/>
      <dgm:spPr/>
    </dgm:pt>
    <dgm:pt modelId="{42358421-B11A-4C43-B1D3-C0440572204C}" type="pres">
      <dgm:prSet presAssocID="{FDE176E3-B4C0-4406-A43D-DC70F989B5F5}"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oche"/>
        </a:ext>
      </dgm:extLst>
    </dgm:pt>
    <dgm:pt modelId="{1909B085-523D-4C36-B782-4756BCFAD208}" type="pres">
      <dgm:prSet presAssocID="{FDE176E3-B4C0-4406-A43D-DC70F989B5F5}" presName="spaceRect" presStyleCnt="0"/>
      <dgm:spPr/>
    </dgm:pt>
    <dgm:pt modelId="{E7CD9798-6271-4EC8-99D8-819730C146A6}" type="pres">
      <dgm:prSet presAssocID="{FDE176E3-B4C0-4406-A43D-DC70F989B5F5}" presName="parTx" presStyleLbl="revTx" presStyleIdx="4" presStyleCnt="5">
        <dgm:presLayoutVars>
          <dgm:chMax val="0"/>
          <dgm:chPref val="0"/>
        </dgm:presLayoutVars>
      </dgm:prSet>
      <dgm:spPr/>
    </dgm:pt>
  </dgm:ptLst>
  <dgm:cxnLst>
    <dgm:cxn modelId="{E3095212-3AC2-4A33-A7E9-A0F5525DC9AD}" srcId="{4E864B6C-5874-407F-A0DC-2CF168BEC3ED}" destId="{1D7CD4C0-1344-474B-85A3-B9B960200848}" srcOrd="1" destOrd="0" parTransId="{D1B3EEA1-735F-4402-A222-625462B4B3FC}" sibTransId="{9735D74B-0DB6-4727-9FAD-6D563A424CF0}"/>
    <dgm:cxn modelId="{BCF9F713-0D94-4332-A826-4EDBAD24ED71}" type="presOf" srcId="{4B100B34-4761-4C16-AAF1-44BEE5D6CF6A}" destId="{60F4DB2E-CA5E-4985-BF33-28E7FB63C211}" srcOrd="0" destOrd="0" presId="urn:microsoft.com/office/officeart/2018/2/layout/IconVerticalSolidList"/>
    <dgm:cxn modelId="{C244A660-E2C8-4DC3-9387-3B251EC373F6}" type="presOf" srcId="{B190C6D5-FBA4-4670-9D82-FC0175ED06F1}" destId="{4E9F385A-8F58-4A8A-9599-BDE794C66A75}" srcOrd="0" destOrd="0" presId="urn:microsoft.com/office/officeart/2018/2/layout/IconVerticalSolidList"/>
    <dgm:cxn modelId="{EEA78193-C77D-46FB-B5B9-0ED794EB1238}" srcId="{4E864B6C-5874-407F-A0DC-2CF168BEC3ED}" destId="{B190C6D5-FBA4-4670-9D82-FC0175ED06F1}" srcOrd="3" destOrd="0" parTransId="{021A333C-C342-45DA-A7CB-E34BB3635D0C}" sibTransId="{F208A732-CF56-4DF3-82DD-05D02921649A}"/>
    <dgm:cxn modelId="{C7E2C8B4-D42F-44CF-A7F3-D2AB4CAF878A}" srcId="{4E864B6C-5874-407F-A0DC-2CF168BEC3ED}" destId="{FDE176E3-B4C0-4406-A43D-DC70F989B5F5}" srcOrd="4" destOrd="0" parTransId="{47E397C0-6FAA-456E-A7C0-918813A13A30}" sibTransId="{93A549EF-E3E6-4D76-8EA3-3477766B3DD7}"/>
    <dgm:cxn modelId="{0AE61CDA-3466-4D65-97E6-308953474BFC}" srcId="{4E864B6C-5874-407F-A0DC-2CF168BEC3ED}" destId="{4B100B34-4761-4C16-AAF1-44BEE5D6CF6A}" srcOrd="0" destOrd="0" parTransId="{B1EEC96E-5320-48E0-8D98-6396C3030E1C}" sibTransId="{B0F4A573-9CA6-47B3-95F8-ADDE603B2262}"/>
    <dgm:cxn modelId="{EA6CA2DD-6AC0-4F79-819B-27668CFECE36}" srcId="{4E864B6C-5874-407F-A0DC-2CF168BEC3ED}" destId="{B9D60F5F-6E8C-4948-90CD-2118CDB75D07}" srcOrd="2" destOrd="0" parTransId="{797D427B-B20D-40A6-84D2-DE94B3ED364B}" sibTransId="{FD725340-0A87-4CAE-96F0-A05546DB4A50}"/>
    <dgm:cxn modelId="{6560ABE4-EFBB-44D7-9C2E-4DFD4156B7FB}" type="presOf" srcId="{B9D60F5F-6E8C-4948-90CD-2118CDB75D07}" destId="{CFE60682-72DF-4DBD-8975-92090870F94A}" srcOrd="0" destOrd="0" presId="urn:microsoft.com/office/officeart/2018/2/layout/IconVerticalSolidList"/>
    <dgm:cxn modelId="{41990CE8-4226-40E1-90DA-1F329F680B3A}" type="presOf" srcId="{4E864B6C-5874-407F-A0DC-2CF168BEC3ED}" destId="{C8FA91C1-BC4B-4E6D-A674-5DFAA2974F47}" srcOrd="0" destOrd="0" presId="urn:microsoft.com/office/officeart/2018/2/layout/IconVerticalSolidList"/>
    <dgm:cxn modelId="{1C6A02E9-4AD5-42C4-9CB4-0D559FB801A8}" type="presOf" srcId="{1D7CD4C0-1344-474B-85A3-B9B960200848}" destId="{87E8B2B2-18C0-4B33-89F7-781AF4BCE601}" srcOrd="0" destOrd="0" presId="urn:microsoft.com/office/officeart/2018/2/layout/IconVerticalSolidList"/>
    <dgm:cxn modelId="{19A2A2EB-BE8B-4290-A4E5-170781ED2B3C}" type="presOf" srcId="{FDE176E3-B4C0-4406-A43D-DC70F989B5F5}" destId="{E7CD9798-6271-4EC8-99D8-819730C146A6}" srcOrd="0" destOrd="0" presId="urn:microsoft.com/office/officeart/2018/2/layout/IconVerticalSolidList"/>
    <dgm:cxn modelId="{0E3FDA64-220B-48D5-94C5-40537984FB3A}" type="presParOf" srcId="{C8FA91C1-BC4B-4E6D-A674-5DFAA2974F47}" destId="{0C372A03-DB84-4AC2-93E5-8E9E0CBCEA7A}" srcOrd="0" destOrd="0" presId="urn:microsoft.com/office/officeart/2018/2/layout/IconVerticalSolidList"/>
    <dgm:cxn modelId="{4E49392D-D4A3-410C-B448-6B000DEA024B}" type="presParOf" srcId="{0C372A03-DB84-4AC2-93E5-8E9E0CBCEA7A}" destId="{4A958B77-8D67-40FD-9DEC-71184CB7FF1F}" srcOrd="0" destOrd="0" presId="urn:microsoft.com/office/officeart/2018/2/layout/IconVerticalSolidList"/>
    <dgm:cxn modelId="{2FEA6E6B-F54B-4D71-89DC-97D916C936AC}" type="presParOf" srcId="{0C372A03-DB84-4AC2-93E5-8E9E0CBCEA7A}" destId="{581F858E-7E28-40CA-AD08-F61169320336}" srcOrd="1" destOrd="0" presId="urn:microsoft.com/office/officeart/2018/2/layout/IconVerticalSolidList"/>
    <dgm:cxn modelId="{55EDFEE0-660F-40D5-A66F-BCA5C777E44C}" type="presParOf" srcId="{0C372A03-DB84-4AC2-93E5-8E9E0CBCEA7A}" destId="{61BEE79D-10E1-4020-8246-B362D3A40202}" srcOrd="2" destOrd="0" presId="urn:microsoft.com/office/officeart/2018/2/layout/IconVerticalSolidList"/>
    <dgm:cxn modelId="{0C2106A8-D493-4406-A008-1759B9824E32}" type="presParOf" srcId="{0C372A03-DB84-4AC2-93E5-8E9E0CBCEA7A}" destId="{60F4DB2E-CA5E-4985-BF33-28E7FB63C211}" srcOrd="3" destOrd="0" presId="urn:microsoft.com/office/officeart/2018/2/layout/IconVerticalSolidList"/>
    <dgm:cxn modelId="{1EB38AD7-A3E3-42CF-8705-E4F81E4BB2CB}" type="presParOf" srcId="{C8FA91C1-BC4B-4E6D-A674-5DFAA2974F47}" destId="{8EDCD05B-2C07-4F2E-9BE3-6C2D9241B958}" srcOrd="1" destOrd="0" presId="urn:microsoft.com/office/officeart/2018/2/layout/IconVerticalSolidList"/>
    <dgm:cxn modelId="{7940434B-7C22-4822-AF16-1BEE03E08FDA}" type="presParOf" srcId="{C8FA91C1-BC4B-4E6D-A674-5DFAA2974F47}" destId="{1DAE3CD6-9FFD-4182-A4A4-F1370FBF9FDC}" srcOrd="2" destOrd="0" presId="urn:microsoft.com/office/officeart/2018/2/layout/IconVerticalSolidList"/>
    <dgm:cxn modelId="{D77878DC-895F-4A91-A0DD-BF462D15924A}" type="presParOf" srcId="{1DAE3CD6-9FFD-4182-A4A4-F1370FBF9FDC}" destId="{C8DF3D2A-F30C-40AC-AAC8-6A581972E872}" srcOrd="0" destOrd="0" presId="urn:microsoft.com/office/officeart/2018/2/layout/IconVerticalSolidList"/>
    <dgm:cxn modelId="{A3AB1BA4-66FC-4147-8DD5-172260B98B1D}" type="presParOf" srcId="{1DAE3CD6-9FFD-4182-A4A4-F1370FBF9FDC}" destId="{E34BF03D-04C0-4850-AC61-E82099865FCE}" srcOrd="1" destOrd="0" presId="urn:microsoft.com/office/officeart/2018/2/layout/IconVerticalSolidList"/>
    <dgm:cxn modelId="{2986E698-0955-4D1E-9494-9C1132F48F15}" type="presParOf" srcId="{1DAE3CD6-9FFD-4182-A4A4-F1370FBF9FDC}" destId="{C857A518-AC02-41E5-9D33-83A9BB24C9E8}" srcOrd="2" destOrd="0" presId="urn:microsoft.com/office/officeart/2018/2/layout/IconVerticalSolidList"/>
    <dgm:cxn modelId="{CC2AC12B-AA2F-48C1-86FE-91420B7E0A53}" type="presParOf" srcId="{1DAE3CD6-9FFD-4182-A4A4-F1370FBF9FDC}" destId="{87E8B2B2-18C0-4B33-89F7-781AF4BCE601}" srcOrd="3" destOrd="0" presId="urn:microsoft.com/office/officeart/2018/2/layout/IconVerticalSolidList"/>
    <dgm:cxn modelId="{9A317E17-0FF3-4989-A4FB-5A8302AA460C}" type="presParOf" srcId="{C8FA91C1-BC4B-4E6D-A674-5DFAA2974F47}" destId="{D10EF7F0-FE0B-494C-BF7F-61FC9E1F2866}" srcOrd="3" destOrd="0" presId="urn:microsoft.com/office/officeart/2018/2/layout/IconVerticalSolidList"/>
    <dgm:cxn modelId="{11C4CEE8-9193-4B81-9BD3-FE25F67B97CA}" type="presParOf" srcId="{C8FA91C1-BC4B-4E6D-A674-5DFAA2974F47}" destId="{FBE29D98-D05D-4669-A9EB-07DBB5222079}" srcOrd="4" destOrd="0" presId="urn:microsoft.com/office/officeart/2018/2/layout/IconVerticalSolidList"/>
    <dgm:cxn modelId="{DA6239BF-B072-45F1-BC89-CC63194121AF}" type="presParOf" srcId="{FBE29D98-D05D-4669-A9EB-07DBB5222079}" destId="{69BB909F-6D13-41CB-B5BB-58DFF446DE94}" srcOrd="0" destOrd="0" presId="urn:microsoft.com/office/officeart/2018/2/layout/IconVerticalSolidList"/>
    <dgm:cxn modelId="{33BF1A29-D061-409D-9183-0B4F7203EF66}" type="presParOf" srcId="{FBE29D98-D05D-4669-A9EB-07DBB5222079}" destId="{5C33B01A-C2AE-44F1-BCD1-13D74A21F37C}" srcOrd="1" destOrd="0" presId="urn:microsoft.com/office/officeart/2018/2/layout/IconVerticalSolidList"/>
    <dgm:cxn modelId="{2A32793B-DF01-4839-8C94-195D8D546C4A}" type="presParOf" srcId="{FBE29D98-D05D-4669-A9EB-07DBB5222079}" destId="{44D5BF54-A7B6-4F49-BE42-6F10A67C1A2C}" srcOrd="2" destOrd="0" presId="urn:microsoft.com/office/officeart/2018/2/layout/IconVerticalSolidList"/>
    <dgm:cxn modelId="{6A6F2AC8-C53A-4DDA-9BB0-24A05304B6F9}" type="presParOf" srcId="{FBE29D98-D05D-4669-A9EB-07DBB5222079}" destId="{CFE60682-72DF-4DBD-8975-92090870F94A}" srcOrd="3" destOrd="0" presId="urn:microsoft.com/office/officeart/2018/2/layout/IconVerticalSolidList"/>
    <dgm:cxn modelId="{955C77FC-EB75-4168-B0E5-44A975A31328}" type="presParOf" srcId="{C8FA91C1-BC4B-4E6D-A674-5DFAA2974F47}" destId="{63776C4D-BD76-4AA1-AA8A-FC1D1A4D0D2F}" srcOrd="5" destOrd="0" presId="urn:microsoft.com/office/officeart/2018/2/layout/IconVerticalSolidList"/>
    <dgm:cxn modelId="{257F05C3-8F9E-4ADA-83A7-99D5A5BB9715}" type="presParOf" srcId="{C8FA91C1-BC4B-4E6D-A674-5DFAA2974F47}" destId="{D59D05C6-C170-43F2-8F74-84D2E47C27BC}" srcOrd="6" destOrd="0" presId="urn:microsoft.com/office/officeart/2018/2/layout/IconVerticalSolidList"/>
    <dgm:cxn modelId="{128D1C49-7C6B-48F2-AF5E-189340CFC7CE}" type="presParOf" srcId="{D59D05C6-C170-43F2-8F74-84D2E47C27BC}" destId="{A01EB4F6-AF68-447A-A164-B49B680AFBB5}" srcOrd="0" destOrd="0" presId="urn:microsoft.com/office/officeart/2018/2/layout/IconVerticalSolidList"/>
    <dgm:cxn modelId="{4144CBEC-A3ED-4B54-8847-EEE4503D99A5}" type="presParOf" srcId="{D59D05C6-C170-43F2-8F74-84D2E47C27BC}" destId="{9D9752FD-E884-48AC-AA29-856342FC7FD0}" srcOrd="1" destOrd="0" presId="urn:microsoft.com/office/officeart/2018/2/layout/IconVerticalSolidList"/>
    <dgm:cxn modelId="{0072EB91-E5E4-4C49-AF5B-F6CA6C916C64}" type="presParOf" srcId="{D59D05C6-C170-43F2-8F74-84D2E47C27BC}" destId="{7E45AFF0-EF38-4448-AC39-4283BB8785CB}" srcOrd="2" destOrd="0" presId="urn:microsoft.com/office/officeart/2018/2/layout/IconVerticalSolidList"/>
    <dgm:cxn modelId="{C6DF7931-8BB4-4542-8048-3EA239294682}" type="presParOf" srcId="{D59D05C6-C170-43F2-8F74-84D2E47C27BC}" destId="{4E9F385A-8F58-4A8A-9599-BDE794C66A75}" srcOrd="3" destOrd="0" presId="urn:microsoft.com/office/officeart/2018/2/layout/IconVerticalSolidList"/>
    <dgm:cxn modelId="{345E0EF4-AEF6-4A45-8810-5E6CEF38ABFF}" type="presParOf" srcId="{C8FA91C1-BC4B-4E6D-A674-5DFAA2974F47}" destId="{4CEAA316-881C-473A-AB5E-13D081E77C0A}" srcOrd="7" destOrd="0" presId="urn:microsoft.com/office/officeart/2018/2/layout/IconVerticalSolidList"/>
    <dgm:cxn modelId="{3C86A172-84C3-4841-88A3-46FAB0DFE8FB}" type="presParOf" srcId="{C8FA91C1-BC4B-4E6D-A674-5DFAA2974F47}" destId="{17911717-AF37-48ED-B089-2ADEB4A64F7B}" srcOrd="8" destOrd="0" presId="urn:microsoft.com/office/officeart/2018/2/layout/IconVerticalSolidList"/>
    <dgm:cxn modelId="{ACA7FDE6-E0B6-4A75-931B-CB965B2BE1A0}" type="presParOf" srcId="{17911717-AF37-48ED-B089-2ADEB4A64F7B}" destId="{EBD97D88-A624-44FE-A4F0-81168221A973}" srcOrd="0" destOrd="0" presId="urn:microsoft.com/office/officeart/2018/2/layout/IconVerticalSolidList"/>
    <dgm:cxn modelId="{8A24C2B0-BDA6-4BAD-9852-B30721760468}" type="presParOf" srcId="{17911717-AF37-48ED-B089-2ADEB4A64F7B}" destId="{42358421-B11A-4C43-B1D3-C0440572204C}" srcOrd="1" destOrd="0" presId="urn:microsoft.com/office/officeart/2018/2/layout/IconVerticalSolidList"/>
    <dgm:cxn modelId="{F533244A-1FA2-44AB-8A8C-135328879CB8}" type="presParOf" srcId="{17911717-AF37-48ED-B089-2ADEB4A64F7B}" destId="{1909B085-523D-4C36-B782-4756BCFAD208}" srcOrd="2" destOrd="0" presId="urn:microsoft.com/office/officeart/2018/2/layout/IconVerticalSolidList"/>
    <dgm:cxn modelId="{2E6246F7-F536-4025-84A5-0F45B1B9082D}" type="presParOf" srcId="{17911717-AF37-48ED-B089-2ADEB4A64F7B}" destId="{E7CD9798-6271-4EC8-99D8-819730C146A6}"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B0016BB-2822-4A56-BD17-CC1E95BF44A3}"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AB73E57D-73A3-4625-B019-A621999E854E}">
      <dgm:prSet/>
      <dgm:spPr/>
      <dgm:t>
        <a:bodyPr/>
        <a:lstStyle/>
        <a:p>
          <a:r>
            <a:rPr lang="fr-FR"/>
            <a:t>Nous conquérons des clients via des chantiers qui induisent une relation durable et une facturation de prestations de maintenance. L’activité est très tributaire de ces chantiers de plusieurs semaines, qu’il faut gérer en poursuivant la prestation de maintenance, ce qui est parfois compliqué. Etant peu nombreux, et l’expertise reposant sur un homme, on arrive rapidement à des goulots d’étranglement.</a:t>
          </a:r>
          <a:endParaRPr lang="en-US"/>
        </a:p>
      </dgm:t>
    </dgm:pt>
    <dgm:pt modelId="{3FE6DC4D-BFA2-4C51-B685-72873F11B383}" type="parTrans" cxnId="{59138384-6689-43C5-A26C-DB69DC50C4AE}">
      <dgm:prSet/>
      <dgm:spPr/>
      <dgm:t>
        <a:bodyPr/>
        <a:lstStyle/>
        <a:p>
          <a:endParaRPr lang="en-US"/>
        </a:p>
      </dgm:t>
    </dgm:pt>
    <dgm:pt modelId="{2C67E4B4-73B6-4F99-9385-F16FBFCFE7E1}" type="sibTrans" cxnId="{59138384-6689-43C5-A26C-DB69DC50C4AE}">
      <dgm:prSet/>
      <dgm:spPr/>
      <dgm:t>
        <a:bodyPr/>
        <a:lstStyle/>
        <a:p>
          <a:endParaRPr lang="en-US"/>
        </a:p>
      </dgm:t>
    </dgm:pt>
    <dgm:pt modelId="{AEC25A97-6C43-437E-9BAB-FEF66FD26D4A}">
      <dgm:prSet/>
      <dgm:spPr/>
      <dgm:t>
        <a:bodyPr/>
        <a:lstStyle/>
        <a:p>
          <a:r>
            <a:rPr lang="fr-FR"/>
            <a:t>Nous préconisons des solutions technologiques basées souvent sur des outils qu’il faut importer (Corée, Japon, Chine, Europe). Cela pose des problèmes budgétaires à arbitrer : acheter pas cher, mais en quantité (import) ou nettement plus cher en petit nombre (confrère ou agent représentant)</a:t>
          </a:r>
          <a:endParaRPr lang="en-US"/>
        </a:p>
      </dgm:t>
    </dgm:pt>
    <dgm:pt modelId="{0E6EF2E7-E778-4B32-A6F3-D89CB8FE73ED}" type="parTrans" cxnId="{231450FC-874E-4B21-BCE4-76B0EE0E6F00}">
      <dgm:prSet/>
      <dgm:spPr/>
      <dgm:t>
        <a:bodyPr/>
        <a:lstStyle/>
        <a:p>
          <a:endParaRPr lang="en-US"/>
        </a:p>
      </dgm:t>
    </dgm:pt>
    <dgm:pt modelId="{450D6187-89A1-478E-BFA6-2FFBEF50D189}" type="sibTrans" cxnId="{231450FC-874E-4B21-BCE4-76B0EE0E6F00}">
      <dgm:prSet/>
      <dgm:spPr/>
      <dgm:t>
        <a:bodyPr/>
        <a:lstStyle/>
        <a:p>
          <a:endParaRPr lang="en-US"/>
        </a:p>
      </dgm:t>
    </dgm:pt>
    <dgm:pt modelId="{9A3D0B6D-1304-4DE7-A4CF-1429D8175F91}">
      <dgm:prSet/>
      <dgm:spPr/>
      <dgm:t>
        <a:bodyPr/>
        <a:lstStyle/>
        <a:p>
          <a:r>
            <a:rPr lang="fr-FR"/>
            <a:t>Le cycle commercial (chantiers puis prospection, puis chantiers) induit une activité peu régulière (avec en tâche de fond une maintenance et disponibilité permanente)</a:t>
          </a:r>
          <a:endParaRPr lang="en-US"/>
        </a:p>
      </dgm:t>
    </dgm:pt>
    <dgm:pt modelId="{1F4AF779-A876-4A21-A94E-4C06F30EF20E}" type="parTrans" cxnId="{1AFDBFA7-FD17-462D-83FD-A970CB642E06}">
      <dgm:prSet/>
      <dgm:spPr/>
      <dgm:t>
        <a:bodyPr/>
        <a:lstStyle/>
        <a:p>
          <a:endParaRPr lang="en-US"/>
        </a:p>
      </dgm:t>
    </dgm:pt>
    <dgm:pt modelId="{D0DBC842-8CE8-41E2-A717-AED0575DF7DE}" type="sibTrans" cxnId="{1AFDBFA7-FD17-462D-83FD-A970CB642E06}">
      <dgm:prSet/>
      <dgm:spPr/>
      <dgm:t>
        <a:bodyPr/>
        <a:lstStyle/>
        <a:p>
          <a:endParaRPr lang="en-US"/>
        </a:p>
      </dgm:t>
    </dgm:pt>
    <dgm:pt modelId="{18A4F080-91B7-4679-9A3B-2E4BC3DC17EC}" type="pres">
      <dgm:prSet presAssocID="{EB0016BB-2822-4A56-BD17-CC1E95BF44A3}" presName="vert0" presStyleCnt="0">
        <dgm:presLayoutVars>
          <dgm:dir/>
          <dgm:animOne val="branch"/>
          <dgm:animLvl val="lvl"/>
        </dgm:presLayoutVars>
      </dgm:prSet>
      <dgm:spPr/>
    </dgm:pt>
    <dgm:pt modelId="{44562AFA-6D91-43E4-BC6C-3C249A7DDEEB}" type="pres">
      <dgm:prSet presAssocID="{AB73E57D-73A3-4625-B019-A621999E854E}" presName="thickLine" presStyleLbl="alignNode1" presStyleIdx="0" presStyleCnt="3"/>
      <dgm:spPr/>
    </dgm:pt>
    <dgm:pt modelId="{38693997-2F9A-44B3-A645-2D16A79784FE}" type="pres">
      <dgm:prSet presAssocID="{AB73E57D-73A3-4625-B019-A621999E854E}" presName="horz1" presStyleCnt="0"/>
      <dgm:spPr/>
    </dgm:pt>
    <dgm:pt modelId="{388B0027-7533-472F-A721-D4C148A05359}" type="pres">
      <dgm:prSet presAssocID="{AB73E57D-73A3-4625-B019-A621999E854E}" presName="tx1" presStyleLbl="revTx" presStyleIdx="0" presStyleCnt="3"/>
      <dgm:spPr/>
    </dgm:pt>
    <dgm:pt modelId="{0EE3FC9C-CB0A-4532-B121-4AAE2DD1728E}" type="pres">
      <dgm:prSet presAssocID="{AB73E57D-73A3-4625-B019-A621999E854E}" presName="vert1" presStyleCnt="0"/>
      <dgm:spPr/>
    </dgm:pt>
    <dgm:pt modelId="{5E103148-3185-4E13-A7F5-E749189F279D}" type="pres">
      <dgm:prSet presAssocID="{AEC25A97-6C43-437E-9BAB-FEF66FD26D4A}" presName="thickLine" presStyleLbl="alignNode1" presStyleIdx="1" presStyleCnt="3"/>
      <dgm:spPr/>
    </dgm:pt>
    <dgm:pt modelId="{A57BBDE8-956F-4E40-8944-E28F47DBF310}" type="pres">
      <dgm:prSet presAssocID="{AEC25A97-6C43-437E-9BAB-FEF66FD26D4A}" presName="horz1" presStyleCnt="0"/>
      <dgm:spPr/>
    </dgm:pt>
    <dgm:pt modelId="{5971F25B-6B3B-42CC-A915-3E47BB084B5F}" type="pres">
      <dgm:prSet presAssocID="{AEC25A97-6C43-437E-9BAB-FEF66FD26D4A}" presName="tx1" presStyleLbl="revTx" presStyleIdx="1" presStyleCnt="3"/>
      <dgm:spPr/>
    </dgm:pt>
    <dgm:pt modelId="{B42FA6BE-D35C-4F67-9977-AC5795D7E54C}" type="pres">
      <dgm:prSet presAssocID="{AEC25A97-6C43-437E-9BAB-FEF66FD26D4A}" presName="vert1" presStyleCnt="0"/>
      <dgm:spPr/>
    </dgm:pt>
    <dgm:pt modelId="{547D90FB-CBC3-4F56-9053-04470088297A}" type="pres">
      <dgm:prSet presAssocID="{9A3D0B6D-1304-4DE7-A4CF-1429D8175F91}" presName="thickLine" presStyleLbl="alignNode1" presStyleIdx="2" presStyleCnt="3"/>
      <dgm:spPr/>
    </dgm:pt>
    <dgm:pt modelId="{B4E27C94-F399-40B0-A33C-71B035C0C776}" type="pres">
      <dgm:prSet presAssocID="{9A3D0B6D-1304-4DE7-A4CF-1429D8175F91}" presName="horz1" presStyleCnt="0"/>
      <dgm:spPr/>
    </dgm:pt>
    <dgm:pt modelId="{5D5A7323-F297-427E-A31D-03240D3F8224}" type="pres">
      <dgm:prSet presAssocID="{9A3D0B6D-1304-4DE7-A4CF-1429D8175F91}" presName="tx1" presStyleLbl="revTx" presStyleIdx="2" presStyleCnt="3"/>
      <dgm:spPr/>
    </dgm:pt>
    <dgm:pt modelId="{701503E5-A88F-45C9-B208-AD389A276834}" type="pres">
      <dgm:prSet presAssocID="{9A3D0B6D-1304-4DE7-A4CF-1429D8175F91}" presName="vert1" presStyleCnt="0"/>
      <dgm:spPr/>
    </dgm:pt>
  </dgm:ptLst>
  <dgm:cxnLst>
    <dgm:cxn modelId="{4702712C-1983-45BE-B108-11A930526124}" type="presOf" srcId="{AB73E57D-73A3-4625-B019-A621999E854E}" destId="{388B0027-7533-472F-A721-D4C148A05359}" srcOrd="0" destOrd="0" presId="urn:microsoft.com/office/officeart/2008/layout/LinedList"/>
    <dgm:cxn modelId="{DC64F02D-9EA3-47A9-9D70-91F190C42404}" type="presOf" srcId="{EB0016BB-2822-4A56-BD17-CC1E95BF44A3}" destId="{18A4F080-91B7-4679-9A3B-2E4BC3DC17EC}" srcOrd="0" destOrd="0" presId="urn:microsoft.com/office/officeart/2008/layout/LinedList"/>
    <dgm:cxn modelId="{CC045967-FC88-4985-BECB-428512FB438D}" type="presOf" srcId="{9A3D0B6D-1304-4DE7-A4CF-1429D8175F91}" destId="{5D5A7323-F297-427E-A31D-03240D3F8224}" srcOrd="0" destOrd="0" presId="urn:microsoft.com/office/officeart/2008/layout/LinedList"/>
    <dgm:cxn modelId="{59138384-6689-43C5-A26C-DB69DC50C4AE}" srcId="{EB0016BB-2822-4A56-BD17-CC1E95BF44A3}" destId="{AB73E57D-73A3-4625-B019-A621999E854E}" srcOrd="0" destOrd="0" parTransId="{3FE6DC4D-BFA2-4C51-B685-72873F11B383}" sibTransId="{2C67E4B4-73B6-4F99-9385-F16FBFCFE7E1}"/>
    <dgm:cxn modelId="{1AFDBFA7-FD17-462D-83FD-A970CB642E06}" srcId="{EB0016BB-2822-4A56-BD17-CC1E95BF44A3}" destId="{9A3D0B6D-1304-4DE7-A4CF-1429D8175F91}" srcOrd="2" destOrd="0" parTransId="{1F4AF779-A876-4A21-A94E-4C06F30EF20E}" sibTransId="{D0DBC842-8CE8-41E2-A717-AED0575DF7DE}"/>
    <dgm:cxn modelId="{3AB850C0-1CFF-422C-9736-5B17F2DED041}" type="presOf" srcId="{AEC25A97-6C43-437E-9BAB-FEF66FD26D4A}" destId="{5971F25B-6B3B-42CC-A915-3E47BB084B5F}" srcOrd="0" destOrd="0" presId="urn:microsoft.com/office/officeart/2008/layout/LinedList"/>
    <dgm:cxn modelId="{231450FC-874E-4B21-BCE4-76B0EE0E6F00}" srcId="{EB0016BB-2822-4A56-BD17-CC1E95BF44A3}" destId="{AEC25A97-6C43-437E-9BAB-FEF66FD26D4A}" srcOrd="1" destOrd="0" parTransId="{0E6EF2E7-E778-4B32-A6F3-D89CB8FE73ED}" sibTransId="{450D6187-89A1-478E-BFA6-2FFBEF50D189}"/>
    <dgm:cxn modelId="{25C11A9B-0BF1-4610-9175-87E42466FF9C}" type="presParOf" srcId="{18A4F080-91B7-4679-9A3B-2E4BC3DC17EC}" destId="{44562AFA-6D91-43E4-BC6C-3C249A7DDEEB}" srcOrd="0" destOrd="0" presId="urn:microsoft.com/office/officeart/2008/layout/LinedList"/>
    <dgm:cxn modelId="{9F1A97AB-E2E1-461F-B3F2-C04704C31DB7}" type="presParOf" srcId="{18A4F080-91B7-4679-9A3B-2E4BC3DC17EC}" destId="{38693997-2F9A-44B3-A645-2D16A79784FE}" srcOrd="1" destOrd="0" presId="urn:microsoft.com/office/officeart/2008/layout/LinedList"/>
    <dgm:cxn modelId="{BCEC3460-CFFF-4ECA-95AE-2427876C09CE}" type="presParOf" srcId="{38693997-2F9A-44B3-A645-2D16A79784FE}" destId="{388B0027-7533-472F-A721-D4C148A05359}" srcOrd="0" destOrd="0" presId="urn:microsoft.com/office/officeart/2008/layout/LinedList"/>
    <dgm:cxn modelId="{251222EF-0656-4FE8-A758-57863F80AA62}" type="presParOf" srcId="{38693997-2F9A-44B3-A645-2D16A79784FE}" destId="{0EE3FC9C-CB0A-4532-B121-4AAE2DD1728E}" srcOrd="1" destOrd="0" presId="urn:microsoft.com/office/officeart/2008/layout/LinedList"/>
    <dgm:cxn modelId="{DDA2CC59-327C-43B4-AFC9-A232F6C443E8}" type="presParOf" srcId="{18A4F080-91B7-4679-9A3B-2E4BC3DC17EC}" destId="{5E103148-3185-4E13-A7F5-E749189F279D}" srcOrd="2" destOrd="0" presId="urn:microsoft.com/office/officeart/2008/layout/LinedList"/>
    <dgm:cxn modelId="{CB96BDFE-F7B8-47FB-AFE9-989D425218C1}" type="presParOf" srcId="{18A4F080-91B7-4679-9A3B-2E4BC3DC17EC}" destId="{A57BBDE8-956F-4E40-8944-E28F47DBF310}" srcOrd="3" destOrd="0" presId="urn:microsoft.com/office/officeart/2008/layout/LinedList"/>
    <dgm:cxn modelId="{E632CD5B-7CF9-458A-94A7-C71FF1AD253A}" type="presParOf" srcId="{A57BBDE8-956F-4E40-8944-E28F47DBF310}" destId="{5971F25B-6B3B-42CC-A915-3E47BB084B5F}" srcOrd="0" destOrd="0" presId="urn:microsoft.com/office/officeart/2008/layout/LinedList"/>
    <dgm:cxn modelId="{DF6CFBDC-444C-407E-A9A0-DFEC43A2B400}" type="presParOf" srcId="{A57BBDE8-956F-4E40-8944-E28F47DBF310}" destId="{B42FA6BE-D35C-4F67-9977-AC5795D7E54C}" srcOrd="1" destOrd="0" presId="urn:microsoft.com/office/officeart/2008/layout/LinedList"/>
    <dgm:cxn modelId="{53D01A40-E2FC-4248-9446-F57C1E15210D}" type="presParOf" srcId="{18A4F080-91B7-4679-9A3B-2E4BC3DC17EC}" destId="{547D90FB-CBC3-4F56-9053-04470088297A}" srcOrd="4" destOrd="0" presId="urn:microsoft.com/office/officeart/2008/layout/LinedList"/>
    <dgm:cxn modelId="{988B929E-B53B-43D3-8F00-354DF7BACEAB}" type="presParOf" srcId="{18A4F080-91B7-4679-9A3B-2E4BC3DC17EC}" destId="{B4E27C94-F399-40B0-A33C-71B035C0C776}" srcOrd="5" destOrd="0" presId="urn:microsoft.com/office/officeart/2008/layout/LinedList"/>
    <dgm:cxn modelId="{AB4AF017-0166-47A1-85F2-9CFF45CC7B8B}" type="presParOf" srcId="{B4E27C94-F399-40B0-A33C-71B035C0C776}" destId="{5D5A7323-F297-427E-A31D-03240D3F8224}" srcOrd="0" destOrd="0" presId="urn:microsoft.com/office/officeart/2008/layout/LinedList"/>
    <dgm:cxn modelId="{4273D7B9-D177-42F6-8EFD-8898BCCD9640}" type="presParOf" srcId="{B4E27C94-F399-40B0-A33C-71B035C0C776}" destId="{701503E5-A88F-45C9-B208-AD389A276834}"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FD5D66-0556-48B4-BD09-C5A3E2CE218C}">
      <dsp:nvSpPr>
        <dsp:cNvPr id="0" name=""/>
        <dsp:cNvSpPr/>
      </dsp:nvSpPr>
      <dsp:spPr>
        <a:xfrm>
          <a:off x="2347778" y="283487"/>
          <a:ext cx="2196000" cy="219600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8E8C1ED-C94A-45D5-A1D3-37C44C6A0504}">
      <dsp:nvSpPr>
        <dsp:cNvPr id="0" name=""/>
        <dsp:cNvSpPr/>
      </dsp:nvSpPr>
      <dsp:spPr>
        <a:xfrm>
          <a:off x="2815778" y="751487"/>
          <a:ext cx="1260000" cy="126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3949EBC-C84B-4B18-9982-DC57538E2108}">
      <dsp:nvSpPr>
        <dsp:cNvPr id="0" name=""/>
        <dsp:cNvSpPr/>
      </dsp:nvSpPr>
      <dsp:spPr>
        <a:xfrm>
          <a:off x="1645778" y="3163487"/>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defRPr cap="all"/>
          </a:pPr>
          <a:r>
            <a:rPr lang="fr-FR" sz="2300" kern="1200" dirty="0"/>
            <a:t>Typologie : </a:t>
          </a:r>
          <a:r>
            <a:rPr lang="fr-FR" sz="2300" kern="1200" dirty="0">
              <a:latin typeface="Aptos Display" panose="020F0302020204030204"/>
            </a:rPr>
            <a:t>Micro entreprise</a:t>
          </a:r>
          <a:r>
            <a:rPr lang="fr-FR" sz="2300" kern="1200" dirty="0"/>
            <a:t> </a:t>
          </a:r>
          <a:r>
            <a:rPr lang="fr-FR" sz="2300" kern="1200" dirty="0">
              <a:latin typeface="Aptos Display" panose="020F0302020204030204"/>
            </a:rPr>
            <a:t>(</a:t>
          </a:r>
          <a:r>
            <a:rPr lang="fr-FR" sz="2300" kern="1200" dirty="0"/>
            <a:t>1 à 9</a:t>
          </a:r>
          <a:r>
            <a:rPr lang="fr-FR" sz="2300" kern="1200" dirty="0">
              <a:latin typeface="Aptos Display" panose="020F0302020204030204"/>
            </a:rPr>
            <a:t>)</a:t>
          </a:r>
          <a:endParaRPr lang="en-US" sz="2300" kern="1200" dirty="0"/>
        </a:p>
      </dsp:txBody>
      <dsp:txXfrm>
        <a:off x="1645778" y="3163487"/>
        <a:ext cx="3600000" cy="720000"/>
      </dsp:txXfrm>
    </dsp:sp>
    <dsp:sp modelId="{69FE29CD-1F37-4C4F-8688-EED0198C2AD8}">
      <dsp:nvSpPr>
        <dsp:cNvPr id="0" name=""/>
        <dsp:cNvSpPr/>
      </dsp:nvSpPr>
      <dsp:spPr>
        <a:xfrm>
          <a:off x="6577778" y="283487"/>
          <a:ext cx="2196000" cy="219600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176A4D6-B7D0-4A69-8CA6-474B0246B5B5}">
      <dsp:nvSpPr>
        <dsp:cNvPr id="0" name=""/>
        <dsp:cNvSpPr/>
      </dsp:nvSpPr>
      <dsp:spPr>
        <a:xfrm>
          <a:off x="7045778" y="751487"/>
          <a:ext cx="1260000" cy="126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612A798-8B52-4353-A23F-9EC01184E118}">
      <dsp:nvSpPr>
        <dsp:cNvPr id="0" name=""/>
        <dsp:cNvSpPr/>
      </dsp:nvSpPr>
      <dsp:spPr>
        <a:xfrm>
          <a:off x="5875778" y="3163487"/>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defRPr cap="all"/>
          </a:pPr>
          <a:r>
            <a:rPr lang="fr-FR" sz="2300" kern="1200" dirty="0"/>
            <a:t>Effectif : 6</a:t>
          </a:r>
          <a:endParaRPr lang="en-US" sz="2300" kern="1200" dirty="0"/>
        </a:p>
      </dsp:txBody>
      <dsp:txXfrm>
        <a:off x="5875778" y="3163487"/>
        <a:ext cx="360000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27C115-1CB8-4B57-A2B1-F67ED554EC35}">
      <dsp:nvSpPr>
        <dsp:cNvPr id="0" name=""/>
        <dsp:cNvSpPr/>
      </dsp:nvSpPr>
      <dsp:spPr>
        <a:xfrm>
          <a:off x="205509" y="828340"/>
          <a:ext cx="911674" cy="911674"/>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A1B011A-CD96-4DB0-8858-7374688ACEDC}">
      <dsp:nvSpPr>
        <dsp:cNvPr id="0" name=""/>
        <dsp:cNvSpPr/>
      </dsp:nvSpPr>
      <dsp:spPr>
        <a:xfrm>
          <a:off x="396960" y="1019791"/>
          <a:ext cx="528770" cy="52877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2944993-0D60-414E-8520-A2E5A550708F}">
      <dsp:nvSpPr>
        <dsp:cNvPr id="0" name=""/>
        <dsp:cNvSpPr/>
      </dsp:nvSpPr>
      <dsp:spPr>
        <a:xfrm>
          <a:off x="1312541" y="828340"/>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fr-FR" sz="1400" kern="1200"/>
            <a:t>Collecte des données: Nom, email, adresse, informations de commande.</a:t>
          </a:r>
          <a:endParaRPr lang="en-US" sz="1400" kern="1200"/>
        </a:p>
      </dsp:txBody>
      <dsp:txXfrm>
        <a:off x="1312541" y="828340"/>
        <a:ext cx="2148945" cy="911674"/>
      </dsp:txXfrm>
    </dsp:sp>
    <dsp:sp modelId="{4812EA58-2018-45E1-8D17-E126E27DD78C}">
      <dsp:nvSpPr>
        <dsp:cNvPr id="0" name=""/>
        <dsp:cNvSpPr/>
      </dsp:nvSpPr>
      <dsp:spPr>
        <a:xfrm>
          <a:off x="3835925" y="828340"/>
          <a:ext cx="911674" cy="911674"/>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2F8107E-3FB6-4338-93BB-8AAB7D0E6CAB}">
      <dsp:nvSpPr>
        <dsp:cNvPr id="0" name=""/>
        <dsp:cNvSpPr/>
      </dsp:nvSpPr>
      <dsp:spPr>
        <a:xfrm>
          <a:off x="4027376" y="1019791"/>
          <a:ext cx="528770" cy="52877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5DF3339-AB13-4FFB-A110-16E2AA1D929F}">
      <dsp:nvSpPr>
        <dsp:cNvPr id="0" name=""/>
        <dsp:cNvSpPr/>
      </dsp:nvSpPr>
      <dsp:spPr>
        <a:xfrm>
          <a:off x="4942957" y="828340"/>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fr-FR" sz="1400" kern="1200"/>
            <a:t>Consentement explicite: Les utilisateurs acceptent le traitement des données via une case à cocher.</a:t>
          </a:r>
          <a:endParaRPr lang="en-US" sz="1400" kern="1200"/>
        </a:p>
      </dsp:txBody>
      <dsp:txXfrm>
        <a:off x="4942957" y="828340"/>
        <a:ext cx="2148945" cy="911674"/>
      </dsp:txXfrm>
    </dsp:sp>
    <dsp:sp modelId="{0232820C-1C44-4921-BF5B-B4F4A2FCEBD5}">
      <dsp:nvSpPr>
        <dsp:cNvPr id="0" name=""/>
        <dsp:cNvSpPr/>
      </dsp:nvSpPr>
      <dsp:spPr>
        <a:xfrm>
          <a:off x="7466341" y="828340"/>
          <a:ext cx="911674" cy="911674"/>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06033FE-5748-4A80-B712-DDA1DAB45566}">
      <dsp:nvSpPr>
        <dsp:cNvPr id="0" name=""/>
        <dsp:cNvSpPr/>
      </dsp:nvSpPr>
      <dsp:spPr>
        <a:xfrm>
          <a:off x="7657792" y="1019791"/>
          <a:ext cx="528770" cy="52877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5859662-6108-4DCB-B829-C806386A725B}">
      <dsp:nvSpPr>
        <dsp:cNvPr id="0" name=""/>
        <dsp:cNvSpPr/>
      </dsp:nvSpPr>
      <dsp:spPr>
        <a:xfrm>
          <a:off x="8573374" y="828340"/>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fr-FR" sz="1400" kern="1200"/>
            <a:t>Protection des données : Chiffrement des informations sensibles pour éviter les fuites de données</a:t>
          </a:r>
          <a:endParaRPr lang="en-US" sz="1400" kern="1200"/>
        </a:p>
      </dsp:txBody>
      <dsp:txXfrm>
        <a:off x="8573374" y="828340"/>
        <a:ext cx="2148945" cy="911674"/>
      </dsp:txXfrm>
    </dsp:sp>
    <dsp:sp modelId="{D6CC6351-F594-4417-AA66-008B9C0884C6}">
      <dsp:nvSpPr>
        <dsp:cNvPr id="0" name=""/>
        <dsp:cNvSpPr/>
      </dsp:nvSpPr>
      <dsp:spPr>
        <a:xfrm>
          <a:off x="205509" y="2452790"/>
          <a:ext cx="911674" cy="911674"/>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B2951CF-0432-4C1E-955F-4C5F166A6E49}">
      <dsp:nvSpPr>
        <dsp:cNvPr id="0" name=""/>
        <dsp:cNvSpPr/>
      </dsp:nvSpPr>
      <dsp:spPr>
        <a:xfrm>
          <a:off x="396960" y="2644242"/>
          <a:ext cx="528770" cy="52877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467D8BB-BDA5-46DA-98C6-930E80D07A1B}">
      <dsp:nvSpPr>
        <dsp:cNvPr id="0" name=""/>
        <dsp:cNvSpPr/>
      </dsp:nvSpPr>
      <dsp:spPr>
        <a:xfrm>
          <a:off x="1312541" y="2452790"/>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fr-FR" sz="1400" kern="1200" dirty="0"/>
            <a:t>Droits des utilisateurs : Accéder, corriger ou supprimer leurs données personnelles.</a:t>
          </a:r>
          <a:endParaRPr lang="en-US" sz="1400" kern="1200" dirty="0"/>
        </a:p>
      </dsp:txBody>
      <dsp:txXfrm>
        <a:off x="1312541" y="2452790"/>
        <a:ext cx="2148945" cy="911674"/>
      </dsp:txXfrm>
    </dsp:sp>
    <dsp:sp modelId="{063A289E-974E-484B-BFBF-052DDC17BDBF}">
      <dsp:nvSpPr>
        <dsp:cNvPr id="0" name=""/>
        <dsp:cNvSpPr/>
      </dsp:nvSpPr>
      <dsp:spPr>
        <a:xfrm>
          <a:off x="3835925" y="2452790"/>
          <a:ext cx="911674" cy="911674"/>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8078AF5-65C2-440A-925D-A426958DAA74}">
      <dsp:nvSpPr>
        <dsp:cNvPr id="0" name=""/>
        <dsp:cNvSpPr/>
      </dsp:nvSpPr>
      <dsp:spPr>
        <a:xfrm>
          <a:off x="4027376" y="2644242"/>
          <a:ext cx="528770" cy="52877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312C8FE-1034-4B2E-9BE0-7A18B6C73316}">
      <dsp:nvSpPr>
        <dsp:cNvPr id="0" name=""/>
        <dsp:cNvSpPr/>
      </dsp:nvSpPr>
      <dsp:spPr>
        <a:xfrm>
          <a:off x="4942957" y="2452790"/>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fr-FR" sz="1400" kern="1200"/>
            <a:t>Durée de conservation : Seulement pour la durée nécessaire à l'exécution des services.</a:t>
          </a:r>
          <a:endParaRPr lang="en-US" sz="1400" kern="1200"/>
        </a:p>
      </dsp:txBody>
      <dsp:txXfrm>
        <a:off x="4942957" y="2452790"/>
        <a:ext cx="2148945" cy="91167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958B77-8D67-40FD-9DEC-71184CB7FF1F}">
      <dsp:nvSpPr>
        <dsp:cNvPr id="0" name=""/>
        <dsp:cNvSpPr/>
      </dsp:nvSpPr>
      <dsp:spPr>
        <a:xfrm>
          <a:off x="0" y="4307"/>
          <a:ext cx="6364224" cy="9175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81F858E-7E28-40CA-AD08-F61169320336}">
      <dsp:nvSpPr>
        <dsp:cNvPr id="0" name=""/>
        <dsp:cNvSpPr/>
      </dsp:nvSpPr>
      <dsp:spPr>
        <a:xfrm>
          <a:off x="277554" y="210753"/>
          <a:ext cx="504644" cy="50464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0F4DB2E-CA5E-4985-BF33-28E7FB63C211}">
      <dsp:nvSpPr>
        <dsp:cNvPr id="0" name=""/>
        <dsp:cNvSpPr/>
      </dsp:nvSpPr>
      <dsp:spPr>
        <a:xfrm>
          <a:off x="1059754" y="4307"/>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fr-FR" sz="1900" kern="1200" dirty="0">
              <a:latin typeface="Aptos" panose="020B0004020202020204"/>
              <a:ea typeface="+mn-ea"/>
              <a:cs typeface="+mn-cs"/>
            </a:rPr>
            <a:t>Bonne relation clients</a:t>
          </a:r>
          <a:endParaRPr lang="en-US" sz="1900" kern="1200" dirty="0">
            <a:latin typeface="Aptos" panose="020B0004020202020204"/>
            <a:ea typeface="+mn-ea"/>
            <a:cs typeface="+mn-cs"/>
          </a:endParaRPr>
        </a:p>
      </dsp:txBody>
      <dsp:txXfrm>
        <a:off x="1059754" y="4307"/>
        <a:ext cx="5304469" cy="917536"/>
      </dsp:txXfrm>
    </dsp:sp>
    <dsp:sp modelId="{C8DF3D2A-F30C-40AC-AAC8-6A581972E872}">
      <dsp:nvSpPr>
        <dsp:cNvPr id="0" name=""/>
        <dsp:cNvSpPr/>
      </dsp:nvSpPr>
      <dsp:spPr>
        <a:xfrm>
          <a:off x="0" y="1151227"/>
          <a:ext cx="6364224" cy="9175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34BF03D-04C0-4850-AC61-E82099865FCE}">
      <dsp:nvSpPr>
        <dsp:cNvPr id="0" name=""/>
        <dsp:cNvSpPr/>
      </dsp:nvSpPr>
      <dsp:spPr>
        <a:xfrm>
          <a:off x="277554" y="1357673"/>
          <a:ext cx="504644" cy="50464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7E8B2B2-18C0-4B33-89F7-781AF4BCE601}">
      <dsp:nvSpPr>
        <dsp:cNvPr id="0" name=""/>
        <dsp:cNvSpPr/>
      </dsp:nvSpPr>
      <dsp:spPr>
        <a:xfrm>
          <a:off x="1059754" y="1151227"/>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fr-FR" sz="1900" kern="1200" dirty="0">
              <a:latin typeface="Aptos"/>
              <a:ea typeface="+mn-ea"/>
              <a:cs typeface="+mn-cs"/>
            </a:rPr>
            <a:t>Bonne gestion des salariés</a:t>
          </a:r>
          <a:endParaRPr lang="en-US" sz="1900" kern="1200" dirty="0">
            <a:latin typeface="Aptos"/>
            <a:ea typeface="+mn-ea"/>
            <a:cs typeface="+mn-cs"/>
          </a:endParaRPr>
        </a:p>
      </dsp:txBody>
      <dsp:txXfrm>
        <a:off x="1059754" y="1151227"/>
        <a:ext cx="5304469" cy="917536"/>
      </dsp:txXfrm>
    </dsp:sp>
    <dsp:sp modelId="{69BB909F-6D13-41CB-B5BB-58DFF446DE94}">
      <dsp:nvSpPr>
        <dsp:cNvPr id="0" name=""/>
        <dsp:cNvSpPr/>
      </dsp:nvSpPr>
      <dsp:spPr>
        <a:xfrm>
          <a:off x="0" y="2298147"/>
          <a:ext cx="6364224" cy="9175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C33B01A-C2AE-44F1-BCD1-13D74A21F37C}">
      <dsp:nvSpPr>
        <dsp:cNvPr id="0" name=""/>
        <dsp:cNvSpPr/>
      </dsp:nvSpPr>
      <dsp:spPr>
        <a:xfrm>
          <a:off x="277554" y="2504593"/>
          <a:ext cx="504644" cy="50464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FE60682-72DF-4DBD-8975-92090870F94A}">
      <dsp:nvSpPr>
        <dsp:cNvPr id="0" name=""/>
        <dsp:cNvSpPr/>
      </dsp:nvSpPr>
      <dsp:spPr>
        <a:xfrm>
          <a:off x="1059754" y="2298147"/>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fr-FR" sz="1900" kern="1200" dirty="0">
              <a:latin typeface="Aptos" panose="020B0004020202020204"/>
              <a:ea typeface="+mn-ea"/>
              <a:cs typeface="+mn-cs"/>
            </a:rPr>
            <a:t>Innovation</a:t>
          </a:r>
          <a:endParaRPr lang="en-US" sz="1900" kern="1200" dirty="0">
            <a:latin typeface="Aptos" panose="020B0004020202020204"/>
            <a:ea typeface="+mn-ea"/>
            <a:cs typeface="+mn-cs"/>
          </a:endParaRPr>
        </a:p>
      </dsp:txBody>
      <dsp:txXfrm>
        <a:off x="1059754" y="2298147"/>
        <a:ext cx="5304469" cy="917536"/>
      </dsp:txXfrm>
    </dsp:sp>
    <dsp:sp modelId="{A01EB4F6-AF68-447A-A164-B49B680AFBB5}">
      <dsp:nvSpPr>
        <dsp:cNvPr id="0" name=""/>
        <dsp:cNvSpPr/>
      </dsp:nvSpPr>
      <dsp:spPr>
        <a:xfrm>
          <a:off x="0" y="3445068"/>
          <a:ext cx="6364224" cy="9175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D9752FD-E884-48AC-AA29-856342FC7FD0}">
      <dsp:nvSpPr>
        <dsp:cNvPr id="0" name=""/>
        <dsp:cNvSpPr/>
      </dsp:nvSpPr>
      <dsp:spPr>
        <a:xfrm>
          <a:off x="277554" y="3651513"/>
          <a:ext cx="504644" cy="50464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E9F385A-8F58-4A8A-9599-BDE794C66A75}">
      <dsp:nvSpPr>
        <dsp:cNvPr id="0" name=""/>
        <dsp:cNvSpPr/>
      </dsp:nvSpPr>
      <dsp:spPr>
        <a:xfrm>
          <a:off x="1059754" y="3445068"/>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fr-FR" sz="1900" kern="1200" dirty="0">
              <a:latin typeface="Aptos" panose="020B0004020202020204"/>
              <a:ea typeface="+mn-ea"/>
              <a:cs typeface="+mn-cs"/>
            </a:rPr>
            <a:t>Savoir s'adapter</a:t>
          </a:r>
          <a:endParaRPr lang="en-US" sz="1900" kern="1200" dirty="0">
            <a:latin typeface="Aptos" panose="020B0004020202020204"/>
            <a:ea typeface="+mn-ea"/>
            <a:cs typeface="+mn-cs"/>
          </a:endParaRPr>
        </a:p>
      </dsp:txBody>
      <dsp:txXfrm>
        <a:off x="1059754" y="3445068"/>
        <a:ext cx="5304469" cy="917536"/>
      </dsp:txXfrm>
    </dsp:sp>
    <dsp:sp modelId="{EBD97D88-A624-44FE-A4F0-81168221A973}">
      <dsp:nvSpPr>
        <dsp:cNvPr id="0" name=""/>
        <dsp:cNvSpPr/>
      </dsp:nvSpPr>
      <dsp:spPr>
        <a:xfrm>
          <a:off x="0" y="4591988"/>
          <a:ext cx="6364224" cy="9175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2358421-B11A-4C43-B1D3-C0440572204C}">
      <dsp:nvSpPr>
        <dsp:cNvPr id="0" name=""/>
        <dsp:cNvSpPr/>
      </dsp:nvSpPr>
      <dsp:spPr>
        <a:xfrm>
          <a:off x="277554" y="4798433"/>
          <a:ext cx="504644" cy="504644"/>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7CD9798-6271-4EC8-99D8-819730C146A6}">
      <dsp:nvSpPr>
        <dsp:cNvPr id="0" name=""/>
        <dsp:cNvSpPr/>
      </dsp:nvSpPr>
      <dsp:spPr>
        <a:xfrm>
          <a:off x="1059754" y="4591988"/>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fr-FR" sz="1900" kern="1200" dirty="0">
              <a:latin typeface="Aptos" panose="020B0004020202020204"/>
              <a:ea typeface="+mn-ea"/>
              <a:cs typeface="+mn-cs"/>
            </a:rPr>
            <a:t>Réduit son impact environnemental</a:t>
          </a:r>
          <a:endParaRPr lang="en-US" sz="1900" kern="1200" dirty="0">
            <a:latin typeface="Aptos" panose="020B0004020202020204"/>
            <a:ea typeface="+mn-ea"/>
            <a:cs typeface="+mn-cs"/>
          </a:endParaRPr>
        </a:p>
      </dsp:txBody>
      <dsp:txXfrm>
        <a:off x="1059754" y="4591988"/>
        <a:ext cx="5304469" cy="91753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562AFA-6D91-43E4-BC6C-3C249A7DDEEB}">
      <dsp:nvSpPr>
        <dsp:cNvPr id="0" name=""/>
        <dsp:cNvSpPr/>
      </dsp:nvSpPr>
      <dsp:spPr>
        <a:xfrm>
          <a:off x="0" y="2825"/>
          <a:ext cx="6949440"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88B0027-7533-472F-A721-D4C148A05359}">
      <dsp:nvSpPr>
        <dsp:cNvPr id="0" name=""/>
        <dsp:cNvSpPr/>
      </dsp:nvSpPr>
      <dsp:spPr>
        <a:xfrm>
          <a:off x="0" y="2825"/>
          <a:ext cx="6949440" cy="1926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fr-FR" sz="1800" kern="1200"/>
            <a:t>Nous conquérons des clients via des chantiers qui induisent une relation durable et une facturation de prestations de maintenance. L’activité est très tributaire de ces chantiers de plusieurs semaines, qu’il faut gérer en poursuivant la prestation de maintenance, ce qui est parfois compliqué. Etant peu nombreux, et l’expertise reposant sur un homme, on arrive rapidement à des goulots d’étranglement.</a:t>
          </a:r>
          <a:endParaRPr lang="en-US" sz="1800" kern="1200"/>
        </a:p>
      </dsp:txBody>
      <dsp:txXfrm>
        <a:off x="0" y="2825"/>
        <a:ext cx="6949440" cy="1926995"/>
      </dsp:txXfrm>
    </dsp:sp>
    <dsp:sp modelId="{5E103148-3185-4E13-A7F5-E749189F279D}">
      <dsp:nvSpPr>
        <dsp:cNvPr id="0" name=""/>
        <dsp:cNvSpPr/>
      </dsp:nvSpPr>
      <dsp:spPr>
        <a:xfrm>
          <a:off x="0" y="1929820"/>
          <a:ext cx="6949440" cy="0"/>
        </a:xfrm>
        <a:prstGeom prst="line">
          <a:avLst/>
        </a:prstGeom>
        <a:solidFill>
          <a:schemeClr val="accent2">
            <a:hueOff val="3221807"/>
            <a:satOff val="-9246"/>
            <a:lumOff val="-14805"/>
            <a:alphaOff val="0"/>
          </a:schemeClr>
        </a:solidFill>
        <a:ln w="19050" cap="flat" cmpd="sng" algn="ctr">
          <a:solidFill>
            <a:schemeClr val="accent2">
              <a:hueOff val="3221807"/>
              <a:satOff val="-9246"/>
              <a:lumOff val="-1480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71F25B-6B3B-42CC-A915-3E47BB084B5F}">
      <dsp:nvSpPr>
        <dsp:cNvPr id="0" name=""/>
        <dsp:cNvSpPr/>
      </dsp:nvSpPr>
      <dsp:spPr>
        <a:xfrm>
          <a:off x="0" y="1929820"/>
          <a:ext cx="6949440" cy="1926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fr-FR" sz="1800" kern="1200"/>
            <a:t>Nous préconisons des solutions technologiques basées souvent sur des outils qu’il faut importer (Corée, Japon, Chine, Europe). Cela pose des problèmes budgétaires à arbitrer : acheter pas cher, mais en quantité (import) ou nettement plus cher en petit nombre (confrère ou agent représentant)</a:t>
          </a:r>
          <a:endParaRPr lang="en-US" sz="1800" kern="1200"/>
        </a:p>
      </dsp:txBody>
      <dsp:txXfrm>
        <a:off x="0" y="1929820"/>
        <a:ext cx="6949440" cy="1926995"/>
      </dsp:txXfrm>
    </dsp:sp>
    <dsp:sp modelId="{547D90FB-CBC3-4F56-9053-04470088297A}">
      <dsp:nvSpPr>
        <dsp:cNvPr id="0" name=""/>
        <dsp:cNvSpPr/>
      </dsp:nvSpPr>
      <dsp:spPr>
        <a:xfrm>
          <a:off x="0" y="3856816"/>
          <a:ext cx="6949440" cy="0"/>
        </a:xfrm>
        <a:prstGeom prst="line">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D5A7323-F297-427E-A31D-03240D3F8224}">
      <dsp:nvSpPr>
        <dsp:cNvPr id="0" name=""/>
        <dsp:cNvSpPr/>
      </dsp:nvSpPr>
      <dsp:spPr>
        <a:xfrm>
          <a:off x="0" y="3856816"/>
          <a:ext cx="6949440" cy="1926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fr-FR" sz="1800" kern="1200"/>
            <a:t>Le cycle commercial (chantiers puis prospection, puis chantiers) induit une activité peu régulière (avec en tâche de fond une maintenance et disponibilité permanente)</a:t>
          </a:r>
          <a:endParaRPr lang="en-US" sz="1800" kern="1200"/>
        </a:p>
      </dsp:txBody>
      <dsp:txXfrm>
        <a:off x="0" y="3856816"/>
        <a:ext cx="6949440" cy="1926995"/>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DE6474-BB3D-4B78-9C8D-D433A8ABF5A6}" type="datetimeFigureOut">
              <a:rPr lang="fr-FR" smtClean="0"/>
              <a:t>25/02/2026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0EF590-53BC-4DDF-82A0-6C3DF9782375}" type="slidenum">
              <a:rPr lang="fr-FR" smtClean="0"/>
              <a:t>‹N°›</a:t>
            </a:fld>
            <a:endParaRPr lang="fr-FR"/>
          </a:p>
        </p:txBody>
      </p:sp>
    </p:spTree>
    <p:extLst>
      <p:ext uri="{BB962C8B-B14F-4D97-AF65-F5344CB8AC3E}">
        <p14:creationId xmlns:p14="http://schemas.microsoft.com/office/powerpoint/2010/main" val="29274609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Iso 27001 </a:t>
            </a:r>
          </a:p>
          <a:p>
            <a:r>
              <a:rPr lang="fr-FR" dirty="0"/>
              <a:t>Ce que l’ </a:t>
            </a:r>
            <a:r>
              <a:rPr lang="fr-FR" dirty="0" err="1"/>
              <a:t>entrreprise</a:t>
            </a:r>
            <a:r>
              <a:rPr lang="fr-FR" dirty="0"/>
              <a:t> </a:t>
            </a:r>
            <a:r>
              <a:rPr lang="fr-FR" dirty="0" err="1"/>
              <a:t>emts</a:t>
            </a:r>
            <a:r>
              <a:rPr lang="fr-FR" dirty="0"/>
              <a:t> en </a:t>
            </a:r>
            <a:r>
              <a:rPr lang="fr-FR" dirty="0" err="1"/>
              <a:t>oeuvre</a:t>
            </a:r>
            <a:endParaRPr lang="fr-FR" dirty="0"/>
          </a:p>
        </p:txBody>
      </p:sp>
      <p:sp>
        <p:nvSpPr>
          <p:cNvPr id="4" name="Espace réservé du numéro de diapositive 3"/>
          <p:cNvSpPr>
            <a:spLocks noGrp="1"/>
          </p:cNvSpPr>
          <p:nvPr>
            <p:ph type="sldNum" sz="quarter" idx="5"/>
          </p:nvPr>
        </p:nvSpPr>
        <p:spPr/>
        <p:txBody>
          <a:bodyPr/>
          <a:lstStyle/>
          <a:p>
            <a:fld id="{980EF590-53BC-4DDF-82A0-6C3DF9782375}" type="slidenum">
              <a:rPr lang="fr-FR" smtClean="0"/>
              <a:t>7</a:t>
            </a:fld>
            <a:endParaRPr lang="fr-FR"/>
          </a:p>
        </p:txBody>
      </p:sp>
    </p:spTree>
    <p:extLst>
      <p:ext uri="{BB962C8B-B14F-4D97-AF65-F5344CB8AC3E}">
        <p14:creationId xmlns:p14="http://schemas.microsoft.com/office/powerpoint/2010/main" val="40779728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Inopvation</a:t>
            </a:r>
            <a:r>
              <a:rPr lang="fr-FR" dirty="0"/>
              <a:t> explique </a:t>
            </a:r>
            <a:r>
              <a:rPr lang="fr-FR" dirty="0" err="1"/>
              <a:t>nla</a:t>
            </a:r>
            <a:r>
              <a:rPr lang="fr-FR" dirty="0"/>
              <a:t> baisse  du ca</a:t>
            </a:r>
          </a:p>
        </p:txBody>
      </p:sp>
      <p:sp>
        <p:nvSpPr>
          <p:cNvPr id="4" name="Espace réservé du numéro de diapositive 3"/>
          <p:cNvSpPr>
            <a:spLocks noGrp="1"/>
          </p:cNvSpPr>
          <p:nvPr>
            <p:ph type="sldNum" sz="quarter" idx="5"/>
          </p:nvPr>
        </p:nvSpPr>
        <p:spPr/>
        <p:txBody>
          <a:bodyPr/>
          <a:lstStyle/>
          <a:p>
            <a:fld id="{980EF590-53BC-4DDF-82A0-6C3DF9782375}" type="slidenum">
              <a:rPr lang="fr-FR" smtClean="0"/>
              <a:t>12</a:t>
            </a:fld>
            <a:endParaRPr lang="fr-FR"/>
          </a:p>
        </p:txBody>
      </p:sp>
    </p:spTree>
    <p:extLst>
      <p:ext uri="{BB962C8B-B14F-4D97-AF65-F5344CB8AC3E}">
        <p14:creationId xmlns:p14="http://schemas.microsoft.com/office/powerpoint/2010/main" val="33325086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p:cNvSpPr>
            <a:spLocks noGrp="1"/>
          </p:cNvSpPr>
          <p:nvPr>
            <p:ph type="dt" sz="half" idx="10"/>
          </p:nvPr>
        </p:nvSpPr>
        <p:spPr/>
        <p:txBody>
          <a:bodyPr/>
          <a:lstStyle/>
          <a:p>
            <a:fld id="{638941B0-F4D5-4460-BCAD-F7E2B41A8257}" type="datetimeFigureOut">
              <a:rPr lang="fr-FR" smtClean="0"/>
              <a:t>25/02/2026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33104911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638941B0-F4D5-4460-BCAD-F7E2B41A8257}" type="datetimeFigureOut">
              <a:rPr lang="fr-FR" smtClean="0"/>
              <a:t>25/02/2026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38417956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p>
            <a:fld id="{638941B0-F4D5-4460-BCAD-F7E2B41A8257}" type="datetimeFigureOut">
              <a:rPr lang="fr-FR" smtClean="0"/>
              <a:t>25/02/2026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34669234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638941B0-F4D5-4460-BCAD-F7E2B41A8257}" type="datetimeFigureOut">
              <a:rPr lang="fr-FR" smtClean="0"/>
              <a:t>25/02/2026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3747632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638941B0-F4D5-4460-BCAD-F7E2B41A8257}" type="datetimeFigureOut">
              <a:rPr lang="fr-FR" smtClean="0"/>
              <a:t>25/02/2026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2611866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638941B0-F4D5-4460-BCAD-F7E2B41A8257}" type="datetimeFigureOut">
              <a:rPr lang="fr-FR" smtClean="0"/>
              <a:t>25/02/2026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33958540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638941B0-F4D5-4460-BCAD-F7E2B41A8257}" type="datetimeFigureOut">
              <a:rPr lang="fr-FR" smtClean="0"/>
              <a:t>25/02/2026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40402013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638941B0-F4D5-4460-BCAD-F7E2B41A8257}" type="datetimeFigureOut">
              <a:rPr lang="fr-FR" smtClean="0"/>
              <a:t>25/02/2026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2706407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638941B0-F4D5-4460-BCAD-F7E2B41A8257}" type="datetimeFigureOut">
              <a:rPr lang="fr-FR" smtClean="0"/>
              <a:t>25/02/2026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1610903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638941B0-F4D5-4460-BCAD-F7E2B41A8257}" type="datetimeFigureOut">
              <a:rPr lang="fr-FR" smtClean="0"/>
              <a:t>25/02/2026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41727872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638941B0-F4D5-4460-BCAD-F7E2B41A8257}" type="datetimeFigureOut">
              <a:rPr lang="fr-FR" smtClean="0"/>
              <a:t>25/02/2026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19021775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38941B0-F4D5-4460-BCAD-F7E2B41A8257}" type="datetimeFigureOut">
              <a:rPr lang="fr-FR" smtClean="0"/>
              <a:t>25/02/2026</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7C6CCC6-2BE5-4E42-96A4-D1E8E81A3D8E}" type="slidenum">
              <a:rPr lang="fr-FR" smtClean="0"/>
              <a:t>‹N°›</a:t>
            </a:fld>
            <a:endParaRPr lang="fr-FR"/>
          </a:p>
        </p:txBody>
      </p:sp>
    </p:spTree>
    <p:extLst>
      <p:ext uri="{BB962C8B-B14F-4D97-AF65-F5344CB8AC3E}">
        <p14:creationId xmlns:p14="http://schemas.microsoft.com/office/powerpoint/2010/main" val="3071127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936374"/>
            <a:ext cx="9144000" cy="2387600"/>
          </a:xfrm>
        </p:spPr>
        <p:txBody>
          <a:bodyPr/>
          <a:lstStyle/>
          <a:p>
            <a:r>
              <a:rPr lang="fr-FR" dirty="0">
                <a:latin typeface="Century Schoolbook"/>
              </a:rPr>
              <a:t>FICHE D'ENTREPRISE</a:t>
            </a:r>
          </a:p>
        </p:txBody>
      </p:sp>
      <p:pic>
        <p:nvPicPr>
          <p:cNvPr id="4" name="Image 3">
            <a:extLst>
              <a:ext uri="{FF2B5EF4-FFF2-40B4-BE49-F238E27FC236}">
                <a16:creationId xmlns:a16="http://schemas.microsoft.com/office/drawing/2014/main" id="{07294EFA-A5E1-2537-535D-74B8E72EBFD2}"/>
              </a:ext>
            </a:extLst>
          </p:cNvPr>
          <p:cNvPicPr>
            <a:picLocks noChangeAspect="1"/>
          </p:cNvPicPr>
          <p:nvPr/>
        </p:nvPicPr>
        <p:blipFill>
          <a:blip r:embed="rId2"/>
          <a:stretch>
            <a:fillRect/>
          </a:stretch>
        </p:blipFill>
        <p:spPr>
          <a:xfrm>
            <a:off x="3010871" y="2417749"/>
            <a:ext cx="6159833" cy="2411997"/>
          </a:xfrm>
          <a:prstGeom prst="rect">
            <a:avLst/>
          </a:prstGeom>
        </p:spPr>
      </p:pic>
      <p:sp>
        <p:nvSpPr>
          <p:cNvPr id="5" name="ZoneTexte 4">
            <a:extLst>
              <a:ext uri="{FF2B5EF4-FFF2-40B4-BE49-F238E27FC236}">
                <a16:creationId xmlns:a16="http://schemas.microsoft.com/office/drawing/2014/main" id="{22047554-216B-6508-FDF6-AC7AA39B5F26}"/>
              </a:ext>
            </a:extLst>
          </p:cNvPr>
          <p:cNvSpPr txBox="1"/>
          <p:nvPr/>
        </p:nvSpPr>
        <p:spPr>
          <a:xfrm>
            <a:off x="2959384" y="5517496"/>
            <a:ext cx="6370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dirty="0">
                <a:latin typeface="Century Schoolbook"/>
              </a:rPr>
              <a:t>BENAMOU ILAN BTS SIO</a:t>
            </a:r>
          </a:p>
        </p:txBody>
      </p:sp>
    </p:spTree>
    <p:extLst>
      <p:ext uri="{BB962C8B-B14F-4D97-AF65-F5344CB8AC3E}">
        <p14:creationId xmlns:p14="http://schemas.microsoft.com/office/powerpoint/2010/main" val="3784089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80AD56CC-DBC1-DFFE-612C-630965FC2730}"/>
              </a:ext>
            </a:extLst>
          </p:cNvPr>
          <p:cNvSpPr>
            <a:spLocks noGrp="1"/>
          </p:cNvSpPr>
          <p:nvPr>
            <p:ph type="title"/>
          </p:nvPr>
        </p:nvSpPr>
        <p:spPr>
          <a:xfrm>
            <a:off x="826396" y="586855"/>
            <a:ext cx="4230100" cy="3387497"/>
          </a:xfrm>
        </p:spPr>
        <p:txBody>
          <a:bodyPr anchor="b">
            <a:normAutofit/>
          </a:bodyPr>
          <a:lstStyle/>
          <a:p>
            <a:pPr algn="r"/>
            <a:r>
              <a:rPr lang="fr-FR" sz="4000" b="1" u="sng">
                <a:solidFill>
                  <a:srgbClr val="FFFFFF"/>
                </a:solidFill>
              </a:rPr>
              <a:t>SOMMAIRE</a:t>
            </a:r>
          </a:p>
        </p:txBody>
      </p:sp>
      <p:sp>
        <p:nvSpPr>
          <p:cNvPr id="3" name="Espace réservé du contenu 2">
            <a:extLst>
              <a:ext uri="{FF2B5EF4-FFF2-40B4-BE49-F238E27FC236}">
                <a16:creationId xmlns:a16="http://schemas.microsoft.com/office/drawing/2014/main" id="{A7139002-C777-CF92-8595-7969F729ED80}"/>
              </a:ext>
            </a:extLst>
          </p:cNvPr>
          <p:cNvSpPr>
            <a:spLocks noGrp="1"/>
          </p:cNvSpPr>
          <p:nvPr>
            <p:ph idx="1"/>
          </p:nvPr>
        </p:nvSpPr>
        <p:spPr>
          <a:xfrm>
            <a:off x="6503158" y="649480"/>
            <a:ext cx="4862447" cy="5546047"/>
          </a:xfrm>
        </p:spPr>
        <p:txBody>
          <a:bodyPr vert="horz" lIns="91440" tIns="45720" rIns="91440" bIns="45720" rtlCol="0" anchor="ctr">
            <a:normAutofit lnSpcReduction="10000"/>
          </a:bodyPr>
          <a:lstStyle/>
          <a:p>
            <a:r>
              <a:rPr lang="fr-FR" sz="2000" dirty="0"/>
              <a:t>Forme Juridique / Siege social</a:t>
            </a:r>
          </a:p>
          <a:p>
            <a:r>
              <a:rPr lang="fr-FR" sz="2000" dirty="0"/>
              <a:t>Typologie / Effectif</a:t>
            </a:r>
          </a:p>
          <a:p>
            <a:r>
              <a:rPr lang="fr-FR" sz="2000" dirty="0"/>
              <a:t>Secteur D'Activité</a:t>
            </a:r>
          </a:p>
          <a:p>
            <a:r>
              <a:rPr lang="fr-FR" sz="2000" dirty="0"/>
              <a:t>Historique</a:t>
            </a:r>
          </a:p>
          <a:p>
            <a:r>
              <a:rPr lang="fr-FR" sz="2000" dirty="0"/>
              <a:t>RGPD</a:t>
            </a:r>
          </a:p>
          <a:p>
            <a:r>
              <a:rPr lang="fr-FR" sz="2000" dirty="0"/>
              <a:t>Parties prenantes </a:t>
            </a:r>
          </a:p>
          <a:p>
            <a:r>
              <a:rPr lang="fr-FR" sz="2000" dirty="0"/>
              <a:t>Performances</a:t>
            </a:r>
          </a:p>
          <a:p>
            <a:r>
              <a:rPr lang="fr-FR" sz="2000" dirty="0"/>
              <a:t>RSE</a:t>
            </a:r>
          </a:p>
          <a:p>
            <a:r>
              <a:rPr lang="fr-FR" sz="2000" dirty="0"/>
              <a:t>Responsable</a:t>
            </a:r>
          </a:p>
          <a:p>
            <a:r>
              <a:rPr lang="fr-FR" sz="2000" dirty="0"/>
              <a:t>Pérennité / Stratégies</a:t>
            </a:r>
          </a:p>
          <a:p>
            <a:r>
              <a:rPr lang="fr-FR" sz="2000" dirty="0"/>
              <a:t>Déséquilibre Economique</a:t>
            </a:r>
          </a:p>
          <a:p>
            <a:r>
              <a:rPr lang="fr-FR" sz="2000" dirty="0"/>
              <a:t>Impôts / Taxes /  Cotisations Sociale</a:t>
            </a:r>
          </a:p>
          <a:p>
            <a:r>
              <a:rPr lang="fr-FR" sz="2000" dirty="0"/>
              <a:t>Subventions</a:t>
            </a:r>
          </a:p>
          <a:p>
            <a:r>
              <a:rPr lang="fr-FR" sz="2000" dirty="0"/>
              <a:t>Règles / Normes</a:t>
            </a:r>
          </a:p>
          <a:p>
            <a:endParaRPr lang="fr-FR" sz="2000" dirty="0"/>
          </a:p>
        </p:txBody>
      </p:sp>
    </p:spTree>
    <p:extLst>
      <p:ext uri="{BB962C8B-B14F-4D97-AF65-F5344CB8AC3E}">
        <p14:creationId xmlns:p14="http://schemas.microsoft.com/office/powerpoint/2010/main" val="27020123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F8B833FB-3B49-EF25-FFAF-51DDB3947950}"/>
              </a:ext>
            </a:extLst>
          </p:cNvPr>
          <p:cNvSpPr>
            <a:spLocks noGrp="1"/>
          </p:cNvSpPr>
          <p:nvPr>
            <p:ph idx="1"/>
          </p:nvPr>
        </p:nvSpPr>
        <p:spPr>
          <a:xfrm>
            <a:off x="615398" y="2405894"/>
            <a:ext cx="5793053" cy="3535083"/>
          </a:xfrm>
        </p:spPr>
        <p:txBody>
          <a:bodyPr vert="horz" lIns="91440" tIns="45720" rIns="91440" bIns="45720" rtlCol="0" anchor="t">
            <a:normAutofit/>
          </a:bodyPr>
          <a:lstStyle/>
          <a:p>
            <a:r>
              <a:rPr lang="fr-FR" dirty="0">
                <a:latin typeface="Aptos Display"/>
              </a:rPr>
              <a:t>Forme juridique : SARL</a:t>
            </a:r>
          </a:p>
          <a:p>
            <a:r>
              <a:rPr lang="fr-FR" dirty="0">
                <a:latin typeface="Aptos Display"/>
              </a:rPr>
              <a:t>Siege Social : 74 avenue jean </a:t>
            </a:r>
            <a:r>
              <a:rPr lang="fr-FR" err="1">
                <a:latin typeface="Aptos Display"/>
              </a:rPr>
              <a:t>jaures</a:t>
            </a:r>
            <a:endParaRPr lang="fr-FR">
              <a:latin typeface="Aptos Display"/>
            </a:endParaRPr>
          </a:p>
        </p:txBody>
      </p:sp>
      <p:sp>
        <p:nvSpPr>
          <p:cNvPr id="11" name="Rectangle 10">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Image 3" descr="Une image contenant texte, capture d’écran, carte, Police&#10;&#10;Description générée automatiquement">
            <a:extLst>
              <a:ext uri="{FF2B5EF4-FFF2-40B4-BE49-F238E27FC236}">
                <a16:creationId xmlns:a16="http://schemas.microsoft.com/office/drawing/2014/main" id="{7FC2E44E-39C7-C150-2960-893E365AFD5C}"/>
              </a:ext>
            </a:extLst>
          </p:cNvPr>
          <p:cNvPicPr>
            <a:picLocks noChangeAspect="1"/>
          </p:cNvPicPr>
          <p:nvPr/>
        </p:nvPicPr>
        <p:blipFill>
          <a:blip r:embed="rId2"/>
          <a:stretch>
            <a:fillRect/>
          </a:stretch>
        </p:blipFill>
        <p:spPr>
          <a:xfrm>
            <a:off x="7075967" y="1728947"/>
            <a:ext cx="4170530" cy="3431999"/>
          </a:xfrm>
          <a:prstGeom prst="rect">
            <a:avLst/>
          </a:prstGeom>
        </p:spPr>
      </p:pic>
    </p:spTree>
    <p:extLst>
      <p:ext uri="{BB962C8B-B14F-4D97-AF65-F5344CB8AC3E}">
        <p14:creationId xmlns:p14="http://schemas.microsoft.com/office/powerpoint/2010/main" val="29499883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5" name="Espace réservé du contenu 2">
            <a:extLst>
              <a:ext uri="{FF2B5EF4-FFF2-40B4-BE49-F238E27FC236}">
                <a16:creationId xmlns:a16="http://schemas.microsoft.com/office/drawing/2014/main" id="{171B3B86-B707-D1E7-D2D5-2CE0D1ADD321}"/>
              </a:ext>
            </a:extLst>
          </p:cNvPr>
          <p:cNvGraphicFramePr>
            <a:graphicFrameLocks noGrp="1"/>
          </p:cNvGraphicFramePr>
          <p:nvPr>
            <p:ph idx="1"/>
            <p:extLst>
              <p:ext uri="{D42A27DB-BD31-4B8C-83A1-F6EECF244321}">
                <p14:modId xmlns:p14="http://schemas.microsoft.com/office/powerpoint/2010/main" val="3008401538"/>
              </p:ext>
            </p:extLst>
          </p:nvPr>
        </p:nvGraphicFramePr>
        <p:xfrm>
          <a:off x="437413" y="1970511"/>
          <a:ext cx="11121557" cy="4166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ZoneTexte 1">
            <a:extLst>
              <a:ext uri="{FF2B5EF4-FFF2-40B4-BE49-F238E27FC236}">
                <a16:creationId xmlns:a16="http://schemas.microsoft.com/office/drawing/2014/main" id="{AD1816BF-109F-16A5-9F55-E773A2F9891B}"/>
              </a:ext>
            </a:extLst>
          </p:cNvPr>
          <p:cNvSpPr txBox="1"/>
          <p:nvPr/>
        </p:nvSpPr>
        <p:spPr>
          <a:xfrm>
            <a:off x="3349690" y="457200"/>
            <a:ext cx="6139543" cy="646331"/>
          </a:xfrm>
          <a:prstGeom prst="rect">
            <a:avLst/>
          </a:prstGeom>
          <a:noFill/>
        </p:spPr>
        <p:txBody>
          <a:bodyPr wrap="square" rtlCol="0">
            <a:spAutoFit/>
          </a:bodyPr>
          <a:lstStyle/>
          <a:p>
            <a:pPr lvl="1"/>
            <a:r>
              <a:rPr lang="fr-FR" sz="3600" dirty="0">
                <a:solidFill>
                  <a:schemeClr val="bg1"/>
                </a:solidFill>
                <a:latin typeface="Arial" panose="020B0604020202020204" pitchFamily="34" charset="0"/>
                <a:cs typeface="Arial" panose="020B0604020202020204" pitchFamily="34" charset="0"/>
              </a:rPr>
              <a:t>TYPOLOGIE</a:t>
            </a:r>
          </a:p>
        </p:txBody>
      </p:sp>
    </p:spTree>
    <p:extLst>
      <p:ext uri="{BB962C8B-B14F-4D97-AF65-F5344CB8AC3E}">
        <p14:creationId xmlns:p14="http://schemas.microsoft.com/office/powerpoint/2010/main" val="8487633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Freeform: Shape 32">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5" name="Rectangle 34">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13479933-5ED5-D2CC-AE8E-CFC379BD5133}"/>
              </a:ext>
            </a:extLst>
          </p:cNvPr>
          <p:cNvSpPr>
            <a:spLocks noGrp="1"/>
          </p:cNvSpPr>
          <p:nvPr>
            <p:ph type="title"/>
          </p:nvPr>
        </p:nvSpPr>
        <p:spPr>
          <a:xfrm>
            <a:off x="466722" y="586855"/>
            <a:ext cx="3201366" cy="3387497"/>
          </a:xfrm>
        </p:spPr>
        <p:txBody>
          <a:bodyPr anchor="b">
            <a:normAutofit/>
          </a:bodyPr>
          <a:lstStyle/>
          <a:p>
            <a:pPr algn="r"/>
            <a:r>
              <a:rPr lang="fr-FR" sz="4000">
                <a:solidFill>
                  <a:srgbClr val="FFFFFF"/>
                </a:solidFill>
              </a:rPr>
              <a:t>Secteur d'activité : </a:t>
            </a:r>
          </a:p>
        </p:txBody>
      </p:sp>
      <p:sp>
        <p:nvSpPr>
          <p:cNvPr id="3" name="Espace réservé du contenu 2">
            <a:extLst>
              <a:ext uri="{FF2B5EF4-FFF2-40B4-BE49-F238E27FC236}">
                <a16:creationId xmlns:a16="http://schemas.microsoft.com/office/drawing/2014/main" id="{A5AC37D6-89D6-743B-6256-2245587A229E}"/>
              </a:ext>
            </a:extLst>
          </p:cNvPr>
          <p:cNvSpPr>
            <a:spLocks noGrp="1"/>
          </p:cNvSpPr>
          <p:nvPr>
            <p:ph idx="1"/>
          </p:nvPr>
        </p:nvSpPr>
        <p:spPr>
          <a:xfrm>
            <a:off x="4065118" y="584904"/>
            <a:ext cx="3916454" cy="5610623"/>
          </a:xfrm>
        </p:spPr>
        <p:txBody>
          <a:bodyPr vert="horz" lIns="91440" tIns="45720" rIns="91440" bIns="45720" rtlCol="0" anchor="ctr">
            <a:normAutofit/>
          </a:bodyPr>
          <a:lstStyle/>
          <a:p>
            <a:r>
              <a:rPr lang="fr-FR" sz="2400" dirty="0"/>
              <a:t>Maintenance Informatique</a:t>
            </a:r>
          </a:p>
          <a:p>
            <a:r>
              <a:rPr lang="fr-FR" sz="2400" dirty="0"/>
              <a:t>Sécurité physique et logique</a:t>
            </a:r>
          </a:p>
          <a:p>
            <a:r>
              <a:rPr lang="fr-FR" sz="2400" dirty="0"/>
              <a:t>Biométrie </a:t>
            </a:r>
          </a:p>
          <a:p>
            <a:r>
              <a:rPr lang="fr-FR" sz="2400" dirty="0"/>
              <a:t>Développement logiciel</a:t>
            </a:r>
          </a:p>
          <a:p>
            <a:r>
              <a:rPr lang="fr-FR" sz="2400" dirty="0"/>
              <a:t>Réseau</a:t>
            </a:r>
          </a:p>
          <a:p>
            <a:r>
              <a:rPr lang="fr-FR" sz="2400" dirty="0"/>
              <a:t>Infrastructure</a:t>
            </a:r>
          </a:p>
        </p:txBody>
      </p:sp>
      <p:pic>
        <p:nvPicPr>
          <p:cNvPr id="4" name="Image 3" descr="Kit complet de contrôle d'accès biométrique et badge - 1 porte">
            <a:extLst>
              <a:ext uri="{FF2B5EF4-FFF2-40B4-BE49-F238E27FC236}">
                <a16:creationId xmlns:a16="http://schemas.microsoft.com/office/drawing/2014/main" id="{831597F2-3BF4-3AE1-9625-105BD54109BB}"/>
              </a:ext>
            </a:extLst>
          </p:cNvPr>
          <p:cNvPicPr>
            <a:picLocks noChangeAspect="1"/>
          </p:cNvPicPr>
          <p:nvPr/>
        </p:nvPicPr>
        <p:blipFill>
          <a:blip r:embed="rId2"/>
          <a:stretch>
            <a:fillRect/>
          </a:stretch>
        </p:blipFill>
        <p:spPr>
          <a:xfrm>
            <a:off x="8109502" y="1627051"/>
            <a:ext cx="3615776" cy="3615776"/>
          </a:xfrm>
          <a:prstGeom prst="rect">
            <a:avLst/>
          </a:prstGeom>
        </p:spPr>
      </p:pic>
    </p:spTree>
    <p:extLst>
      <p:ext uri="{BB962C8B-B14F-4D97-AF65-F5344CB8AC3E}">
        <p14:creationId xmlns:p14="http://schemas.microsoft.com/office/powerpoint/2010/main" val="25428276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290008F2-8543-FFFD-9E4C-E5BC9B73F8A4}"/>
              </a:ext>
            </a:extLst>
          </p:cNvPr>
          <p:cNvSpPr>
            <a:spLocks noGrp="1"/>
          </p:cNvSpPr>
          <p:nvPr>
            <p:ph type="title"/>
          </p:nvPr>
        </p:nvSpPr>
        <p:spPr>
          <a:xfrm>
            <a:off x="1371599" y="294538"/>
            <a:ext cx="9895951" cy="1033669"/>
          </a:xfrm>
        </p:spPr>
        <p:txBody>
          <a:bodyPr>
            <a:normAutofit/>
          </a:bodyPr>
          <a:lstStyle/>
          <a:p>
            <a:r>
              <a:rPr lang="fr-FR" sz="4000" dirty="0">
                <a:solidFill>
                  <a:srgbClr val="FFFFFF"/>
                </a:solidFill>
              </a:rPr>
              <a:t>Historique</a:t>
            </a:r>
          </a:p>
        </p:txBody>
      </p:sp>
      <p:sp>
        <p:nvSpPr>
          <p:cNvPr id="3" name="Espace réservé du contenu 2">
            <a:extLst>
              <a:ext uri="{FF2B5EF4-FFF2-40B4-BE49-F238E27FC236}">
                <a16:creationId xmlns:a16="http://schemas.microsoft.com/office/drawing/2014/main" id="{64E7311D-B93A-E3C4-B482-82B4E4CDDD24}"/>
              </a:ext>
            </a:extLst>
          </p:cNvPr>
          <p:cNvSpPr>
            <a:spLocks noGrp="1"/>
          </p:cNvSpPr>
          <p:nvPr>
            <p:ph idx="1"/>
          </p:nvPr>
        </p:nvSpPr>
        <p:spPr>
          <a:xfrm>
            <a:off x="1371599" y="2318197"/>
            <a:ext cx="9724031" cy="3683358"/>
          </a:xfrm>
        </p:spPr>
        <p:txBody>
          <a:bodyPr vert="horz" lIns="91440" tIns="45720" rIns="91440" bIns="45720" rtlCol="0" anchor="ctr">
            <a:normAutofit fontScale="92500" lnSpcReduction="20000"/>
          </a:bodyPr>
          <a:lstStyle/>
          <a:p>
            <a:pPr marL="0" indent="0">
              <a:buNone/>
            </a:pPr>
            <a:r>
              <a:rPr lang="fr-FR" dirty="0">
                <a:latin typeface="Verdana"/>
                <a:ea typeface="Verdana"/>
              </a:rPr>
              <a:t>Création d'ISTEC en 1998 : pionner européen sur le marché de la biométrie.</a:t>
            </a:r>
            <a:br>
              <a:rPr lang="fr-FR" dirty="0">
                <a:latin typeface="Verdana"/>
                <a:ea typeface="Verdana"/>
              </a:rPr>
            </a:br>
            <a:endParaRPr lang="fr-FR" dirty="0">
              <a:latin typeface="Verdana"/>
              <a:ea typeface="Verdana"/>
            </a:endParaRPr>
          </a:p>
          <a:p>
            <a:pPr marL="0" indent="0">
              <a:buNone/>
            </a:pPr>
            <a:r>
              <a:rPr lang="fr-FR" dirty="0">
                <a:latin typeface="Verdana"/>
                <a:ea typeface="Verdana"/>
              </a:rPr>
              <a:t>Depuis elle maintient  sa place de leader sur le marché de la biométrie </a:t>
            </a:r>
            <a:br>
              <a:rPr lang="fr-FR" dirty="0">
                <a:latin typeface="Verdana"/>
                <a:ea typeface="Verdana"/>
              </a:rPr>
            </a:br>
            <a:r>
              <a:rPr lang="fr-FR" dirty="0">
                <a:latin typeface="Verdana"/>
                <a:ea typeface="Verdana"/>
              </a:rPr>
              <a:t>Spécialiste de la technologie de la reconnaissance d'empreinte digitale, ISTEC-Europe distribue et implémente des solutions biométriques dans le but d'accroître le niveau de sécurité , lutter contre la malveillance interne, réduire la fraude, éviter les vols, les intrusions et accroître la sécurité pour tous.</a:t>
            </a:r>
          </a:p>
          <a:p>
            <a:pPr marL="0" indent="0">
              <a:buNone/>
            </a:pPr>
            <a:endParaRPr lang="fr-FR" dirty="0">
              <a:latin typeface="Verdana"/>
              <a:ea typeface="Verdana"/>
            </a:endParaRPr>
          </a:p>
        </p:txBody>
      </p:sp>
    </p:spTree>
    <p:extLst>
      <p:ext uri="{BB962C8B-B14F-4D97-AF65-F5344CB8AC3E}">
        <p14:creationId xmlns:p14="http://schemas.microsoft.com/office/powerpoint/2010/main" val="41450737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FDCDA3AB-EAFA-8CEA-67AA-173DECD3B6C4}"/>
              </a:ext>
            </a:extLst>
          </p:cNvPr>
          <p:cNvSpPr>
            <a:spLocks noGrp="1"/>
          </p:cNvSpPr>
          <p:nvPr>
            <p:ph type="title"/>
          </p:nvPr>
        </p:nvSpPr>
        <p:spPr>
          <a:xfrm>
            <a:off x="1371597" y="348865"/>
            <a:ext cx="10044023" cy="877729"/>
          </a:xfrm>
        </p:spPr>
        <p:txBody>
          <a:bodyPr anchor="ctr">
            <a:normAutofit/>
          </a:bodyPr>
          <a:lstStyle/>
          <a:p>
            <a:r>
              <a:rPr lang="fr-FR" sz="4000">
                <a:solidFill>
                  <a:srgbClr val="FFFFFF"/>
                </a:solidFill>
              </a:rPr>
              <a:t>RGPD</a:t>
            </a:r>
          </a:p>
        </p:txBody>
      </p:sp>
      <p:graphicFrame>
        <p:nvGraphicFramePr>
          <p:cNvPr id="5" name="Espace réservé du contenu 2">
            <a:extLst>
              <a:ext uri="{FF2B5EF4-FFF2-40B4-BE49-F238E27FC236}">
                <a16:creationId xmlns:a16="http://schemas.microsoft.com/office/drawing/2014/main" id="{D9DC43C8-92FE-03FC-EA3D-ECC77B6572D2}"/>
              </a:ext>
            </a:extLst>
          </p:cNvPr>
          <p:cNvGraphicFramePr>
            <a:graphicFrameLocks noGrp="1"/>
          </p:cNvGraphicFramePr>
          <p:nvPr>
            <p:ph idx="1"/>
            <p:extLst>
              <p:ext uri="{D42A27DB-BD31-4B8C-83A1-F6EECF244321}">
                <p14:modId xmlns:p14="http://schemas.microsoft.com/office/powerpoint/2010/main" val="71983218"/>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219272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4C3E3BC3-E5EC-26AB-E2BD-F398F5B84EA5}"/>
              </a:ext>
            </a:extLst>
          </p:cNvPr>
          <p:cNvSpPr>
            <a:spLocks noGrp="1"/>
          </p:cNvSpPr>
          <p:nvPr>
            <p:ph type="title"/>
          </p:nvPr>
        </p:nvSpPr>
        <p:spPr>
          <a:xfrm>
            <a:off x="826396" y="586855"/>
            <a:ext cx="4230100" cy="3387497"/>
          </a:xfrm>
        </p:spPr>
        <p:txBody>
          <a:bodyPr anchor="b">
            <a:normAutofit/>
          </a:bodyPr>
          <a:lstStyle/>
          <a:p>
            <a:pPr algn="r"/>
            <a:r>
              <a:rPr lang="fr-FR" sz="4000" dirty="0">
                <a:solidFill>
                  <a:srgbClr val="FFFFFF"/>
                </a:solidFill>
              </a:rPr>
              <a:t>Principales Parties Prenantes</a:t>
            </a:r>
          </a:p>
        </p:txBody>
      </p:sp>
      <p:sp>
        <p:nvSpPr>
          <p:cNvPr id="3" name="Espace réservé du contenu 2">
            <a:extLst>
              <a:ext uri="{FF2B5EF4-FFF2-40B4-BE49-F238E27FC236}">
                <a16:creationId xmlns:a16="http://schemas.microsoft.com/office/drawing/2014/main" id="{43826776-FCFD-5492-4837-3E57417700FC}"/>
              </a:ext>
            </a:extLst>
          </p:cNvPr>
          <p:cNvSpPr>
            <a:spLocks noGrp="1"/>
          </p:cNvSpPr>
          <p:nvPr>
            <p:ph idx="1"/>
          </p:nvPr>
        </p:nvSpPr>
        <p:spPr>
          <a:xfrm>
            <a:off x="6503158" y="649480"/>
            <a:ext cx="4862447" cy="5546047"/>
          </a:xfrm>
        </p:spPr>
        <p:txBody>
          <a:bodyPr vert="horz" lIns="91440" tIns="45720" rIns="91440" bIns="45720" rtlCol="0" anchor="ctr">
            <a:normAutofit/>
          </a:bodyPr>
          <a:lstStyle/>
          <a:p>
            <a:r>
              <a:rPr lang="fr-FR" sz="2400" b="1" dirty="0"/>
              <a:t>INTERNES</a:t>
            </a:r>
          </a:p>
          <a:p>
            <a:r>
              <a:rPr lang="fr-FR" sz="2000" dirty="0"/>
              <a:t>Investisseurs : attendent la rentabilité et le retour sur investissement</a:t>
            </a:r>
            <a:endParaRPr lang="fr-FR" dirty="0"/>
          </a:p>
          <a:p>
            <a:r>
              <a:rPr lang="fr-FR" sz="2000" dirty="0"/>
              <a:t>Salariés :</a:t>
            </a:r>
            <a:r>
              <a:rPr lang="fr-FR" sz="2000" dirty="0">
                <a:ea typeface="+mn-lt"/>
                <a:cs typeface="+mn-lt"/>
              </a:rPr>
              <a:t> Stabilité de l’emploi, rémunération, conditions de travail.</a:t>
            </a:r>
            <a:endParaRPr lang="fr-FR" sz="2000" dirty="0"/>
          </a:p>
          <a:p>
            <a:r>
              <a:rPr lang="fr-FR" sz="2400" b="1" dirty="0"/>
              <a:t>EXTERNES</a:t>
            </a:r>
          </a:p>
          <a:p>
            <a:r>
              <a:rPr lang="fr-FR" sz="2000" dirty="0"/>
              <a:t>Fournisseurs et partenaires technologiques :  paiement régulier et partenariats durable. </a:t>
            </a:r>
          </a:p>
          <a:p>
            <a:r>
              <a:rPr lang="fr-FR" sz="2000" dirty="0"/>
              <a:t>Concurrents :  </a:t>
            </a:r>
            <a:r>
              <a:rPr lang="fr-FR" sz="2000" dirty="0">
                <a:ea typeface="+mn-lt"/>
                <a:cs typeface="+mn-lt"/>
              </a:rPr>
              <a:t>Gagner des parts de marché, proposer des innovations concurrentielles.</a:t>
            </a:r>
            <a:endParaRPr lang="fr-FR" sz="2000" dirty="0"/>
          </a:p>
          <a:p>
            <a:r>
              <a:rPr lang="fr-FR" sz="2000" dirty="0"/>
              <a:t>Clients (particuliers, entreprises </a:t>
            </a:r>
            <a:r>
              <a:rPr lang="fr-FR" sz="2000" dirty="0" err="1"/>
              <a:t>etc</a:t>
            </a:r>
            <a:r>
              <a:rPr lang="fr-FR" sz="2000" dirty="0"/>
              <a:t>) :  solutions biométriques fiables, sécurisées, innovantes et conformes aux réglementations.</a:t>
            </a:r>
          </a:p>
          <a:p>
            <a:endParaRPr lang="fr-FR" sz="2000" dirty="0"/>
          </a:p>
        </p:txBody>
      </p:sp>
    </p:spTree>
    <p:extLst>
      <p:ext uri="{BB962C8B-B14F-4D97-AF65-F5344CB8AC3E}">
        <p14:creationId xmlns:p14="http://schemas.microsoft.com/office/powerpoint/2010/main" val="14541840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5" name="Rectangle 1054">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E41CA038-2D99-A2A4-32DA-EF3E48793033}"/>
              </a:ext>
            </a:extLst>
          </p:cNvPr>
          <p:cNvSpPr>
            <a:spLocks noGrp="1"/>
          </p:cNvSpPr>
          <p:nvPr>
            <p:ph type="title"/>
          </p:nvPr>
        </p:nvSpPr>
        <p:spPr>
          <a:xfrm>
            <a:off x="793662" y="386930"/>
            <a:ext cx="10066122" cy="1298448"/>
          </a:xfrm>
        </p:spPr>
        <p:txBody>
          <a:bodyPr anchor="b">
            <a:normAutofit/>
          </a:bodyPr>
          <a:lstStyle/>
          <a:p>
            <a:r>
              <a:rPr lang="fr-FR" sz="4100"/>
              <a:t>Pouvons-nous considérer ISTEC comme une entreprise performante ?</a:t>
            </a:r>
          </a:p>
        </p:txBody>
      </p:sp>
      <p:sp>
        <p:nvSpPr>
          <p:cNvPr id="1057" name="Rectangle 1056">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9" name="Rectangle 1058">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6953C810-FB3F-10E0-8A76-565603F41B22}"/>
              </a:ext>
            </a:extLst>
          </p:cNvPr>
          <p:cNvSpPr>
            <a:spLocks noGrp="1"/>
          </p:cNvSpPr>
          <p:nvPr>
            <p:ph idx="1"/>
          </p:nvPr>
        </p:nvSpPr>
        <p:spPr>
          <a:xfrm>
            <a:off x="793661" y="2599509"/>
            <a:ext cx="4530898" cy="3639450"/>
          </a:xfrm>
        </p:spPr>
        <p:txBody>
          <a:bodyPr vert="horz" lIns="91440" tIns="45720" rIns="91440" bIns="45720" rtlCol="0" anchor="ctr">
            <a:normAutofit/>
          </a:bodyPr>
          <a:lstStyle/>
          <a:p>
            <a:pPr marL="0" indent="0">
              <a:buNone/>
            </a:pPr>
            <a:r>
              <a:rPr lang="fr-FR" sz="2000"/>
              <a:t>CA 2019 = </a:t>
            </a:r>
            <a:r>
              <a:rPr lang="fr-FR" sz="2000">
                <a:ea typeface="+mn-lt"/>
                <a:cs typeface="+mn-lt"/>
              </a:rPr>
              <a:t>839 800 euros</a:t>
            </a:r>
            <a:endParaRPr lang="fr-FR" sz="2000"/>
          </a:p>
          <a:p>
            <a:pPr marL="0" indent="0">
              <a:buNone/>
            </a:pPr>
            <a:r>
              <a:rPr lang="fr-FR" sz="2000"/>
              <a:t>CA 2021 = </a:t>
            </a:r>
            <a:r>
              <a:rPr lang="fr-FR" sz="2000">
                <a:ea typeface="+mn-lt"/>
                <a:cs typeface="+mn-lt"/>
              </a:rPr>
              <a:t>1,65 million d'euros</a:t>
            </a:r>
          </a:p>
          <a:p>
            <a:pPr marL="0" indent="0">
              <a:buNone/>
            </a:pPr>
            <a:r>
              <a:rPr lang="fr-FR" sz="2000"/>
              <a:t>Résultat net 2019 = 49 200 euros</a:t>
            </a:r>
          </a:p>
          <a:p>
            <a:pPr marL="0" indent="0">
              <a:buNone/>
            </a:pPr>
            <a:r>
              <a:rPr lang="fr-FR" sz="2000"/>
              <a:t>Résultat net 2021 = </a:t>
            </a:r>
            <a:r>
              <a:rPr lang="fr-FR" sz="2000">
                <a:ea typeface="+mn-lt"/>
                <a:cs typeface="+mn-lt"/>
              </a:rPr>
              <a:t>25 500 euros</a:t>
            </a:r>
          </a:p>
          <a:p>
            <a:pPr marL="0" indent="0">
              <a:buNone/>
            </a:pPr>
            <a:endParaRPr lang="fr-FR" sz="2000">
              <a:ea typeface="+mn-lt"/>
              <a:cs typeface="+mn-lt"/>
            </a:endParaRPr>
          </a:p>
        </p:txBody>
      </p:sp>
      <p:pic>
        <p:nvPicPr>
          <p:cNvPr id="1026" name="Picture 2" descr="Image générée">
            <a:extLst>
              <a:ext uri="{FF2B5EF4-FFF2-40B4-BE49-F238E27FC236}">
                <a16:creationId xmlns:a16="http://schemas.microsoft.com/office/drawing/2014/main" id="{C66993F6-3937-9CA9-8F04-CFAB96ABDA9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5911532" y="2809170"/>
            <a:ext cx="5150277" cy="3064413"/>
          </a:xfrm>
          <a:prstGeom prst="rect">
            <a:avLst/>
          </a:prstGeom>
          <a:noFill/>
          <a:extLst>
            <a:ext uri="{909E8E84-426E-40DD-AFC4-6F175D3DCCD1}">
              <a14:hiddenFill xmlns:a14="http://schemas.microsoft.com/office/drawing/2010/main">
                <a:solidFill>
                  <a:srgbClr val="FFFFFF"/>
                </a:solidFill>
              </a14:hiddenFill>
            </a:ext>
          </a:extLst>
        </p:spPr>
      </p:pic>
      <p:sp>
        <p:nvSpPr>
          <p:cNvPr id="1061" name="Rectangle 1060">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86088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7BF42CA-AD55-48B4-8949-C4DCA60A6A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6AE1D3D-3106-4CB2-AA7C-0C1642AC0F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A31B6AF-B711-4CDB-8C2B-16E963DDC4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137" y="0"/>
            <a:ext cx="5646974" cy="6483075"/>
            <a:chOff x="-19221" y="0"/>
            <a:chExt cx="5646974" cy="6483075"/>
          </a:xfrm>
        </p:grpSpPr>
        <p:sp>
          <p:nvSpPr>
            <p:cNvPr id="13" name="Freeform: Shape 12">
              <a:extLst>
                <a:ext uri="{FF2B5EF4-FFF2-40B4-BE49-F238E27FC236}">
                  <a16:creationId xmlns:a16="http://schemas.microsoft.com/office/drawing/2014/main" id="{CA818331-E13C-49C6-B98D-A60AD0E85A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16610"/>
              <a:ext cx="5535001" cy="6250127"/>
            </a:xfrm>
            <a:custGeom>
              <a:avLst/>
              <a:gdLst>
                <a:gd name="connsiteX0" fmla="*/ 2510242 w 5535001"/>
                <a:gd name="connsiteY0" fmla="*/ 174 h 6250127"/>
                <a:gd name="connsiteX1" fmla="*/ 2550551 w 5535001"/>
                <a:gd name="connsiteY1" fmla="*/ 510 h 6250127"/>
                <a:gd name="connsiteX2" fmla="*/ 2629490 w 5535001"/>
                <a:gd name="connsiteY2" fmla="*/ 3757 h 6250127"/>
                <a:gd name="connsiteX3" fmla="*/ 2708317 w 5535001"/>
                <a:gd name="connsiteY3" fmla="*/ 7229 h 6250127"/>
                <a:gd name="connsiteX4" fmla="*/ 2787256 w 5535001"/>
                <a:gd name="connsiteY4" fmla="*/ 14619 h 6250127"/>
                <a:gd name="connsiteX5" fmla="*/ 3408467 w 5535001"/>
                <a:gd name="connsiteY5" fmla="*/ 145064 h 6250127"/>
                <a:gd name="connsiteX6" fmla="*/ 3557723 w 5535001"/>
                <a:gd name="connsiteY6" fmla="*/ 199593 h 6250127"/>
                <a:gd name="connsiteX7" fmla="*/ 3594337 w 5535001"/>
                <a:gd name="connsiteY7" fmla="*/ 214597 h 6250127"/>
                <a:gd name="connsiteX8" fmla="*/ 3630616 w 5535001"/>
                <a:gd name="connsiteY8" fmla="*/ 230385 h 6250127"/>
                <a:gd name="connsiteX9" fmla="*/ 3703172 w 5535001"/>
                <a:gd name="connsiteY9" fmla="*/ 262073 h 6250127"/>
                <a:gd name="connsiteX10" fmla="*/ 3739003 w 5535001"/>
                <a:gd name="connsiteY10" fmla="*/ 278756 h 6250127"/>
                <a:gd name="connsiteX11" fmla="*/ 3756806 w 5535001"/>
                <a:gd name="connsiteY11" fmla="*/ 287266 h 6250127"/>
                <a:gd name="connsiteX12" fmla="*/ 3773714 w 5535001"/>
                <a:gd name="connsiteY12" fmla="*/ 297567 h 6250127"/>
                <a:gd name="connsiteX13" fmla="*/ 3840784 w 5535001"/>
                <a:gd name="connsiteY13" fmla="*/ 339332 h 6250127"/>
                <a:gd name="connsiteX14" fmla="*/ 3873927 w 5535001"/>
                <a:gd name="connsiteY14" fmla="*/ 360495 h 6250127"/>
                <a:gd name="connsiteX15" fmla="*/ 3906062 w 5535001"/>
                <a:gd name="connsiteY15" fmla="*/ 383001 h 6250127"/>
                <a:gd name="connsiteX16" fmla="*/ 3969662 w 5535001"/>
                <a:gd name="connsiteY16" fmla="*/ 428572 h 6250127"/>
                <a:gd name="connsiteX17" fmla="*/ 4423029 w 5535001"/>
                <a:gd name="connsiteY17" fmla="*/ 837600 h 6250127"/>
                <a:gd name="connsiteX18" fmla="*/ 4474647 w 5535001"/>
                <a:gd name="connsiteY18" fmla="*/ 891569 h 6250127"/>
                <a:gd name="connsiteX19" fmla="*/ 4524250 w 5535001"/>
                <a:gd name="connsiteY19" fmla="*/ 946883 h 6250127"/>
                <a:gd name="connsiteX20" fmla="*/ 4573965 w 5535001"/>
                <a:gd name="connsiteY20" fmla="*/ 1001748 h 6250127"/>
                <a:gd name="connsiteX21" fmla="*/ 4622224 w 5535001"/>
                <a:gd name="connsiteY21" fmla="*/ 1057509 h 6250127"/>
                <a:gd name="connsiteX22" fmla="*/ 4717510 w 5535001"/>
                <a:gd name="connsiteY22" fmla="*/ 1169143 h 6250127"/>
                <a:gd name="connsiteX23" fmla="*/ 4764986 w 5535001"/>
                <a:gd name="connsiteY23" fmla="*/ 1224681 h 6250127"/>
                <a:gd name="connsiteX24" fmla="*/ 4813021 w 5535001"/>
                <a:gd name="connsiteY24" fmla="*/ 1279994 h 6250127"/>
                <a:gd name="connsiteX25" fmla="*/ 5001915 w 5535001"/>
                <a:gd name="connsiteY25" fmla="*/ 1506846 h 6250127"/>
                <a:gd name="connsiteX26" fmla="*/ 5170542 w 5535001"/>
                <a:gd name="connsiteY26" fmla="*/ 1751165 h 6250127"/>
                <a:gd name="connsiteX27" fmla="*/ 5428969 w 5535001"/>
                <a:gd name="connsiteY27" fmla="*/ 2293660 h 6250127"/>
                <a:gd name="connsiteX28" fmla="*/ 5534893 w 5535001"/>
                <a:gd name="connsiteY28" fmla="*/ 2899307 h 6250127"/>
                <a:gd name="connsiteX29" fmla="*/ 5508804 w 5535001"/>
                <a:gd name="connsiteY29" fmla="*/ 3211144 h 6250127"/>
                <a:gd name="connsiteX30" fmla="*/ 5426282 w 5535001"/>
                <a:gd name="connsiteY30" fmla="*/ 3513352 h 6250127"/>
                <a:gd name="connsiteX31" fmla="*/ 5248250 w 5535001"/>
                <a:gd name="connsiteY31" fmla="*/ 4030542 h 6250127"/>
                <a:gd name="connsiteX32" fmla="*/ 5208612 w 5535001"/>
                <a:gd name="connsiteY32" fmla="*/ 4161771 h 6250127"/>
                <a:gd name="connsiteX33" fmla="*/ 5170318 w 5535001"/>
                <a:gd name="connsiteY33" fmla="*/ 4294680 h 6250127"/>
                <a:gd name="connsiteX34" fmla="*/ 5132248 w 5535001"/>
                <a:gd name="connsiteY34" fmla="*/ 4430164 h 6250127"/>
                <a:gd name="connsiteX35" fmla="*/ 5112765 w 5535001"/>
                <a:gd name="connsiteY35" fmla="*/ 4498914 h 6250127"/>
                <a:gd name="connsiteX36" fmla="*/ 5091715 w 5535001"/>
                <a:gd name="connsiteY36" fmla="*/ 4569119 h 6250127"/>
                <a:gd name="connsiteX37" fmla="*/ 5068985 w 5535001"/>
                <a:gd name="connsiteY37" fmla="*/ 4640220 h 6250127"/>
                <a:gd name="connsiteX38" fmla="*/ 5043904 w 5535001"/>
                <a:gd name="connsiteY38" fmla="*/ 4712105 h 6250127"/>
                <a:gd name="connsiteX39" fmla="*/ 5015799 w 5535001"/>
                <a:gd name="connsiteY39" fmla="*/ 4784438 h 6250127"/>
                <a:gd name="connsiteX40" fmla="*/ 4982880 w 5535001"/>
                <a:gd name="connsiteY40" fmla="*/ 4856435 h 6250127"/>
                <a:gd name="connsiteX41" fmla="*/ 4817276 w 5535001"/>
                <a:gd name="connsiteY41" fmla="*/ 5125275 h 6250127"/>
                <a:gd name="connsiteX42" fmla="*/ 4618753 w 5535001"/>
                <a:gd name="connsiteY42" fmla="*/ 5355374 h 6250127"/>
                <a:gd name="connsiteX43" fmla="*/ 4566575 w 5535001"/>
                <a:gd name="connsiteY43" fmla="*/ 5408560 h 6250127"/>
                <a:gd name="connsiteX44" fmla="*/ 4513837 w 5535001"/>
                <a:gd name="connsiteY44" fmla="*/ 5461186 h 6250127"/>
                <a:gd name="connsiteX45" fmla="*/ 4459531 w 5535001"/>
                <a:gd name="connsiteY45" fmla="*/ 5512580 h 6250127"/>
                <a:gd name="connsiteX46" fmla="*/ 4404554 w 5535001"/>
                <a:gd name="connsiteY46" fmla="*/ 5563526 h 6250127"/>
                <a:gd name="connsiteX47" fmla="*/ 4348009 w 5535001"/>
                <a:gd name="connsiteY47" fmla="*/ 5613017 h 6250127"/>
                <a:gd name="connsiteX48" fmla="*/ 4290568 w 5535001"/>
                <a:gd name="connsiteY48" fmla="*/ 5661948 h 6250127"/>
                <a:gd name="connsiteX49" fmla="*/ 4276124 w 5535001"/>
                <a:gd name="connsiteY49" fmla="*/ 5674153 h 6250127"/>
                <a:gd name="connsiteX50" fmla="*/ 4261120 w 5535001"/>
                <a:gd name="connsiteY50" fmla="*/ 5685798 h 6250127"/>
                <a:gd name="connsiteX51" fmla="*/ 4231112 w 5535001"/>
                <a:gd name="connsiteY51" fmla="*/ 5708976 h 6250127"/>
                <a:gd name="connsiteX52" fmla="*/ 4170984 w 5535001"/>
                <a:gd name="connsiteY52" fmla="*/ 5755443 h 6250127"/>
                <a:gd name="connsiteX53" fmla="*/ 4046025 w 5535001"/>
                <a:gd name="connsiteY53" fmla="*/ 5843228 h 6250127"/>
                <a:gd name="connsiteX54" fmla="*/ 3915356 w 5535001"/>
                <a:gd name="connsiteY54" fmla="*/ 5923735 h 6250127"/>
                <a:gd name="connsiteX55" fmla="*/ 3346323 w 5535001"/>
                <a:gd name="connsiteY55" fmla="*/ 6158872 h 6250127"/>
                <a:gd name="connsiteX56" fmla="*/ 2743476 w 5535001"/>
                <a:gd name="connsiteY56" fmla="*/ 6247328 h 6250127"/>
                <a:gd name="connsiteX57" fmla="*/ 2668120 w 5535001"/>
                <a:gd name="connsiteY57" fmla="*/ 6249344 h 6250127"/>
                <a:gd name="connsiteX58" fmla="*/ 2630498 w 5535001"/>
                <a:gd name="connsiteY58" fmla="*/ 6250127 h 6250127"/>
                <a:gd name="connsiteX59" fmla="*/ 2592988 w 5535001"/>
                <a:gd name="connsiteY59" fmla="*/ 6249568 h 6250127"/>
                <a:gd name="connsiteX60" fmla="*/ 2518080 w 5535001"/>
                <a:gd name="connsiteY60" fmla="*/ 6247777 h 6250127"/>
                <a:gd name="connsiteX61" fmla="*/ 2442948 w 5535001"/>
                <a:gd name="connsiteY61" fmla="*/ 6244529 h 6250127"/>
                <a:gd name="connsiteX62" fmla="*/ 2291676 w 5535001"/>
                <a:gd name="connsiteY62" fmla="*/ 6232213 h 6250127"/>
                <a:gd name="connsiteX63" fmla="*/ 2141412 w 5535001"/>
                <a:gd name="connsiteY63" fmla="*/ 6212394 h 6250127"/>
                <a:gd name="connsiteX64" fmla="*/ 1992715 w 5535001"/>
                <a:gd name="connsiteY64" fmla="*/ 6184961 h 6250127"/>
                <a:gd name="connsiteX65" fmla="*/ 1845811 w 5535001"/>
                <a:gd name="connsiteY65" fmla="*/ 6151034 h 6250127"/>
                <a:gd name="connsiteX66" fmla="*/ 1701033 w 5535001"/>
                <a:gd name="connsiteY66" fmla="*/ 6110724 h 6250127"/>
                <a:gd name="connsiteX67" fmla="*/ 1629484 w 5535001"/>
                <a:gd name="connsiteY67" fmla="*/ 6088219 h 6250127"/>
                <a:gd name="connsiteX68" fmla="*/ 1558383 w 5535001"/>
                <a:gd name="connsiteY68" fmla="*/ 6064929 h 6250127"/>
                <a:gd name="connsiteX69" fmla="*/ 1011968 w 5535001"/>
                <a:gd name="connsiteY69" fmla="*/ 5828896 h 6250127"/>
                <a:gd name="connsiteX70" fmla="*/ 511237 w 5535001"/>
                <a:gd name="connsiteY70" fmla="*/ 5512356 h 6250127"/>
                <a:gd name="connsiteX71" fmla="*/ 395572 w 5535001"/>
                <a:gd name="connsiteY71" fmla="*/ 5419757 h 6250127"/>
                <a:gd name="connsiteX72" fmla="*/ 284722 w 5535001"/>
                <a:gd name="connsiteY72" fmla="*/ 5321559 h 6250127"/>
                <a:gd name="connsiteX73" fmla="*/ 257513 w 5535001"/>
                <a:gd name="connsiteY73" fmla="*/ 5296477 h 6250127"/>
                <a:gd name="connsiteX74" fmla="*/ 243853 w 5535001"/>
                <a:gd name="connsiteY74" fmla="*/ 5283937 h 6250127"/>
                <a:gd name="connsiteX75" fmla="*/ 230752 w 5535001"/>
                <a:gd name="connsiteY75" fmla="*/ 5270836 h 6250127"/>
                <a:gd name="connsiteX76" fmla="*/ 178574 w 5535001"/>
                <a:gd name="connsiteY76" fmla="*/ 5218322 h 6250127"/>
                <a:gd name="connsiteX77" fmla="*/ 126508 w 5535001"/>
                <a:gd name="connsiteY77" fmla="*/ 5165584 h 6250127"/>
                <a:gd name="connsiteX78" fmla="*/ 76345 w 5535001"/>
                <a:gd name="connsiteY78" fmla="*/ 5111167 h 6250127"/>
                <a:gd name="connsiteX79" fmla="*/ 26407 w 5535001"/>
                <a:gd name="connsiteY79" fmla="*/ 5056413 h 6250127"/>
                <a:gd name="connsiteX80" fmla="*/ 0 w 5535001"/>
                <a:gd name="connsiteY80" fmla="*/ 5024776 h 6250127"/>
                <a:gd name="connsiteX81" fmla="*/ 0 w 5535001"/>
                <a:gd name="connsiteY81" fmla="*/ 4492798 h 6250127"/>
                <a:gd name="connsiteX82" fmla="*/ 28534 w 5535001"/>
                <a:gd name="connsiteY82" fmla="*/ 4537879 h 6250127"/>
                <a:gd name="connsiteX83" fmla="*/ 66604 w 5535001"/>
                <a:gd name="connsiteY83" fmla="*/ 4592745 h 6250127"/>
                <a:gd name="connsiteX84" fmla="*/ 104114 w 5535001"/>
                <a:gd name="connsiteY84" fmla="*/ 4647834 h 6250127"/>
                <a:gd name="connsiteX85" fmla="*/ 143751 w 5535001"/>
                <a:gd name="connsiteY85" fmla="*/ 4701580 h 6250127"/>
                <a:gd name="connsiteX86" fmla="*/ 182717 w 5535001"/>
                <a:gd name="connsiteY86" fmla="*/ 4755773 h 6250127"/>
                <a:gd name="connsiteX87" fmla="*/ 223810 w 5535001"/>
                <a:gd name="connsiteY87" fmla="*/ 4808399 h 6250127"/>
                <a:gd name="connsiteX88" fmla="*/ 264679 w 5535001"/>
                <a:gd name="connsiteY88" fmla="*/ 4861249 h 6250127"/>
                <a:gd name="connsiteX89" fmla="*/ 307788 w 5535001"/>
                <a:gd name="connsiteY89" fmla="*/ 4912420 h 6250127"/>
                <a:gd name="connsiteX90" fmla="*/ 351232 w 5535001"/>
                <a:gd name="connsiteY90" fmla="*/ 4963254 h 6250127"/>
                <a:gd name="connsiteX91" fmla="*/ 397028 w 5535001"/>
                <a:gd name="connsiteY91" fmla="*/ 5012185 h 6250127"/>
                <a:gd name="connsiteX92" fmla="*/ 443496 w 5535001"/>
                <a:gd name="connsiteY92" fmla="*/ 5060444 h 6250127"/>
                <a:gd name="connsiteX93" fmla="*/ 455140 w 5535001"/>
                <a:gd name="connsiteY93" fmla="*/ 5072537 h 6250127"/>
                <a:gd name="connsiteX94" fmla="*/ 467345 w 5535001"/>
                <a:gd name="connsiteY94" fmla="*/ 5083958 h 6250127"/>
                <a:gd name="connsiteX95" fmla="*/ 491755 w 5535001"/>
                <a:gd name="connsiteY95" fmla="*/ 5106912 h 6250127"/>
                <a:gd name="connsiteX96" fmla="*/ 540686 w 5535001"/>
                <a:gd name="connsiteY96" fmla="*/ 5152819 h 6250127"/>
                <a:gd name="connsiteX97" fmla="*/ 552890 w 5535001"/>
                <a:gd name="connsiteY97" fmla="*/ 5164353 h 6250127"/>
                <a:gd name="connsiteX98" fmla="*/ 565655 w 5535001"/>
                <a:gd name="connsiteY98" fmla="*/ 5175214 h 6250127"/>
                <a:gd name="connsiteX99" fmla="*/ 591072 w 5535001"/>
                <a:gd name="connsiteY99" fmla="*/ 5197048 h 6250127"/>
                <a:gd name="connsiteX100" fmla="*/ 694197 w 5535001"/>
                <a:gd name="connsiteY100" fmla="*/ 5283041 h 6250127"/>
                <a:gd name="connsiteX101" fmla="*/ 1146221 w 5535001"/>
                <a:gd name="connsiteY101" fmla="*/ 5573716 h 6250127"/>
                <a:gd name="connsiteX102" fmla="*/ 1650982 w 5535001"/>
                <a:gd name="connsiteY102" fmla="*/ 5758130 h 6250127"/>
                <a:gd name="connsiteX103" fmla="*/ 1716485 w 5535001"/>
                <a:gd name="connsiteY103" fmla="*/ 5772798 h 6250127"/>
                <a:gd name="connsiteX104" fmla="*/ 1782211 w 5535001"/>
                <a:gd name="connsiteY104" fmla="*/ 5786235 h 6250127"/>
                <a:gd name="connsiteX105" fmla="*/ 1848386 w 5535001"/>
                <a:gd name="connsiteY105" fmla="*/ 5796984 h 6250127"/>
                <a:gd name="connsiteX106" fmla="*/ 1881417 w 5535001"/>
                <a:gd name="connsiteY106" fmla="*/ 5802359 h 6250127"/>
                <a:gd name="connsiteX107" fmla="*/ 1914560 w 5535001"/>
                <a:gd name="connsiteY107" fmla="*/ 5807061 h 6250127"/>
                <a:gd name="connsiteX108" fmla="*/ 2047469 w 5535001"/>
                <a:gd name="connsiteY108" fmla="*/ 5821282 h 6250127"/>
                <a:gd name="connsiteX109" fmla="*/ 2180601 w 5535001"/>
                <a:gd name="connsiteY109" fmla="*/ 5828896 h 6250127"/>
                <a:gd name="connsiteX110" fmla="*/ 2313622 w 5535001"/>
                <a:gd name="connsiteY110" fmla="*/ 5830463 h 6250127"/>
                <a:gd name="connsiteX111" fmla="*/ 2380021 w 5535001"/>
                <a:gd name="connsiteY111" fmla="*/ 5828448 h 6250127"/>
                <a:gd name="connsiteX112" fmla="*/ 2446195 w 5535001"/>
                <a:gd name="connsiteY112" fmla="*/ 5826433 h 6250127"/>
                <a:gd name="connsiteX113" fmla="*/ 2513041 w 5535001"/>
                <a:gd name="connsiteY113" fmla="*/ 5822737 h 6250127"/>
                <a:gd name="connsiteX114" fmla="*/ 2580111 w 5535001"/>
                <a:gd name="connsiteY114" fmla="*/ 5818258 h 6250127"/>
                <a:gd name="connsiteX115" fmla="*/ 2613590 w 5535001"/>
                <a:gd name="connsiteY115" fmla="*/ 5816355 h 6250127"/>
                <a:gd name="connsiteX116" fmla="*/ 2646845 w 5535001"/>
                <a:gd name="connsiteY116" fmla="*/ 5813108 h 6250127"/>
                <a:gd name="connsiteX117" fmla="*/ 2713244 w 5535001"/>
                <a:gd name="connsiteY117" fmla="*/ 5806838 h 6250127"/>
                <a:gd name="connsiteX118" fmla="*/ 3230882 w 5535001"/>
                <a:gd name="connsiteY118" fmla="*/ 5721292 h 6250127"/>
                <a:gd name="connsiteX119" fmla="*/ 3720416 w 5535001"/>
                <a:gd name="connsiteY119" fmla="*/ 5556472 h 6250127"/>
                <a:gd name="connsiteX120" fmla="*/ 3837425 w 5535001"/>
                <a:gd name="connsiteY120" fmla="*/ 5499927 h 6250127"/>
                <a:gd name="connsiteX121" fmla="*/ 3951634 w 5535001"/>
                <a:gd name="connsiteY121" fmla="*/ 5436552 h 6250127"/>
                <a:gd name="connsiteX122" fmla="*/ 4007284 w 5535001"/>
                <a:gd name="connsiteY122" fmla="*/ 5401841 h 6250127"/>
                <a:gd name="connsiteX123" fmla="*/ 4035164 w 5535001"/>
                <a:gd name="connsiteY123" fmla="*/ 5384374 h 6250127"/>
                <a:gd name="connsiteX124" fmla="*/ 4049049 w 5535001"/>
                <a:gd name="connsiteY124" fmla="*/ 5375640 h 6250127"/>
                <a:gd name="connsiteX125" fmla="*/ 4062485 w 5535001"/>
                <a:gd name="connsiteY125" fmla="*/ 5366123 h 6250127"/>
                <a:gd name="connsiteX126" fmla="*/ 4116567 w 5535001"/>
                <a:gd name="connsiteY126" fmla="*/ 5328277 h 6250127"/>
                <a:gd name="connsiteX127" fmla="*/ 4169976 w 5535001"/>
                <a:gd name="connsiteY127" fmla="*/ 5289199 h 6250127"/>
                <a:gd name="connsiteX128" fmla="*/ 4222042 w 5535001"/>
                <a:gd name="connsiteY128" fmla="*/ 5247994 h 6250127"/>
                <a:gd name="connsiteX129" fmla="*/ 4273213 w 5535001"/>
                <a:gd name="connsiteY129" fmla="*/ 5205558 h 6250127"/>
                <a:gd name="connsiteX130" fmla="*/ 4323151 w 5535001"/>
                <a:gd name="connsiteY130" fmla="*/ 5161329 h 6250127"/>
                <a:gd name="connsiteX131" fmla="*/ 4371971 w 5535001"/>
                <a:gd name="connsiteY131" fmla="*/ 5116093 h 6250127"/>
                <a:gd name="connsiteX132" fmla="*/ 4546868 w 5535001"/>
                <a:gd name="connsiteY132" fmla="*/ 4924400 h 6250127"/>
                <a:gd name="connsiteX133" fmla="*/ 4675634 w 5535001"/>
                <a:gd name="connsiteY133" fmla="*/ 4715352 h 6250127"/>
                <a:gd name="connsiteX134" fmla="*/ 4700155 w 5535001"/>
                <a:gd name="connsiteY134" fmla="*/ 4659255 h 6250127"/>
                <a:gd name="connsiteX135" fmla="*/ 4721206 w 5535001"/>
                <a:gd name="connsiteY135" fmla="*/ 4600135 h 6250127"/>
                <a:gd name="connsiteX136" fmla="*/ 4740465 w 5535001"/>
                <a:gd name="connsiteY136" fmla="*/ 4538887 h 6250127"/>
                <a:gd name="connsiteX137" fmla="*/ 4758492 w 5535001"/>
                <a:gd name="connsiteY137" fmla="*/ 4475848 h 6250127"/>
                <a:gd name="connsiteX138" fmla="*/ 4891288 w 5535001"/>
                <a:gd name="connsiteY138" fmla="*/ 3930329 h 6250127"/>
                <a:gd name="connsiteX139" fmla="*/ 5066298 w 5535001"/>
                <a:gd name="connsiteY139" fmla="*/ 3382235 h 6250127"/>
                <a:gd name="connsiteX140" fmla="*/ 5156994 w 5535001"/>
                <a:gd name="connsiteY140" fmla="*/ 2898635 h 6250127"/>
                <a:gd name="connsiteX141" fmla="*/ 5083317 w 5535001"/>
                <a:gd name="connsiteY141" fmla="*/ 2402047 h 6250127"/>
                <a:gd name="connsiteX142" fmla="*/ 4871022 w 5535001"/>
                <a:gd name="connsiteY142" fmla="*/ 1926958 h 6250127"/>
                <a:gd name="connsiteX143" fmla="*/ 4727028 w 5535001"/>
                <a:gd name="connsiteY143" fmla="*/ 1703577 h 6250127"/>
                <a:gd name="connsiteX144" fmla="*/ 4563776 w 5535001"/>
                <a:gd name="connsiteY144" fmla="*/ 1490834 h 6250127"/>
                <a:gd name="connsiteX145" fmla="*/ 4370291 w 5535001"/>
                <a:gd name="connsiteY145" fmla="*/ 1300596 h 6250127"/>
                <a:gd name="connsiteX146" fmla="*/ 4266046 w 5535001"/>
                <a:gd name="connsiteY146" fmla="*/ 1214491 h 6250127"/>
                <a:gd name="connsiteX147" fmla="*/ 4212973 w 5535001"/>
                <a:gd name="connsiteY147" fmla="*/ 1173062 h 6250127"/>
                <a:gd name="connsiteX148" fmla="*/ 4157995 w 5535001"/>
                <a:gd name="connsiteY148" fmla="*/ 1134545 h 6250127"/>
                <a:gd name="connsiteX149" fmla="*/ 3697126 w 5535001"/>
                <a:gd name="connsiteY149" fmla="*/ 881044 h 6250127"/>
                <a:gd name="connsiteX150" fmla="*/ 3637670 w 5535001"/>
                <a:gd name="connsiteY150" fmla="*/ 856747 h 6250127"/>
                <a:gd name="connsiteX151" fmla="*/ 3608222 w 5535001"/>
                <a:gd name="connsiteY151" fmla="*/ 844318 h 6250127"/>
                <a:gd name="connsiteX152" fmla="*/ 3578214 w 5535001"/>
                <a:gd name="connsiteY152" fmla="*/ 833457 h 6250127"/>
                <a:gd name="connsiteX153" fmla="*/ 3518309 w 5535001"/>
                <a:gd name="connsiteY153" fmla="*/ 812294 h 6250127"/>
                <a:gd name="connsiteX154" fmla="*/ 3503417 w 5535001"/>
                <a:gd name="connsiteY154" fmla="*/ 806920 h 6250127"/>
                <a:gd name="connsiteX155" fmla="*/ 3489533 w 5535001"/>
                <a:gd name="connsiteY155" fmla="*/ 799642 h 6250127"/>
                <a:gd name="connsiteX156" fmla="*/ 3460869 w 5535001"/>
                <a:gd name="connsiteY156" fmla="*/ 787101 h 6250127"/>
                <a:gd name="connsiteX157" fmla="*/ 3402980 w 5535001"/>
                <a:gd name="connsiteY157" fmla="*/ 763475 h 6250127"/>
                <a:gd name="connsiteX158" fmla="*/ 3374092 w 5535001"/>
                <a:gd name="connsiteY158" fmla="*/ 751606 h 6250127"/>
                <a:gd name="connsiteX159" fmla="*/ 3344980 w 5535001"/>
                <a:gd name="connsiteY159" fmla="*/ 740409 h 6250127"/>
                <a:gd name="connsiteX160" fmla="*/ 3226627 w 5535001"/>
                <a:gd name="connsiteY160" fmla="*/ 700772 h 6250127"/>
                <a:gd name="connsiteX161" fmla="*/ 2735750 w 5535001"/>
                <a:gd name="connsiteY161" fmla="*/ 614667 h 6250127"/>
                <a:gd name="connsiteX162" fmla="*/ 2673158 w 5535001"/>
                <a:gd name="connsiteY162" fmla="*/ 610412 h 6250127"/>
                <a:gd name="connsiteX163" fmla="*/ 2610119 w 5535001"/>
                <a:gd name="connsiteY163" fmla="*/ 609628 h 6250127"/>
                <a:gd name="connsiteX164" fmla="*/ 2547080 w 5535001"/>
                <a:gd name="connsiteY164" fmla="*/ 608620 h 6250127"/>
                <a:gd name="connsiteX165" fmla="*/ 2516400 w 5535001"/>
                <a:gd name="connsiteY165" fmla="*/ 608844 h 6250127"/>
                <a:gd name="connsiteX166" fmla="*/ 2486280 w 5535001"/>
                <a:gd name="connsiteY166" fmla="*/ 609740 h 6250127"/>
                <a:gd name="connsiteX167" fmla="*/ 2426376 w 5535001"/>
                <a:gd name="connsiteY167" fmla="*/ 613099 h 6250127"/>
                <a:gd name="connsiteX168" fmla="*/ 2366920 w 5535001"/>
                <a:gd name="connsiteY168" fmla="*/ 618474 h 6250127"/>
                <a:gd name="connsiteX169" fmla="*/ 2337248 w 5535001"/>
                <a:gd name="connsiteY169" fmla="*/ 621497 h 6250127"/>
                <a:gd name="connsiteX170" fmla="*/ 2307800 w 5535001"/>
                <a:gd name="connsiteY170" fmla="*/ 625528 h 6250127"/>
                <a:gd name="connsiteX171" fmla="*/ 2278351 w 5535001"/>
                <a:gd name="connsiteY171" fmla="*/ 629559 h 6250127"/>
                <a:gd name="connsiteX172" fmla="*/ 2249127 w 5535001"/>
                <a:gd name="connsiteY172" fmla="*/ 634710 h 6250127"/>
                <a:gd name="connsiteX173" fmla="*/ 1796096 w 5535001"/>
                <a:gd name="connsiteY173" fmla="*/ 781726 h 6250127"/>
                <a:gd name="connsiteX174" fmla="*/ 1370833 w 5535001"/>
                <a:gd name="connsiteY174" fmla="*/ 1048663 h 6250127"/>
                <a:gd name="connsiteX175" fmla="*/ 959790 w 5535001"/>
                <a:gd name="connsiteY175" fmla="*/ 1390844 h 6250127"/>
                <a:gd name="connsiteX176" fmla="*/ 749062 w 5535001"/>
                <a:gd name="connsiteY176" fmla="*/ 1577611 h 6250127"/>
                <a:gd name="connsiteX177" fmla="*/ 524786 w 5535001"/>
                <a:gd name="connsiteY177" fmla="*/ 1763145 h 6250127"/>
                <a:gd name="connsiteX178" fmla="*/ 84071 w 5535001"/>
                <a:gd name="connsiteY178" fmla="*/ 2098496 h 6250127"/>
                <a:gd name="connsiteX179" fmla="*/ 0 w 5535001"/>
                <a:gd name="connsiteY179" fmla="*/ 2168094 h 6250127"/>
                <a:gd name="connsiteX180" fmla="*/ 0 w 5535001"/>
                <a:gd name="connsiteY180" fmla="*/ 1576676 h 6250127"/>
                <a:gd name="connsiteX181" fmla="*/ 174655 w 5535001"/>
                <a:gd name="connsiteY181" fmla="*/ 1387597 h 6250127"/>
                <a:gd name="connsiteX182" fmla="*/ 363661 w 5535001"/>
                <a:gd name="connsiteY182" fmla="*/ 1188626 h 6250127"/>
                <a:gd name="connsiteX183" fmla="*/ 458052 w 5535001"/>
                <a:gd name="connsiteY183" fmla="*/ 1086397 h 6250127"/>
                <a:gd name="connsiteX184" fmla="*/ 557257 w 5535001"/>
                <a:gd name="connsiteY184" fmla="*/ 981593 h 6250127"/>
                <a:gd name="connsiteX185" fmla="*/ 994165 w 5535001"/>
                <a:gd name="connsiteY185" fmla="*/ 578389 h 6250127"/>
                <a:gd name="connsiteX186" fmla="*/ 1520873 w 5535001"/>
                <a:gd name="connsiteY186" fmla="*/ 237215 h 6250127"/>
                <a:gd name="connsiteX187" fmla="*/ 2141748 w 5535001"/>
                <a:gd name="connsiteY187" fmla="*/ 31190 h 6250127"/>
                <a:gd name="connsiteX188" fmla="*/ 2182505 w 5535001"/>
                <a:gd name="connsiteY188" fmla="*/ 24360 h 6250127"/>
                <a:gd name="connsiteX189" fmla="*/ 2223374 w 5535001"/>
                <a:gd name="connsiteY189" fmla="*/ 18873 h 6250127"/>
                <a:gd name="connsiteX190" fmla="*/ 2264355 w 5535001"/>
                <a:gd name="connsiteY190" fmla="*/ 13611 h 6250127"/>
                <a:gd name="connsiteX191" fmla="*/ 2305336 w 5535001"/>
                <a:gd name="connsiteY191" fmla="*/ 9580 h 6250127"/>
                <a:gd name="connsiteX192" fmla="*/ 2387410 w 5535001"/>
                <a:gd name="connsiteY192" fmla="*/ 3645 h 6250127"/>
                <a:gd name="connsiteX193" fmla="*/ 2469373 w 5535001"/>
                <a:gd name="connsiteY193" fmla="*/ 622 h 62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5535001" h="6250127">
                  <a:moveTo>
                    <a:pt x="2510242" y="174"/>
                  </a:moveTo>
                  <a:cubicBezTo>
                    <a:pt x="2523902" y="-50"/>
                    <a:pt x="2537562" y="-162"/>
                    <a:pt x="2550551" y="510"/>
                  </a:cubicBezTo>
                  <a:lnTo>
                    <a:pt x="2629490" y="3757"/>
                  </a:lnTo>
                  <a:lnTo>
                    <a:pt x="2708317" y="7229"/>
                  </a:lnTo>
                  <a:cubicBezTo>
                    <a:pt x="2734630" y="8572"/>
                    <a:pt x="2760943" y="12155"/>
                    <a:pt x="2787256" y="14619"/>
                  </a:cubicBezTo>
                  <a:cubicBezTo>
                    <a:pt x="2997536" y="34885"/>
                    <a:pt x="3207144" y="77994"/>
                    <a:pt x="3408467" y="145064"/>
                  </a:cubicBezTo>
                  <a:lnTo>
                    <a:pt x="3557723" y="199593"/>
                  </a:lnTo>
                  <a:cubicBezTo>
                    <a:pt x="3570264" y="203848"/>
                    <a:pt x="3582245" y="209447"/>
                    <a:pt x="3594337" y="214597"/>
                  </a:cubicBezTo>
                  <a:lnTo>
                    <a:pt x="3630616" y="230385"/>
                  </a:lnTo>
                  <a:lnTo>
                    <a:pt x="3703172" y="262073"/>
                  </a:lnTo>
                  <a:cubicBezTo>
                    <a:pt x="3715265" y="267335"/>
                    <a:pt x="3727358" y="272598"/>
                    <a:pt x="3739003" y="278756"/>
                  </a:cubicBezTo>
                  <a:cubicBezTo>
                    <a:pt x="3744937" y="281667"/>
                    <a:pt x="3750984" y="284131"/>
                    <a:pt x="3756806" y="287266"/>
                  </a:cubicBezTo>
                  <a:cubicBezTo>
                    <a:pt x="3762517" y="290513"/>
                    <a:pt x="3768115" y="294208"/>
                    <a:pt x="3773714" y="297567"/>
                  </a:cubicBezTo>
                  <a:lnTo>
                    <a:pt x="3840784" y="339332"/>
                  </a:lnTo>
                  <a:cubicBezTo>
                    <a:pt x="3851869" y="346386"/>
                    <a:pt x="3863290" y="352881"/>
                    <a:pt x="3873927" y="360495"/>
                  </a:cubicBezTo>
                  <a:lnTo>
                    <a:pt x="3906062" y="383001"/>
                  </a:lnTo>
                  <a:lnTo>
                    <a:pt x="3969662" y="428572"/>
                  </a:lnTo>
                  <a:cubicBezTo>
                    <a:pt x="4137281" y="552188"/>
                    <a:pt x="4285417" y="693270"/>
                    <a:pt x="4423029" y="837600"/>
                  </a:cubicBezTo>
                  <a:cubicBezTo>
                    <a:pt x="4440160" y="855739"/>
                    <a:pt x="4457404" y="873766"/>
                    <a:pt x="4474647" y="891569"/>
                  </a:cubicBezTo>
                  <a:lnTo>
                    <a:pt x="4524250" y="946883"/>
                  </a:lnTo>
                  <a:lnTo>
                    <a:pt x="4573965" y="1001748"/>
                  </a:lnTo>
                  <a:cubicBezTo>
                    <a:pt x="4590760" y="1019887"/>
                    <a:pt x="4605988" y="1039146"/>
                    <a:pt x="4622224" y="1057509"/>
                  </a:cubicBezTo>
                  <a:cubicBezTo>
                    <a:pt x="4653911" y="1094907"/>
                    <a:pt x="4686831" y="1131409"/>
                    <a:pt x="4717510" y="1169143"/>
                  </a:cubicBezTo>
                  <a:cubicBezTo>
                    <a:pt x="4733186" y="1187730"/>
                    <a:pt x="4748862" y="1206430"/>
                    <a:pt x="4764986" y="1224681"/>
                  </a:cubicBezTo>
                  <a:cubicBezTo>
                    <a:pt x="4780886" y="1243044"/>
                    <a:pt x="4797233" y="1261071"/>
                    <a:pt x="4813021" y="1279994"/>
                  </a:cubicBezTo>
                  <a:cubicBezTo>
                    <a:pt x="4877292" y="1354230"/>
                    <a:pt x="4941339" y="1428914"/>
                    <a:pt x="5001915" y="1506846"/>
                  </a:cubicBezTo>
                  <a:cubicBezTo>
                    <a:pt x="5062603" y="1584665"/>
                    <a:pt x="5118252" y="1666739"/>
                    <a:pt x="5170542" y="1751165"/>
                  </a:cubicBezTo>
                  <a:cubicBezTo>
                    <a:pt x="5274898" y="1920240"/>
                    <a:pt x="5363579" y="2101295"/>
                    <a:pt x="5428969" y="2293660"/>
                  </a:cubicBezTo>
                  <a:cubicBezTo>
                    <a:pt x="5494136" y="2485801"/>
                    <a:pt x="5533102" y="2690819"/>
                    <a:pt x="5534893" y="2899307"/>
                  </a:cubicBezTo>
                  <a:cubicBezTo>
                    <a:pt x="5536124" y="3003439"/>
                    <a:pt x="5526831" y="3108132"/>
                    <a:pt x="5508804" y="3211144"/>
                  </a:cubicBezTo>
                  <a:cubicBezTo>
                    <a:pt x="5490441" y="3314157"/>
                    <a:pt x="5462336" y="3415490"/>
                    <a:pt x="5426282" y="3513352"/>
                  </a:cubicBezTo>
                  <a:cubicBezTo>
                    <a:pt x="5363355" y="3684890"/>
                    <a:pt x="5302219" y="3856428"/>
                    <a:pt x="5248250" y="4030542"/>
                  </a:cubicBezTo>
                  <a:lnTo>
                    <a:pt x="5208612" y="4161771"/>
                  </a:lnTo>
                  <a:lnTo>
                    <a:pt x="5170318" y="4294680"/>
                  </a:lnTo>
                  <a:lnTo>
                    <a:pt x="5132248" y="4430164"/>
                  </a:lnTo>
                  <a:lnTo>
                    <a:pt x="5112765" y="4498914"/>
                  </a:lnTo>
                  <a:lnTo>
                    <a:pt x="5091715" y="4569119"/>
                  </a:lnTo>
                  <a:cubicBezTo>
                    <a:pt x="5085221" y="4592297"/>
                    <a:pt x="5076823" y="4616482"/>
                    <a:pt x="5068985" y="4640220"/>
                  </a:cubicBezTo>
                  <a:cubicBezTo>
                    <a:pt x="5060699" y="4664182"/>
                    <a:pt x="5053981" y="4687807"/>
                    <a:pt x="5043904" y="4712105"/>
                  </a:cubicBezTo>
                  <a:lnTo>
                    <a:pt x="5015799" y="4784438"/>
                  </a:lnTo>
                  <a:cubicBezTo>
                    <a:pt x="5005274" y="4808511"/>
                    <a:pt x="4993965" y="4832473"/>
                    <a:pt x="4982880" y="4856435"/>
                  </a:cubicBezTo>
                  <a:cubicBezTo>
                    <a:pt x="4936524" y="4951273"/>
                    <a:pt x="4881099" y="5044096"/>
                    <a:pt x="4817276" y="5125275"/>
                  </a:cubicBezTo>
                  <a:cubicBezTo>
                    <a:pt x="4755244" y="5208805"/>
                    <a:pt x="4686943" y="5282817"/>
                    <a:pt x="4618753" y="5355374"/>
                  </a:cubicBezTo>
                  <a:cubicBezTo>
                    <a:pt x="4602069" y="5374073"/>
                    <a:pt x="4584154" y="5391092"/>
                    <a:pt x="4566575" y="5408560"/>
                  </a:cubicBezTo>
                  <a:lnTo>
                    <a:pt x="4513837" y="5461186"/>
                  </a:lnTo>
                  <a:cubicBezTo>
                    <a:pt x="4496593" y="5479101"/>
                    <a:pt x="4477894" y="5495560"/>
                    <a:pt x="4459531" y="5512580"/>
                  </a:cubicBezTo>
                  <a:lnTo>
                    <a:pt x="4404554" y="5563526"/>
                  </a:lnTo>
                  <a:cubicBezTo>
                    <a:pt x="4386527" y="5580770"/>
                    <a:pt x="4366932" y="5596670"/>
                    <a:pt x="4348009" y="5613017"/>
                  </a:cubicBezTo>
                  <a:lnTo>
                    <a:pt x="4290568" y="5661948"/>
                  </a:lnTo>
                  <a:lnTo>
                    <a:pt x="4276124" y="5674153"/>
                  </a:lnTo>
                  <a:lnTo>
                    <a:pt x="4261120" y="5685798"/>
                  </a:lnTo>
                  <a:lnTo>
                    <a:pt x="4231112" y="5708976"/>
                  </a:lnTo>
                  <a:lnTo>
                    <a:pt x="4170984" y="5755443"/>
                  </a:lnTo>
                  <a:cubicBezTo>
                    <a:pt x="4130227" y="5785563"/>
                    <a:pt x="4087790" y="5813892"/>
                    <a:pt x="4046025" y="5843228"/>
                  </a:cubicBezTo>
                  <a:cubicBezTo>
                    <a:pt x="4002917" y="5870437"/>
                    <a:pt x="3959248" y="5897309"/>
                    <a:pt x="3915356" y="5923735"/>
                  </a:cubicBezTo>
                  <a:cubicBezTo>
                    <a:pt x="3737659" y="6026299"/>
                    <a:pt x="3544847" y="6106022"/>
                    <a:pt x="3346323" y="6158872"/>
                  </a:cubicBezTo>
                  <a:cubicBezTo>
                    <a:pt x="3147800" y="6211946"/>
                    <a:pt x="2944462" y="6239714"/>
                    <a:pt x="2743476" y="6247328"/>
                  </a:cubicBezTo>
                  <a:lnTo>
                    <a:pt x="2668120" y="6249344"/>
                  </a:lnTo>
                  <a:lnTo>
                    <a:pt x="2630498" y="6250127"/>
                  </a:lnTo>
                  <a:lnTo>
                    <a:pt x="2592988" y="6249568"/>
                  </a:lnTo>
                  <a:lnTo>
                    <a:pt x="2518080" y="6247777"/>
                  </a:lnTo>
                  <a:cubicBezTo>
                    <a:pt x="2493110" y="6247105"/>
                    <a:pt x="2468365" y="6246881"/>
                    <a:pt x="2442948" y="6244529"/>
                  </a:cubicBezTo>
                  <a:cubicBezTo>
                    <a:pt x="2392337" y="6240722"/>
                    <a:pt x="2341950" y="6237699"/>
                    <a:pt x="2291676" y="6232213"/>
                  </a:cubicBezTo>
                  <a:lnTo>
                    <a:pt x="2141412" y="6212394"/>
                  </a:lnTo>
                  <a:lnTo>
                    <a:pt x="1992715" y="6184961"/>
                  </a:lnTo>
                  <a:cubicBezTo>
                    <a:pt x="1943561" y="6173988"/>
                    <a:pt x="1894630" y="6162231"/>
                    <a:pt x="1845811" y="6151034"/>
                  </a:cubicBezTo>
                  <a:cubicBezTo>
                    <a:pt x="1797215" y="6138829"/>
                    <a:pt x="1749180" y="6123938"/>
                    <a:pt x="1701033" y="6110724"/>
                  </a:cubicBezTo>
                  <a:cubicBezTo>
                    <a:pt x="1676847" y="6104566"/>
                    <a:pt x="1653334" y="6095833"/>
                    <a:pt x="1629484" y="6088219"/>
                  </a:cubicBezTo>
                  <a:lnTo>
                    <a:pt x="1558383" y="6064929"/>
                  </a:lnTo>
                  <a:cubicBezTo>
                    <a:pt x="1369713" y="6000210"/>
                    <a:pt x="1186978" y="5921271"/>
                    <a:pt x="1011968" y="5828896"/>
                  </a:cubicBezTo>
                  <a:cubicBezTo>
                    <a:pt x="837071" y="5736408"/>
                    <a:pt x="668556" y="5631940"/>
                    <a:pt x="511237" y="5512356"/>
                  </a:cubicBezTo>
                  <a:cubicBezTo>
                    <a:pt x="471152" y="5483468"/>
                    <a:pt x="433642" y="5451220"/>
                    <a:pt x="395572" y="5419757"/>
                  </a:cubicBezTo>
                  <a:cubicBezTo>
                    <a:pt x="356831" y="5388965"/>
                    <a:pt x="321112" y="5354926"/>
                    <a:pt x="284722" y="5321559"/>
                  </a:cubicBezTo>
                  <a:lnTo>
                    <a:pt x="257513" y="5296477"/>
                  </a:lnTo>
                  <a:lnTo>
                    <a:pt x="243853" y="5283937"/>
                  </a:lnTo>
                  <a:lnTo>
                    <a:pt x="230752" y="5270836"/>
                  </a:lnTo>
                  <a:lnTo>
                    <a:pt x="178574" y="5218322"/>
                  </a:lnTo>
                  <a:cubicBezTo>
                    <a:pt x="161331" y="5200631"/>
                    <a:pt x="143191" y="5183948"/>
                    <a:pt x="126508" y="5165584"/>
                  </a:cubicBezTo>
                  <a:lnTo>
                    <a:pt x="76345" y="5111167"/>
                  </a:lnTo>
                  <a:cubicBezTo>
                    <a:pt x="59774" y="5092916"/>
                    <a:pt x="42530" y="5075112"/>
                    <a:pt x="26407" y="5056413"/>
                  </a:cubicBezTo>
                  <a:lnTo>
                    <a:pt x="0" y="5024776"/>
                  </a:lnTo>
                  <a:lnTo>
                    <a:pt x="0" y="4492798"/>
                  </a:lnTo>
                  <a:lnTo>
                    <a:pt x="28534" y="4537879"/>
                  </a:lnTo>
                  <a:cubicBezTo>
                    <a:pt x="41299" y="4556130"/>
                    <a:pt x="54175" y="4574382"/>
                    <a:pt x="66604" y="4592745"/>
                  </a:cubicBezTo>
                  <a:lnTo>
                    <a:pt x="104114" y="4647834"/>
                  </a:lnTo>
                  <a:lnTo>
                    <a:pt x="143751" y="4701580"/>
                  </a:lnTo>
                  <a:cubicBezTo>
                    <a:pt x="156964" y="4719495"/>
                    <a:pt x="169728" y="4737746"/>
                    <a:pt x="182717" y="4755773"/>
                  </a:cubicBezTo>
                  <a:lnTo>
                    <a:pt x="223810" y="4808399"/>
                  </a:lnTo>
                  <a:lnTo>
                    <a:pt x="264679" y="4861249"/>
                  </a:lnTo>
                  <a:cubicBezTo>
                    <a:pt x="278563" y="4878717"/>
                    <a:pt x="293455" y="4895288"/>
                    <a:pt x="307788" y="4912420"/>
                  </a:cubicBezTo>
                  <a:lnTo>
                    <a:pt x="351232" y="4963254"/>
                  </a:lnTo>
                  <a:cubicBezTo>
                    <a:pt x="365788" y="4980162"/>
                    <a:pt x="381688" y="4995837"/>
                    <a:pt x="397028" y="5012185"/>
                  </a:cubicBezTo>
                  <a:lnTo>
                    <a:pt x="443496" y="5060444"/>
                  </a:lnTo>
                  <a:lnTo>
                    <a:pt x="455140" y="5072537"/>
                  </a:lnTo>
                  <a:lnTo>
                    <a:pt x="467345" y="5083958"/>
                  </a:lnTo>
                  <a:lnTo>
                    <a:pt x="491755" y="5106912"/>
                  </a:lnTo>
                  <a:lnTo>
                    <a:pt x="540686" y="5152819"/>
                  </a:lnTo>
                  <a:lnTo>
                    <a:pt x="552890" y="5164353"/>
                  </a:lnTo>
                  <a:lnTo>
                    <a:pt x="565655" y="5175214"/>
                  </a:lnTo>
                  <a:lnTo>
                    <a:pt x="591072" y="5197048"/>
                  </a:lnTo>
                  <a:cubicBezTo>
                    <a:pt x="624999" y="5226160"/>
                    <a:pt x="658366" y="5256056"/>
                    <a:pt x="694197" y="5283041"/>
                  </a:cubicBezTo>
                  <a:cubicBezTo>
                    <a:pt x="834272" y="5394675"/>
                    <a:pt x="985207" y="5493881"/>
                    <a:pt x="1146221" y="5573716"/>
                  </a:cubicBezTo>
                  <a:cubicBezTo>
                    <a:pt x="1307122" y="5653774"/>
                    <a:pt x="1476869" y="5715918"/>
                    <a:pt x="1650982" y="5758130"/>
                  </a:cubicBezTo>
                  <a:lnTo>
                    <a:pt x="1716485" y="5772798"/>
                  </a:lnTo>
                  <a:cubicBezTo>
                    <a:pt x="1738431" y="5777390"/>
                    <a:pt x="1759929" y="5783100"/>
                    <a:pt x="1782211" y="5786235"/>
                  </a:cubicBezTo>
                  <a:lnTo>
                    <a:pt x="1848386" y="5796984"/>
                  </a:lnTo>
                  <a:lnTo>
                    <a:pt x="1881417" y="5802359"/>
                  </a:lnTo>
                  <a:cubicBezTo>
                    <a:pt x="1892390" y="5804151"/>
                    <a:pt x="1903363" y="5806054"/>
                    <a:pt x="1914560" y="5807061"/>
                  </a:cubicBezTo>
                  <a:cubicBezTo>
                    <a:pt x="1959012" y="5811765"/>
                    <a:pt x="2003241" y="5817251"/>
                    <a:pt x="2047469" y="5821282"/>
                  </a:cubicBezTo>
                  <a:lnTo>
                    <a:pt x="2180601" y="5828896"/>
                  </a:lnTo>
                  <a:lnTo>
                    <a:pt x="2313622" y="5830463"/>
                  </a:lnTo>
                  <a:cubicBezTo>
                    <a:pt x="2335680" y="5830799"/>
                    <a:pt x="2357962" y="5829008"/>
                    <a:pt x="2380021" y="5828448"/>
                  </a:cubicBezTo>
                  <a:lnTo>
                    <a:pt x="2446195" y="5826433"/>
                  </a:lnTo>
                  <a:cubicBezTo>
                    <a:pt x="2468029" y="5826208"/>
                    <a:pt x="2490647" y="5824193"/>
                    <a:pt x="2513041" y="5822737"/>
                  </a:cubicBezTo>
                  <a:lnTo>
                    <a:pt x="2580111" y="5818258"/>
                  </a:lnTo>
                  <a:lnTo>
                    <a:pt x="2613590" y="5816355"/>
                  </a:lnTo>
                  <a:lnTo>
                    <a:pt x="2646845" y="5813108"/>
                  </a:lnTo>
                  <a:cubicBezTo>
                    <a:pt x="2669016" y="5810869"/>
                    <a:pt x="2691074" y="5808741"/>
                    <a:pt x="2713244" y="5806838"/>
                  </a:cubicBezTo>
                  <a:cubicBezTo>
                    <a:pt x="2889933" y="5789371"/>
                    <a:pt x="3062815" y="5762050"/>
                    <a:pt x="3230882" y="5721292"/>
                  </a:cubicBezTo>
                  <a:cubicBezTo>
                    <a:pt x="3398837" y="5680423"/>
                    <a:pt x="3562426" y="5626902"/>
                    <a:pt x="3720416" y="5556472"/>
                  </a:cubicBezTo>
                  <a:cubicBezTo>
                    <a:pt x="3759381" y="5537997"/>
                    <a:pt x="3798347" y="5518962"/>
                    <a:pt x="3837425" y="5499927"/>
                  </a:cubicBezTo>
                  <a:cubicBezTo>
                    <a:pt x="3875271" y="5478765"/>
                    <a:pt x="3913900" y="5458610"/>
                    <a:pt x="3951634" y="5436552"/>
                  </a:cubicBezTo>
                  <a:lnTo>
                    <a:pt x="4007284" y="5401841"/>
                  </a:lnTo>
                  <a:lnTo>
                    <a:pt x="4035164" y="5384374"/>
                  </a:lnTo>
                  <a:lnTo>
                    <a:pt x="4049049" y="5375640"/>
                  </a:lnTo>
                  <a:lnTo>
                    <a:pt x="4062485" y="5366123"/>
                  </a:lnTo>
                  <a:lnTo>
                    <a:pt x="4116567" y="5328277"/>
                  </a:lnTo>
                  <a:cubicBezTo>
                    <a:pt x="4134594" y="5315624"/>
                    <a:pt x="4152957" y="5303420"/>
                    <a:pt x="4169976" y="5289199"/>
                  </a:cubicBezTo>
                  <a:lnTo>
                    <a:pt x="4222042" y="5247994"/>
                  </a:lnTo>
                  <a:cubicBezTo>
                    <a:pt x="4239398" y="5234222"/>
                    <a:pt x="4256865" y="5220562"/>
                    <a:pt x="4273213" y="5205558"/>
                  </a:cubicBezTo>
                  <a:lnTo>
                    <a:pt x="4323151" y="5161329"/>
                  </a:lnTo>
                  <a:cubicBezTo>
                    <a:pt x="4339611" y="5146437"/>
                    <a:pt x="4356631" y="5131881"/>
                    <a:pt x="4371971" y="5116093"/>
                  </a:cubicBezTo>
                  <a:cubicBezTo>
                    <a:pt x="4435457" y="5054398"/>
                    <a:pt x="4496258" y="4991135"/>
                    <a:pt x="4546868" y="4924400"/>
                  </a:cubicBezTo>
                  <a:cubicBezTo>
                    <a:pt x="4600054" y="4858450"/>
                    <a:pt x="4640699" y="4788916"/>
                    <a:pt x="4675634" y="4715352"/>
                  </a:cubicBezTo>
                  <a:lnTo>
                    <a:pt x="4700155" y="4659255"/>
                  </a:lnTo>
                  <a:lnTo>
                    <a:pt x="4721206" y="4600135"/>
                  </a:lnTo>
                  <a:cubicBezTo>
                    <a:pt x="4728707" y="4580988"/>
                    <a:pt x="4733970" y="4559266"/>
                    <a:pt x="4740465" y="4538887"/>
                  </a:cubicBezTo>
                  <a:cubicBezTo>
                    <a:pt x="4746623" y="4518061"/>
                    <a:pt x="4753005" y="4497906"/>
                    <a:pt x="4758492" y="4475848"/>
                  </a:cubicBezTo>
                  <a:cubicBezTo>
                    <a:pt x="4803168" y="4303637"/>
                    <a:pt x="4840902" y="4115080"/>
                    <a:pt x="4891288" y="3930329"/>
                  </a:cubicBezTo>
                  <a:cubicBezTo>
                    <a:pt x="4940891" y="3744906"/>
                    <a:pt x="5000235" y="3562059"/>
                    <a:pt x="5066298" y="3382235"/>
                  </a:cubicBezTo>
                  <a:cubicBezTo>
                    <a:pt x="5124186" y="3226932"/>
                    <a:pt x="5154530" y="3064015"/>
                    <a:pt x="5156994" y="2898635"/>
                  </a:cubicBezTo>
                  <a:cubicBezTo>
                    <a:pt x="5159681" y="2733255"/>
                    <a:pt x="5132920" y="2565636"/>
                    <a:pt x="5083317" y="2402047"/>
                  </a:cubicBezTo>
                  <a:cubicBezTo>
                    <a:pt x="5033938" y="2238123"/>
                    <a:pt x="4960150" y="2079013"/>
                    <a:pt x="4871022" y="1926958"/>
                  </a:cubicBezTo>
                  <a:cubicBezTo>
                    <a:pt x="4826570" y="1850818"/>
                    <a:pt x="4777415" y="1776918"/>
                    <a:pt x="4727028" y="1703577"/>
                  </a:cubicBezTo>
                  <a:cubicBezTo>
                    <a:pt x="4676418" y="1630349"/>
                    <a:pt x="4622784" y="1558464"/>
                    <a:pt x="4563776" y="1490834"/>
                  </a:cubicBezTo>
                  <a:cubicBezTo>
                    <a:pt x="4503647" y="1423764"/>
                    <a:pt x="4439041" y="1359157"/>
                    <a:pt x="4370291" y="1300596"/>
                  </a:cubicBezTo>
                  <a:cubicBezTo>
                    <a:pt x="4336812" y="1270141"/>
                    <a:pt x="4301541" y="1242148"/>
                    <a:pt x="4266046" y="1214491"/>
                  </a:cubicBezTo>
                  <a:cubicBezTo>
                    <a:pt x="4248355" y="1200607"/>
                    <a:pt x="4230776" y="1186611"/>
                    <a:pt x="4212973" y="1173062"/>
                  </a:cubicBezTo>
                  <a:cubicBezTo>
                    <a:pt x="4194722" y="1160074"/>
                    <a:pt x="4176359" y="1147197"/>
                    <a:pt x="4157995" y="1134545"/>
                  </a:cubicBezTo>
                  <a:cubicBezTo>
                    <a:pt x="4011426" y="1031980"/>
                    <a:pt x="3855004" y="948562"/>
                    <a:pt x="3697126" y="881044"/>
                  </a:cubicBezTo>
                  <a:lnTo>
                    <a:pt x="3637670" y="856747"/>
                  </a:lnTo>
                  <a:lnTo>
                    <a:pt x="3608222" y="844318"/>
                  </a:lnTo>
                  <a:cubicBezTo>
                    <a:pt x="3598480" y="840063"/>
                    <a:pt x="3588179" y="837040"/>
                    <a:pt x="3578214" y="833457"/>
                  </a:cubicBezTo>
                  <a:lnTo>
                    <a:pt x="3518309" y="812294"/>
                  </a:lnTo>
                  <a:cubicBezTo>
                    <a:pt x="3513383" y="810503"/>
                    <a:pt x="3508344" y="808823"/>
                    <a:pt x="3503417" y="806920"/>
                  </a:cubicBezTo>
                  <a:cubicBezTo>
                    <a:pt x="3498603" y="804792"/>
                    <a:pt x="3494236" y="801993"/>
                    <a:pt x="3489533" y="799642"/>
                  </a:cubicBezTo>
                  <a:cubicBezTo>
                    <a:pt x="3480240" y="794827"/>
                    <a:pt x="3470498" y="791020"/>
                    <a:pt x="3460869" y="787101"/>
                  </a:cubicBezTo>
                  <a:lnTo>
                    <a:pt x="3402980" y="763475"/>
                  </a:lnTo>
                  <a:lnTo>
                    <a:pt x="3374092" y="751606"/>
                  </a:lnTo>
                  <a:cubicBezTo>
                    <a:pt x="3364462" y="747688"/>
                    <a:pt x="3354945" y="743433"/>
                    <a:pt x="3344980" y="740409"/>
                  </a:cubicBezTo>
                  <a:lnTo>
                    <a:pt x="3226627" y="700772"/>
                  </a:lnTo>
                  <a:cubicBezTo>
                    <a:pt x="3067405" y="652849"/>
                    <a:pt x="2902697" y="625192"/>
                    <a:pt x="2735750" y="614667"/>
                  </a:cubicBezTo>
                  <a:cubicBezTo>
                    <a:pt x="2714811" y="613435"/>
                    <a:pt x="2694209" y="610860"/>
                    <a:pt x="2673158" y="610412"/>
                  </a:cubicBezTo>
                  <a:lnTo>
                    <a:pt x="2610119" y="609628"/>
                  </a:lnTo>
                  <a:lnTo>
                    <a:pt x="2547080" y="608620"/>
                  </a:lnTo>
                  <a:cubicBezTo>
                    <a:pt x="2536443" y="608173"/>
                    <a:pt x="2526365" y="608397"/>
                    <a:pt x="2516400" y="608844"/>
                  </a:cubicBezTo>
                  <a:lnTo>
                    <a:pt x="2486280" y="609740"/>
                  </a:lnTo>
                  <a:cubicBezTo>
                    <a:pt x="2466125" y="609852"/>
                    <a:pt x="2446307" y="611868"/>
                    <a:pt x="2426376" y="613099"/>
                  </a:cubicBezTo>
                  <a:cubicBezTo>
                    <a:pt x="2406333" y="613995"/>
                    <a:pt x="2386627" y="616458"/>
                    <a:pt x="2366920" y="618474"/>
                  </a:cubicBezTo>
                  <a:cubicBezTo>
                    <a:pt x="2357066" y="619482"/>
                    <a:pt x="2347101" y="620153"/>
                    <a:pt x="2337248" y="621497"/>
                  </a:cubicBezTo>
                  <a:lnTo>
                    <a:pt x="2307800" y="625528"/>
                  </a:lnTo>
                  <a:lnTo>
                    <a:pt x="2278351" y="629559"/>
                  </a:lnTo>
                  <a:lnTo>
                    <a:pt x="2249127" y="634710"/>
                  </a:lnTo>
                  <a:cubicBezTo>
                    <a:pt x="2093377" y="661918"/>
                    <a:pt x="1942329" y="710849"/>
                    <a:pt x="1796096" y="781726"/>
                  </a:cubicBezTo>
                  <a:cubicBezTo>
                    <a:pt x="1649751" y="852268"/>
                    <a:pt x="1508892" y="944307"/>
                    <a:pt x="1370833" y="1048663"/>
                  </a:cubicBezTo>
                  <a:cubicBezTo>
                    <a:pt x="1232774" y="1153244"/>
                    <a:pt x="1097290" y="1269917"/>
                    <a:pt x="959790" y="1390844"/>
                  </a:cubicBezTo>
                  <a:lnTo>
                    <a:pt x="749062" y="1577611"/>
                  </a:lnTo>
                  <a:cubicBezTo>
                    <a:pt x="674602" y="1642329"/>
                    <a:pt x="599806" y="1704137"/>
                    <a:pt x="524786" y="1763145"/>
                  </a:cubicBezTo>
                  <a:cubicBezTo>
                    <a:pt x="374858" y="1881498"/>
                    <a:pt x="223810" y="1987422"/>
                    <a:pt x="84071" y="2098496"/>
                  </a:cubicBezTo>
                  <a:lnTo>
                    <a:pt x="0" y="2168094"/>
                  </a:lnTo>
                  <a:lnTo>
                    <a:pt x="0" y="1576676"/>
                  </a:lnTo>
                  <a:lnTo>
                    <a:pt x="174655" y="1387597"/>
                  </a:lnTo>
                  <a:cubicBezTo>
                    <a:pt x="238926" y="1320079"/>
                    <a:pt x="302749" y="1254577"/>
                    <a:pt x="363661" y="1188626"/>
                  </a:cubicBezTo>
                  <a:lnTo>
                    <a:pt x="458052" y="1086397"/>
                  </a:lnTo>
                  <a:cubicBezTo>
                    <a:pt x="490635" y="1051351"/>
                    <a:pt x="523666" y="1016416"/>
                    <a:pt x="557257" y="981593"/>
                  </a:cubicBezTo>
                  <a:cubicBezTo>
                    <a:pt x="691510" y="842414"/>
                    <a:pt x="835055" y="705699"/>
                    <a:pt x="994165" y="578389"/>
                  </a:cubicBezTo>
                  <a:cubicBezTo>
                    <a:pt x="1152939" y="451190"/>
                    <a:pt x="1328060" y="333398"/>
                    <a:pt x="1520873" y="237215"/>
                  </a:cubicBezTo>
                  <a:cubicBezTo>
                    <a:pt x="1713238" y="141033"/>
                    <a:pt x="1924302" y="68028"/>
                    <a:pt x="2141748" y="31190"/>
                  </a:cubicBezTo>
                  <a:lnTo>
                    <a:pt x="2182505" y="24360"/>
                  </a:lnTo>
                  <a:cubicBezTo>
                    <a:pt x="2196165" y="22344"/>
                    <a:pt x="2209826" y="20665"/>
                    <a:pt x="2223374" y="18873"/>
                  </a:cubicBezTo>
                  <a:lnTo>
                    <a:pt x="2264355" y="13611"/>
                  </a:lnTo>
                  <a:cubicBezTo>
                    <a:pt x="2278015" y="11931"/>
                    <a:pt x="2291676" y="10924"/>
                    <a:pt x="2305336" y="9580"/>
                  </a:cubicBezTo>
                  <a:cubicBezTo>
                    <a:pt x="2332657" y="7229"/>
                    <a:pt x="2360090" y="4653"/>
                    <a:pt x="2387410" y="3645"/>
                  </a:cubicBezTo>
                  <a:cubicBezTo>
                    <a:pt x="2414731" y="2414"/>
                    <a:pt x="2442164" y="510"/>
                    <a:pt x="2469373" y="622"/>
                  </a:cubicBezTo>
                  <a:close/>
                </a:path>
              </a:pathLst>
            </a:custGeom>
            <a:gradFill>
              <a:gsLst>
                <a:gs pos="37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67C4629D-4AB7-48D4-A61B-1AE1837A78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646908" cy="6130481"/>
            </a:xfrm>
            <a:custGeom>
              <a:avLst/>
              <a:gdLst>
                <a:gd name="connsiteX0" fmla="*/ 2616837 w 5646908"/>
                <a:gd name="connsiteY0" fmla="*/ 0 h 6130481"/>
                <a:gd name="connsiteX1" fmla="*/ 4918721 w 5646908"/>
                <a:gd name="connsiteY1" fmla="*/ 1134258 h 6130481"/>
                <a:gd name="connsiteX2" fmla="*/ 5539036 w 5646908"/>
                <a:gd name="connsiteY2" fmla="*/ 3362353 h 6130481"/>
                <a:gd name="connsiteX3" fmla="*/ 4712024 w 5646908"/>
                <a:gd name="connsiteY3" fmla="*/ 5293280 h 6130481"/>
                <a:gd name="connsiteX4" fmla="*/ 2547864 w 5646908"/>
                <a:gd name="connsiteY4" fmla="*/ 6130481 h 6130481"/>
                <a:gd name="connsiteX5" fmla="*/ 263223 w 5646908"/>
                <a:gd name="connsiteY5" fmla="*/ 5212325 h 6130481"/>
                <a:gd name="connsiteX6" fmla="*/ 49974 w 5646908"/>
                <a:gd name="connsiteY6" fmla="*/ 4985345 h 6130481"/>
                <a:gd name="connsiteX7" fmla="*/ 0 w 5646908"/>
                <a:gd name="connsiteY7" fmla="*/ 4920618 h 6130481"/>
                <a:gd name="connsiteX8" fmla="*/ 0 w 5646908"/>
                <a:gd name="connsiteY8" fmla="*/ 3760303 h 6130481"/>
                <a:gd name="connsiteX9" fmla="*/ 80488 w 5646908"/>
                <a:gd name="connsiteY9" fmla="*/ 3974159 h 6130481"/>
                <a:gd name="connsiteX10" fmla="*/ 664748 w 5646908"/>
                <a:gd name="connsiteY10" fmla="*/ 4813600 h 6130481"/>
                <a:gd name="connsiteX11" fmla="*/ 2548087 w 5646908"/>
                <a:gd name="connsiteY11" fmla="*/ 5570406 h 6130481"/>
                <a:gd name="connsiteX12" fmla="*/ 3536561 w 5646908"/>
                <a:gd name="connsiteY12" fmla="*/ 5407153 h 6130481"/>
                <a:gd name="connsiteX13" fmla="*/ 4308035 w 5646908"/>
                <a:gd name="connsiteY13" fmla="*/ 4897241 h 6130481"/>
                <a:gd name="connsiteX14" fmla="*/ 4569038 w 5646908"/>
                <a:gd name="connsiteY14" fmla="*/ 4564802 h 6130481"/>
                <a:gd name="connsiteX15" fmla="*/ 4699147 w 5646908"/>
                <a:gd name="connsiteY15" fmla="*/ 4149952 h 6130481"/>
                <a:gd name="connsiteX16" fmla="*/ 5003034 w 5646908"/>
                <a:gd name="connsiteY16" fmla="*/ 3168421 h 6130481"/>
                <a:gd name="connsiteX17" fmla="*/ 4994189 w 5646908"/>
                <a:gd name="connsiteY17" fmla="*/ 2321590 h 6130481"/>
                <a:gd name="connsiteX18" fmla="*/ 4487860 w 5646908"/>
                <a:gd name="connsiteY18" fmla="*/ 1501856 h 6130481"/>
                <a:gd name="connsiteX19" fmla="*/ 3640469 w 5646908"/>
                <a:gd name="connsiteY19" fmla="*/ 808425 h 6130481"/>
                <a:gd name="connsiteX20" fmla="*/ 2616837 w 5646908"/>
                <a:gd name="connsiteY20" fmla="*/ 559851 h 6130481"/>
                <a:gd name="connsiteX21" fmla="*/ 1762952 w 5646908"/>
                <a:gd name="connsiteY21" fmla="*/ 812008 h 6130481"/>
                <a:gd name="connsiteX22" fmla="*/ 939635 w 5646908"/>
                <a:gd name="connsiteY22" fmla="*/ 1502976 h 6130481"/>
                <a:gd name="connsiteX23" fmla="*/ 585250 w 5646908"/>
                <a:gd name="connsiteY23" fmla="*/ 1831049 h 6130481"/>
                <a:gd name="connsiteX24" fmla="*/ 40403 w 5646908"/>
                <a:gd name="connsiteY24" fmla="*/ 2389556 h 6130481"/>
                <a:gd name="connsiteX25" fmla="*/ 0 w 5646908"/>
                <a:gd name="connsiteY25" fmla="*/ 2456747 h 6130481"/>
                <a:gd name="connsiteX26" fmla="*/ 0 w 5646908"/>
                <a:gd name="connsiteY26" fmla="*/ 1601114 h 6130481"/>
                <a:gd name="connsiteX27" fmla="*/ 93200 w 5646908"/>
                <a:gd name="connsiteY27" fmla="*/ 1513741 h 6130481"/>
                <a:gd name="connsiteX28" fmla="*/ 535423 w 5646908"/>
                <a:gd name="connsiteY28" fmla="*/ 1107273 h 6130481"/>
                <a:gd name="connsiteX29" fmla="*/ 2616837 w 5646908"/>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646908" h="6130481">
                  <a:moveTo>
                    <a:pt x="2616837" y="0"/>
                  </a:moveTo>
                  <a:cubicBezTo>
                    <a:pt x="3596241" y="0"/>
                    <a:pt x="4322479" y="463445"/>
                    <a:pt x="4918721" y="1134258"/>
                  </a:cubicBezTo>
                  <a:cubicBezTo>
                    <a:pt x="5416317" y="1694109"/>
                    <a:pt x="5857703" y="2516643"/>
                    <a:pt x="5539036" y="3362353"/>
                  </a:cubicBezTo>
                  <a:cubicBezTo>
                    <a:pt x="5111758" y="4496612"/>
                    <a:pt x="5300763" y="4716633"/>
                    <a:pt x="4712024" y="5293280"/>
                  </a:cubicBezTo>
                  <a:cubicBezTo>
                    <a:pt x="4123284" y="5869926"/>
                    <a:pt x="3446201" y="6130481"/>
                    <a:pt x="2547864" y="6130481"/>
                  </a:cubicBezTo>
                  <a:cubicBezTo>
                    <a:pt x="1657476" y="6130481"/>
                    <a:pt x="850619" y="5780127"/>
                    <a:pt x="263223" y="5212325"/>
                  </a:cubicBezTo>
                  <a:cubicBezTo>
                    <a:pt x="188497" y="5140091"/>
                    <a:pt x="117321" y="5064339"/>
                    <a:pt x="49974" y="4985345"/>
                  </a:cubicBezTo>
                  <a:lnTo>
                    <a:pt x="0" y="4920618"/>
                  </a:lnTo>
                  <a:lnTo>
                    <a:pt x="0" y="3760303"/>
                  </a:lnTo>
                  <a:lnTo>
                    <a:pt x="80488" y="3974159"/>
                  </a:lnTo>
                  <a:cubicBezTo>
                    <a:pt x="217875" y="4289243"/>
                    <a:pt x="414383" y="4571632"/>
                    <a:pt x="664748" y="4813600"/>
                  </a:cubicBezTo>
                  <a:cubicBezTo>
                    <a:pt x="1169734" y="5301566"/>
                    <a:pt x="1838644" y="5570406"/>
                    <a:pt x="2548087" y="5570406"/>
                  </a:cubicBezTo>
                  <a:cubicBezTo>
                    <a:pt x="2928786" y="5570406"/>
                    <a:pt x="3252156" y="5516996"/>
                    <a:pt x="3536561" y="5407153"/>
                  </a:cubicBezTo>
                  <a:cubicBezTo>
                    <a:pt x="3815366" y="5299438"/>
                    <a:pt x="4067747" y="5132603"/>
                    <a:pt x="4308035" y="4897241"/>
                  </a:cubicBezTo>
                  <a:cubicBezTo>
                    <a:pt x="4475095" y="4733653"/>
                    <a:pt x="4533767" y="4637358"/>
                    <a:pt x="4569038" y="4564802"/>
                  </a:cubicBezTo>
                  <a:cubicBezTo>
                    <a:pt x="4619313" y="4461453"/>
                    <a:pt x="4652792" y="4330784"/>
                    <a:pt x="4699147" y="4149952"/>
                  </a:cubicBezTo>
                  <a:cubicBezTo>
                    <a:pt x="4758491" y="3918846"/>
                    <a:pt x="4839558" y="3602194"/>
                    <a:pt x="5003034" y="3168421"/>
                  </a:cubicBezTo>
                  <a:cubicBezTo>
                    <a:pt x="5103024" y="2902940"/>
                    <a:pt x="5100112" y="2626037"/>
                    <a:pt x="4994189" y="2321590"/>
                  </a:cubicBezTo>
                  <a:cubicBezTo>
                    <a:pt x="4900470" y="2052526"/>
                    <a:pt x="4725460" y="1769129"/>
                    <a:pt x="4487860" y="1501856"/>
                  </a:cubicBezTo>
                  <a:cubicBezTo>
                    <a:pt x="4210285" y="1189683"/>
                    <a:pt x="3933047" y="962832"/>
                    <a:pt x="3640469" y="808425"/>
                  </a:cubicBezTo>
                  <a:cubicBezTo>
                    <a:pt x="3323369" y="641141"/>
                    <a:pt x="2988578" y="559851"/>
                    <a:pt x="2616837" y="559851"/>
                  </a:cubicBezTo>
                  <a:cubicBezTo>
                    <a:pt x="2315413" y="559851"/>
                    <a:pt x="2044110" y="640134"/>
                    <a:pt x="1762952" y="812008"/>
                  </a:cubicBezTo>
                  <a:cubicBezTo>
                    <a:pt x="1472838" y="989593"/>
                    <a:pt x="1197167" y="1250707"/>
                    <a:pt x="939635" y="1502976"/>
                  </a:cubicBezTo>
                  <a:cubicBezTo>
                    <a:pt x="819379" y="1620769"/>
                    <a:pt x="700355" y="1727700"/>
                    <a:pt x="585250" y="1831049"/>
                  </a:cubicBezTo>
                  <a:cubicBezTo>
                    <a:pt x="362317" y="2031140"/>
                    <a:pt x="169840" y="2204022"/>
                    <a:pt x="40403" y="2389556"/>
                  </a:cubicBezTo>
                  <a:lnTo>
                    <a:pt x="0" y="2456747"/>
                  </a:lnTo>
                  <a:lnTo>
                    <a:pt x="0" y="1601114"/>
                  </a:lnTo>
                  <a:lnTo>
                    <a:pt x="93200" y="1513741"/>
                  </a:lnTo>
                  <a:cubicBezTo>
                    <a:pt x="237107" y="1383294"/>
                    <a:pt x="388238" y="1251435"/>
                    <a:pt x="535423" y="1107273"/>
                  </a:cubicBezTo>
                  <a:cubicBezTo>
                    <a:pt x="1124050" y="530627"/>
                    <a:pt x="1718500" y="0"/>
                    <a:pt x="2616837" y="0"/>
                  </a:cubicBezTo>
                  <a:close/>
                </a:path>
              </a:pathLst>
            </a:custGeom>
            <a:gradFill>
              <a:gsLst>
                <a:gs pos="2000">
                  <a:schemeClr val="bg1">
                    <a:alpha val="10000"/>
                  </a:schemeClr>
                </a:gs>
                <a:gs pos="54000">
                  <a:schemeClr val="accent6">
                    <a:alpha val="10000"/>
                  </a:schemeClr>
                </a:gs>
                <a:gs pos="100000">
                  <a:schemeClr val="bg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D1E30050-9FC4-4CC7-8C0B-BF5EFD106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517522" cy="6130481"/>
            </a:xfrm>
            <a:custGeom>
              <a:avLst/>
              <a:gdLst>
                <a:gd name="connsiteX0" fmla="*/ 2549095 w 5517522"/>
                <a:gd name="connsiteY0" fmla="*/ 0 h 6130481"/>
                <a:gd name="connsiteX1" fmla="*/ 4804175 w 5517522"/>
                <a:gd name="connsiteY1" fmla="*/ 1134258 h 6130481"/>
                <a:gd name="connsiteX2" fmla="*/ 5411838 w 5517522"/>
                <a:gd name="connsiteY2" fmla="*/ 3362353 h 6130481"/>
                <a:gd name="connsiteX3" fmla="*/ 4601621 w 5517522"/>
                <a:gd name="connsiteY3" fmla="*/ 5293280 h 6130481"/>
                <a:gd name="connsiteX4" fmla="*/ 2481577 w 5517522"/>
                <a:gd name="connsiteY4" fmla="*/ 6130481 h 6130481"/>
                <a:gd name="connsiteX5" fmla="*/ 243517 w 5517522"/>
                <a:gd name="connsiteY5" fmla="*/ 5212325 h 6130481"/>
                <a:gd name="connsiteX6" fmla="*/ 34587 w 5517522"/>
                <a:gd name="connsiteY6" fmla="*/ 4985345 h 6130481"/>
                <a:gd name="connsiteX7" fmla="*/ 0 w 5517522"/>
                <a:gd name="connsiteY7" fmla="*/ 4939620 h 6130481"/>
                <a:gd name="connsiteX8" fmla="*/ 0 w 5517522"/>
                <a:gd name="connsiteY8" fmla="*/ 3335329 h 6130481"/>
                <a:gd name="connsiteX9" fmla="*/ 17141 w 5517522"/>
                <a:gd name="connsiteY9" fmla="*/ 3448738 h 6130481"/>
                <a:gd name="connsiteX10" fmla="*/ 167489 w 5517522"/>
                <a:gd name="connsiteY10" fmla="*/ 3930490 h 6130481"/>
                <a:gd name="connsiteX11" fmla="*/ 715471 w 5517522"/>
                <a:gd name="connsiteY11" fmla="*/ 4734212 h 6130481"/>
                <a:gd name="connsiteX12" fmla="*/ 2481689 w 5517522"/>
                <a:gd name="connsiteY12" fmla="*/ 5458772 h 6130481"/>
                <a:gd name="connsiteX13" fmla="*/ 4126644 w 5517522"/>
                <a:gd name="connsiteY13" fmla="*/ 4818302 h 6130481"/>
                <a:gd name="connsiteX14" fmla="*/ 4360437 w 5517522"/>
                <a:gd name="connsiteY14" fmla="*/ 4516766 h 6130481"/>
                <a:gd name="connsiteX15" fmla="*/ 4480357 w 5517522"/>
                <a:gd name="connsiteY15" fmla="*/ 4122855 h 6130481"/>
                <a:gd name="connsiteX16" fmla="*/ 4781557 w 5517522"/>
                <a:gd name="connsiteY16" fmla="*/ 3129791 h 6130481"/>
                <a:gd name="connsiteX17" fmla="*/ 4771928 w 5517522"/>
                <a:gd name="connsiteY17" fmla="*/ 2357869 h 6130481"/>
                <a:gd name="connsiteX18" fmla="*/ 4297510 w 5517522"/>
                <a:gd name="connsiteY18" fmla="*/ 1575533 h 6130481"/>
                <a:gd name="connsiteX19" fmla="*/ 3498715 w 5517522"/>
                <a:gd name="connsiteY19" fmla="*/ 907071 h 6130481"/>
                <a:gd name="connsiteX20" fmla="*/ 2549095 w 5517522"/>
                <a:gd name="connsiteY20" fmla="*/ 671821 h 6130481"/>
                <a:gd name="connsiteX21" fmla="*/ 985319 w 5517522"/>
                <a:gd name="connsiteY21" fmla="*/ 1582475 h 6130481"/>
                <a:gd name="connsiteX22" fmla="*/ 634628 w 5517522"/>
                <a:gd name="connsiteY22" fmla="*/ 1913907 h 6130481"/>
                <a:gd name="connsiteX23" fmla="*/ 117662 w 5517522"/>
                <a:gd name="connsiteY23" fmla="*/ 2453044 h 6130481"/>
                <a:gd name="connsiteX24" fmla="*/ 2515 w 5517522"/>
                <a:gd name="connsiteY24" fmla="*/ 2685494 h 6130481"/>
                <a:gd name="connsiteX25" fmla="*/ 0 w 5517522"/>
                <a:gd name="connsiteY25" fmla="*/ 2696965 h 6130481"/>
                <a:gd name="connsiteX26" fmla="*/ 0 w 5517522"/>
                <a:gd name="connsiteY26" fmla="*/ 1587383 h 6130481"/>
                <a:gd name="connsiteX27" fmla="*/ 76951 w 5517522"/>
                <a:gd name="connsiteY27" fmla="*/ 1513741 h 6130481"/>
                <a:gd name="connsiteX28" fmla="*/ 510118 w 5517522"/>
                <a:gd name="connsiteY28" fmla="*/ 1107273 h 6130481"/>
                <a:gd name="connsiteX29" fmla="*/ 2549095 w 5517522"/>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522" h="6130481">
                  <a:moveTo>
                    <a:pt x="2549095" y="0"/>
                  </a:moveTo>
                  <a:cubicBezTo>
                    <a:pt x="3508568" y="0"/>
                    <a:pt x="4219915" y="463445"/>
                    <a:pt x="4804175" y="1134258"/>
                  </a:cubicBezTo>
                  <a:cubicBezTo>
                    <a:pt x="5291694" y="1694109"/>
                    <a:pt x="5724011"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335329"/>
                  </a:lnTo>
                  <a:lnTo>
                    <a:pt x="17141" y="3448738"/>
                  </a:lnTo>
                  <a:cubicBezTo>
                    <a:pt x="50676" y="3613558"/>
                    <a:pt x="100867" y="3774516"/>
                    <a:pt x="167489" y="3930490"/>
                  </a:cubicBezTo>
                  <a:cubicBezTo>
                    <a:pt x="296255" y="4232138"/>
                    <a:pt x="480670" y="4502546"/>
                    <a:pt x="715471" y="4734212"/>
                  </a:cubicBezTo>
                  <a:cubicBezTo>
                    <a:pt x="1188993" y="5201464"/>
                    <a:pt x="1816250" y="5458772"/>
                    <a:pt x="2481689" y="5458772"/>
                  </a:cubicBezTo>
                  <a:cubicBezTo>
                    <a:pt x="3185758" y="5458772"/>
                    <a:pt x="3677755" y="5267191"/>
                    <a:pt x="4126644" y="4818302"/>
                  </a:cubicBezTo>
                  <a:cubicBezTo>
                    <a:pt x="4278363" y="4666583"/>
                    <a:pt x="4329982" y="4580701"/>
                    <a:pt x="4360437" y="4516766"/>
                  </a:cubicBezTo>
                  <a:cubicBezTo>
                    <a:pt x="4404890" y="4423495"/>
                    <a:pt x="4436577" y="4297417"/>
                    <a:pt x="4480357" y="4122855"/>
                  </a:cubicBezTo>
                  <a:cubicBezTo>
                    <a:pt x="4539030" y="3889285"/>
                    <a:pt x="4619425" y="3569275"/>
                    <a:pt x="4781557" y="3129791"/>
                  </a:cubicBezTo>
                  <a:cubicBezTo>
                    <a:pt x="4870238" y="2889503"/>
                    <a:pt x="4867103" y="2637010"/>
                    <a:pt x="4771928" y="2357869"/>
                  </a:cubicBezTo>
                  <a:cubicBezTo>
                    <a:pt x="4684815" y="2102465"/>
                    <a:pt x="4520779" y="1831945"/>
                    <a:pt x="4297510" y="1575533"/>
                  </a:cubicBezTo>
                  <a:cubicBezTo>
                    <a:pt x="4034492" y="1273549"/>
                    <a:pt x="3773266" y="1054983"/>
                    <a:pt x="3498715" y="907071"/>
                  </a:cubicBezTo>
                  <a:cubicBezTo>
                    <a:pt x="3204905" y="748745"/>
                    <a:pt x="2894187" y="671821"/>
                    <a:pt x="2549095" y="671821"/>
                  </a:cubicBezTo>
                  <a:cubicBezTo>
                    <a:pt x="1942553" y="671821"/>
                    <a:pt x="1518298" y="1049273"/>
                    <a:pt x="985319" y="1582475"/>
                  </a:cubicBezTo>
                  <a:cubicBezTo>
                    <a:pt x="865735" y="1702059"/>
                    <a:pt x="748278" y="1809774"/>
                    <a:pt x="634628" y="1913907"/>
                  </a:cubicBezTo>
                  <a:cubicBezTo>
                    <a:pt x="421325" y="2109407"/>
                    <a:pt x="237134" y="2278146"/>
                    <a:pt x="117662" y="2453044"/>
                  </a:cubicBezTo>
                  <a:cubicBezTo>
                    <a:pt x="64756" y="2530415"/>
                    <a:pt x="27022" y="2605799"/>
                    <a:pt x="2515" y="2685494"/>
                  </a:cubicBezTo>
                  <a:lnTo>
                    <a:pt x="0" y="2696965"/>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E7E03733-50FD-49A6-B226-40F6A0AD45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76241"/>
              <a:ext cx="5517475" cy="6130481"/>
            </a:xfrm>
            <a:custGeom>
              <a:avLst/>
              <a:gdLst>
                <a:gd name="connsiteX0" fmla="*/ 2549095 w 5517475"/>
                <a:gd name="connsiteY0" fmla="*/ 0 h 6130481"/>
                <a:gd name="connsiteX1" fmla="*/ 4804175 w 5517475"/>
                <a:gd name="connsiteY1" fmla="*/ 1134258 h 6130481"/>
                <a:gd name="connsiteX2" fmla="*/ 5411838 w 5517475"/>
                <a:gd name="connsiteY2" fmla="*/ 3362353 h 6130481"/>
                <a:gd name="connsiteX3" fmla="*/ 4601621 w 5517475"/>
                <a:gd name="connsiteY3" fmla="*/ 5293280 h 6130481"/>
                <a:gd name="connsiteX4" fmla="*/ 2481577 w 5517475"/>
                <a:gd name="connsiteY4" fmla="*/ 6130481 h 6130481"/>
                <a:gd name="connsiteX5" fmla="*/ 243517 w 5517475"/>
                <a:gd name="connsiteY5" fmla="*/ 5212325 h 6130481"/>
                <a:gd name="connsiteX6" fmla="*/ 34587 w 5517475"/>
                <a:gd name="connsiteY6" fmla="*/ 4985345 h 6130481"/>
                <a:gd name="connsiteX7" fmla="*/ 0 w 5517475"/>
                <a:gd name="connsiteY7" fmla="*/ 4939620 h 6130481"/>
                <a:gd name="connsiteX8" fmla="*/ 0 w 5517475"/>
                <a:gd name="connsiteY8" fmla="*/ 3799573 h 6130481"/>
                <a:gd name="connsiteX9" fmla="*/ 64364 w 5517475"/>
                <a:gd name="connsiteY9" fmla="*/ 3974159 h 6130481"/>
                <a:gd name="connsiteX10" fmla="*/ 636644 w 5517475"/>
                <a:gd name="connsiteY10" fmla="*/ 4813600 h 6130481"/>
                <a:gd name="connsiteX11" fmla="*/ 2481577 w 5517475"/>
                <a:gd name="connsiteY11" fmla="*/ 5570406 h 6130481"/>
                <a:gd name="connsiteX12" fmla="*/ 3449896 w 5517475"/>
                <a:gd name="connsiteY12" fmla="*/ 5407153 h 6130481"/>
                <a:gd name="connsiteX13" fmla="*/ 4205695 w 5517475"/>
                <a:gd name="connsiteY13" fmla="*/ 4897241 h 6130481"/>
                <a:gd name="connsiteX14" fmla="*/ 4461434 w 5517475"/>
                <a:gd name="connsiteY14" fmla="*/ 4564802 h 6130481"/>
                <a:gd name="connsiteX15" fmla="*/ 4588969 w 5517475"/>
                <a:gd name="connsiteY15" fmla="*/ 4149952 h 6130481"/>
                <a:gd name="connsiteX16" fmla="*/ 4886585 w 5517475"/>
                <a:gd name="connsiteY16" fmla="*/ 3168421 h 6130481"/>
                <a:gd name="connsiteX17" fmla="*/ 4877964 w 5517475"/>
                <a:gd name="connsiteY17" fmla="*/ 2321590 h 6130481"/>
                <a:gd name="connsiteX18" fmla="*/ 4382048 w 5517475"/>
                <a:gd name="connsiteY18" fmla="*/ 1501856 h 6130481"/>
                <a:gd name="connsiteX19" fmla="*/ 3551900 w 5517475"/>
                <a:gd name="connsiteY19" fmla="*/ 808425 h 6130481"/>
                <a:gd name="connsiteX20" fmla="*/ 2549095 w 5517475"/>
                <a:gd name="connsiteY20" fmla="*/ 559851 h 6130481"/>
                <a:gd name="connsiteX21" fmla="*/ 1712566 w 5517475"/>
                <a:gd name="connsiteY21" fmla="*/ 812008 h 6130481"/>
                <a:gd name="connsiteX22" fmla="*/ 906044 w 5517475"/>
                <a:gd name="connsiteY22" fmla="*/ 1502976 h 6130481"/>
                <a:gd name="connsiteX23" fmla="*/ 558825 w 5517475"/>
                <a:gd name="connsiteY23" fmla="*/ 1831049 h 6130481"/>
                <a:gd name="connsiteX24" fmla="*/ 25063 w 5517475"/>
                <a:gd name="connsiteY24" fmla="*/ 2389556 h 6130481"/>
                <a:gd name="connsiteX25" fmla="*/ 0 w 5517475"/>
                <a:gd name="connsiteY25" fmla="*/ 2432109 h 6130481"/>
                <a:gd name="connsiteX26" fmla="*/ 0 w 5517475"/>
                <a:gd name="connsiteY26" fmla="*/ 1587383 h 6130481"/>
                <a:gd name="connsiteX27" fmla="*/ 76951 w 5517475"/>
                <a:gd name="connsiteY27" fmla="*/ 1513741 h 6130481"/>
                <a:gd name="connsiteX28" fmla="*/ 510118 w 5517475"/>
                <a:gd name="connsiteY28" fmla="*/ 1107273 h 6130481"/>
                <a:gd name="connsiteX29" fmla="*/ 2549095 w 5517475"/>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475" h="6130481">
                  <a:moveTo>
                    <a:pt x="2549095" y="0"/>
                  </a:moveTo>
                  <a:cubicBezTo>
                    <a:pt x="3508568" y="0"/>
                    <a:pt x="4219915" y="463445"/>
                    <a:pt x="4804175" y="1134258"/>
                  </a:cubicBezTo>
                  <a:cubicBezTo>
                    <a:pt x="5291694" y="1694109"/>
                    <a:pt x="5723899"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799573"/>
                  </a:lnTo>
                  <a:lnTo>
                    <a:pt x="64364" y="3974159"/>
                  </a:lnTo>
                  <a:cubicBezTo>
                    <a:pt x="198841" y="4289243"/>
                    <a:pt x="391429" y="4571632"/>
                    <a:pt x="636644" y="4813600"/>
                  </a:cubicBezTo>
                  <a:cubicBezTo>
                    <a:pt x="1131328" y="5301566"/>
                    <a:pt x="1786578" y="5570406"/>
                    <a:pt x="2481577" y="5570406"/>
                  </a:cubicBezTo>
                  <a:cubicBezTo>
                    <a:pt x="2854550" y="5570406"/>
                    <a:pt x="3171314" y="5516996"/>
                    <a:pt x="3449896" y="5407153"/>
                  </a:cubicBezTo>
                  <a:cubicBezTo>
                    <a:pt x="3723103" y="5299438"/>
                    <a:pt x="3970333" y="5132603"/>
                    <a:pt x="4205695" y="4897241"/>
                  </a:cubicBezTo>
                  <a:cubicBezTo>
                    <a:pt x="4369395" y="4733653"/>
                    <a:pt x="4426836" y="4637358"/>
                    <a:pt x="4461434" y="4564802"/>
                  </a:cubicBezTo>
                  <a:cubicBezTo>
                    <a:pt x="4510701" y="4461453"/>
                    <a:pt x="4543509" y="4330784"/>
                    <a:pt x="4588969" y="4149952"/>
                  </a:cubicBezTo>
                  <a:cubicBezTo>
                    <a:pt x="4646969" y="3918846"/>
                    <a:pt x="4726468" y="3602194"/>
                    <a:pt x="4886585" y="3168421"/>
                  </a:cubicBezTo>
                  <a:cubicBezTo>
                    <a:pt x="4984560" y="2902940"/>
                    <a:pt x="4981760" y="2626037"/>
                    <a:pt x="4877964" y="2321590"/>
                  </a:cubicBezTo>
                  <a:cubicBezTo>
                    <a:pt x="4786260" y="2052526"/>
                    <a:pt x="4614834" y="1769129"/>
                    <a:pt x="4382048" y="1501856"/>
                  </a:cubicBezTo>
                  <a:cubicBezTo>
                    <a:pt x="4110072" y="1189683"/>
                    <a:pt x="3838544" y="962832"/>
                    <a:pt x="3551900" y="808425"/>
                  </a:cubicBezTo>
                  <a:cubicBezTo>
                    <a:pt x="3241183" y="641141"/>
                    <a:pt x="2913222" y="559851"/>
                    <a:pt x="2549095" y="559851"/>
                  </a:cubicBezTo>
                  <a:cubicBezTo>
                    <a:pt x="2253830" y="559851"/>
                    <a:pt x="1988013" y="640134"/>
                    <a:pt x="1712566" y="812008"/>
                  </a:cubicBezTo>
                  <a:cubicBezTo>
                    <a:pt x="1428385" y="989593"/>
                    <a:pt x="1158313" y="1250707"/>
                    <a:pt x="906044" y="1502976"/>
                  </a:cubicBezTo>
                  <a:cubicBezTo>
                    <a:pt x="788140" y="1620769"/>
                    <a:pt x="671579" y="1727700"/>
                    <a:pt x="558825" y="1831049"/>
                  </a:cubicBezTo>
                  <a:cubicBezTo>
                    <a:pt x="340371" y="2031140"/>
                    <a:pt x="151813" y="2204022"/>
                    <a:pt x="25063" y="2389556"/>
                  </a:cubicBezTo>
                  <a:lnTo>
                    <a:pt x="0" y="2432109"/>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8A614510-A9F4-41B6-B78E-F49E390C7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0"/>
              <a:ext cx="5646974" cy="6483075"/>
            </a:xfrm>
            <a:custGeom>
              <a:avLst/>
              <a:gdLst>
                <a:gd name="connsiteX0" fmla="*/ 2405773 w 5646974"/>
                <a:gd name="connsiteY0" fmla="*/ 0 h 6483075"/>
                <a:gd name="connsiteX1" fmla="*/ 5646974 w 5646974"/>
                <a:gd name="connsiteY1" fmla="*/ 3241538 h 6483075"/>
                <a:gd name="connsiteX2" fmla="*/ 2405773 w 5646974"/>
                <a:gd name="connsiteY2" fmla="*/ 6483075 h 6483075"/>
                <a:gd name="connsiteX3" fmla="*/ 113897 w 5646974"/>
                <a:gd name="connsiteY3" fmla="*/ 5533666 h 6483075"/>
                <a:gd name="connsiteX4" fmla="*/ 0 w 5646974"/>
                <a:gd name="connsiteY4" fmla="*/ 5408336 h 6483075"/>
                <a:gd name="connsiteX5" fmla="*/ 0 w 5646974"/>
                <a:gd name="connsiteY5" fmla="*/ 4983659 h 6483075"/>
                <a:gd name="connsiteX6" fmla="*/ 155731 w 5646974"/>
                <a:gd name="connsiteY6" fmla="*/ 5176047 h 6483075"/>
                <a:gd name="connsiteX7" fmla="*/ 1093706 w 5646974"/>
                <a:gd name="connsiteY7" fmla="*/ 5866903 h 6483075"/>
                <a:gd name="connsiteX8" fmla="*/ 1639673 w 5646974"/>
                <a:gd name="connsiteY8" fmla="*/ 6059940 h 6483075"/>
                <a:gd name="connsiteX9" fmla="*/ 1709990 w 5646974"/>
                <a:gd name="connsiteY9" fmla="*/ 6076287 h 6483075"/>
                <a:gd name="connsiteX10" fmla="*/ 1780307 w 5646974"/>
                <a:gd name="connsiteY10" fmla="*/ 6091963 h 6483075"/>
                <a:gd name="connsiteX11" fmla="*/ 1851072 w 5646974"/>
                <a:gd name="connsiteY11" fmla="*/ 6105176 h 6483075"/>
                <a:gd name="connsiteX12" fmla="*/ 1886455 w 5646974"/>
                <a:gd name="connsiteY12" fmla="*/ 6111782 h 6483075"/>
                <a:gd name="connsiteX13" fmla="*/ 1921949 w 5646974"/>
                <a:gd name="connsiteY13" fmla="*/ 6117716 h 6483075"/>
                <a:gd name="connsiteX14" fmla="*/ 2064152 w 5646974"/>
                <a:gd name="connsiteY14" fmla="*/ 6137647 h 6483075"/>
                <a:gd name="connsiteX15" fmla="*/ 2206914 w 5646974"/>
                <a:gd name="connsiteY15" fmla="*/ 6151195 h 6483075"/>
                <a:gd name="connsiteX16" fmla="*/ 2350011 w 5646974"/>
                <a:gd name="connsiteY16" fmla="*/ 6158250 h 6483075"/>
                <a:gd name="connsiteX17" fmla="*/ 2493109 w 5646974"/>
                <a:gd name="connsiteY17" fmla="*/ 6159705 h 6483075"/>
                <a:gd name="connsiteX18" fmla="*/ 2781321 w 5646974"/>
                <a:gd name="connsiteY18" fmla="*/ 6147277 h 6483075"/>
                <a:gd name="connsiteX19" fmla="*/ 3345091 w 5646974"/>
                <a:gd name="connsiteY19" fmla="*/ 6060276 h 6483075"/>
                <a:gd name="connsiteX20" fmla="*/ 3878853 w 5646974"/>
                <a:gd name="connsiteY20" fmla="*/ 5871718 h 6483075"/>
                <a:gd name="connsiteX21" fmla="*/ 4367267 w 5646974"/>
                <a:gd name="connsiteY21" fmla="*/ 5573093 h 6483075"/>
                <a:gd name="connsiteX22" fmla="*/ 4424484 w 5646974"/>
                <a:gd name="connsiteY22" fmla="*/ 5528529 h 6483075"/>
                <a:gd name="connsiteX23" fmla="*/ 4481252 w 5646974"/>
                <a:gd name="connsiteY23" fmla="*/ 5483069 h 6483075"/>
                <a:gd name="connsiteX24" fmla="*/ 4536790 w 5646974"/>
                <a:gd name="connsiteY24" fmla="*/ 5435818 h 6483075"/>
                <a:gd name="connsiteX25" fmla="*/ 4591543 w 5646974"/>
                <a:gd name="connsiteY25" fmla="*/ 5387671 h 6483075"/>
                <a:gd name="connsiteX26" fmla="*/ 4794209 w 5646974"/>
                <a:gd name="connsiteY26" fmla="*/ 5181198 h 6483075"/>
                <a:gd name="connsiteX27" fmla="*/ 4956678 w 5646974"/>
                <a:gd name="connsiteY27" fmla="*/ 4945836 h 6483075"/>
                <a:gd name="connsiteX28" fmla="*/ 4989262 w 5646974"/>
                <a:gd name="connsiteY28" fmla="*/ 4881453 h 6483075"/>
                <a:gd name="connsiteX29" fmla="*/ 5017814 w 5646974"/>
                <a:gd name="connsiteY29" fmla="*/ 4814607 h 6483075"/>
                <a:gd name="connsiteX30" fmla="*/ 5044127 w 5646974"/>
                <a:gd name="connsiteY30" fmla="*/ 4746193 h 6483075"/>
                <a:gd name="connsiteX31" fmla="*/ 5068425 w 5646974"/>
                <a:gd name="connsiteY31" fmla="*/ 4676436 h 6483075"/>
                <a:gd name="connsiteX32" fmla="*/ 5154641 w 5646974"/>
                <a:gd name="connsiteY32" fmla="*/ 4390352 h 6483075"/>
                <a:gd name="connsiteX33" fmla="*/ 5196854 w 5646974"/>
                <a:gd name="connsiteY33" fmla="*/ 4246134 h 6483075"/>
                <a:gd name="connsiteX34" fmla="*/ 5240299 w 5646974"/>
                <a:gd name="connsiteY34" fmla="*/ 4102140 h 6483075"/>
                <a:gd name="connsiteX35" fmla="*/ 5432440 w 5646974"/>
                <a:gd name="connsiteY35" fmla="*/ 3532884 h 6483075"/>
                <a:gd name="connsiteX36" fmla="*/ 5528846 w 5646974"/>
                <a:gd name="connsiteY36" fmla="*/ 2951647 h 6483075"/>
                <a:gd name="connsiteX37" fmla="*/ 5495927 w 5646974"/>
                <a:gd name="connsiteY37" fmla="*/ 2658733 h 6483075"/>
                <a:gd name="connsiteX38" fmla="*/ 5480027 w 5646974"/>
                <a:gd name="connsiteY38" fmla="*/ 2586848 h 6483075"/>
                <a:gd name="connsiteX39" fmla="*/ 5461328 w 5646974"/>
                <a:gd name="connsiteY39" fmla="*/ 2515635 h 6483075"/>
                <a:gd name="connsiteX40" fmla="*/ 5439605 w 5646974"/>
                <a:gd name="connsiteY40" fmla="*/ 2445317 h 6483075"/>
                <a:gd name="connsiteX41" fmla="*/ 5415532 w 5646974"/>
                <a:gd name="connsiteY41" fmla="*/ 2375896 h 6483075"/>
                <a:gd name="connsiteX42" fmla="*/ 5144564 w 5646974"/>
                <a:gd name="connsiteY42" fmla="*/ 1857138 h 6483075"/>
                <a:gd name="connsiteX43" fmla="*/ 4774838 w 5646974"/>
                <a:gd name="connsiteY43" fmla="*/ 1405450 h 6483075"/>
                <a:gd name="connsiteX44" fmla="*/ 4345769 w 5646974"/>
                <a:gd name="connsiteY44" fmla="*/ 1012323 h 6483075"/>
                <a:gd name="connsiteX45" fmla="*/ 4115334 w 5646974"/>
                <a:gd name="connsiteY45" fmla="*/ 841344 h 6483075"/>
                <a:gd name="connsiteX46" fmla="*/ 3874038 w 5646974"/>
                <a:gd name="connsiteY46" fmla="*/ 691528 h 6483075"/>
                <a:gd name="connsiteX47" fmla="*/ 3359535 w 5646974"/>
                <a:gd name="connsiteY47" fmla="*/ 468819 h 6483075"/>
                <a:gd name="connsiteX48" fmla="*/ 2811105 w 5646974"/>
                <a:gd name="connsiteY48" fmla="*/ 366031 h 6483075"/>
                <a:gd name="connsiteX49" fmla="*/ 2741124 w 5646974"/>
                <a:gd name="connsiteY49" fmla="*/ 361440 h 6483075"/>
                <a:gd name="connsiteX50" fmla="*/ 2671030 w 5646974"/>
                <a:gd name="connsiteY50" fmla="*/ 358417 h 6483075"/>
                <a:gd name="connsiteX51" fmla="*/ 2600713 w 5646974"/>
                <a:gd name="connsiteY51" fmla="*/ 357521 h 6483075"/>
                <a:gd name="connsiteX52" fmla="*/ 2531739 w 5646974"/>
                <a:gd name="connsiteY52" fmla="*/ 358529 h 6483075"/>
                <a:gd name="connsiteX53" fmla="*/ 2259988 w 5646974"/>
                <a:gd name="connsiteY53" fmla="*/ 385289 h 6483075"/>
                <a:gd name="connsiteX54" fmla="*/ 1740670 w 5646974"/>
                <a:gd name="connsiteY54" fmla="*/ 553917 h 6483075"/>
                <a:gd name="connsiteX55" fmla="*/ 1264124 w 5646974"/>
                <a:gd name="connsiteY55" fmla="*/ 853549 h 6483075"/>
                <a:gd name="connsiteX56" fmla="*/ 823074 w 5646974"/>
                <a:gd name="connsiteY56" fmla="*/ 1234136 h 6483075"/>
                <a:gd name="connsiteX57" fmla="*/ 715694 w 5646974"/>
                <a:gd name="connsiteY57" fmla="*/ 1336252 h 6483075"/>
                <a:gd name="connsiteX58" fmla="*/ 606859 w 5646974"/>
                <a:gd name="connsiteY58" fmla="*/ 1440945 h 6483075"/>
                <a:gd name="connsiteX59" fmla="*/ 382023 w 5646974"/>
                <a:gd name="connsiteY59" fmla="*/ 1646074 h 6483075"/>
                <a:gd name="connsiteX60" fmla="*/ 158531 w 5646974"/>
                <a:gd name="connsiteY60" fmla="*/ 1843813 h 6483075"/>
                <a:gd name="connsiteX61" fmla="*/ 0 w 5646974"/>
                <a:gd name="connsiteY61" fmla="*/ 1991775 h 6483075"/>
                <a:gd name="connsiteX62" fmla="*/ 0 w 5646974"/>
                <a:gd name="connsiteY62" fmla="*/ 1074740 h 6483075"/>
                <a:gd name="connsiteX63" fmla="*/ 113897 w 5646974"/>
                <a:gd name="connsiteY63" fmla="*/ 949410 h 6483075"/>
                <a:gd name="connsiteX64" fmla="*/ 2405773 w 5646974"/>
                <a:gd name="connsiteY64" fmla="*/ 0 h 648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646974" h="6483075">
                  <a:moveTo>
                    <a:pt x="2405773" y="0"/>
                  </a:moveTo>
                  <a:cubicBezTo>
                    <a:pt x="4195841" y="0"/>
                    <a:pt x="5646974" y="1451246"/>
                    <a:pt x="5646974" y="3241538"/>
                  </a:cubicBezTo>
                  <a:cubicBezTo>
                    <a:pt x="5646974" y="5031830"/>
                    <a:pt x="4195841" y="6483075"/>
                    <a:pt x="2405773" y="6483075"/>
                  </a:cubicBezTo>
                  <a:cubicBezTo>
                    <a:pt x="1510739" y="6483075"/>
                    <a:pt x="700439" y="6120264"/>
                    <a:pt x="113897" y="5533666"/>
                  </a:cubicBezTo>
                  <a:lnTo>
                    <a:pt x="0" y="5408336"/>
                  </a:lnTo>
                  <a:lnTo>
                    <a:pt x="0" y="4983659"/>
                  </a:lnTo>
                  <a:lnTo>
                    <a:pt x="155731" y="5176047"/>
                  </a:lnTo>
                  <a:cubicBezTo>
                    <a:pt x="417742" y="5469073"/>
                    <a:pt x="741224" y="5704211"/>
                    <a:pt x="1093706" y="5866903"/>
                  </a:cubicBezTo>
                  <a:cubicBezTo>
                    <a:pt x="1269947" y="5948418"/>
                    <a:pt x="1453018" y="6013137"/>
                    <a:pt x="1639673" y="6059940"/>
                  </a:cubicBezTo>
                  <a:lnTo>
                    <a:pt x="1709990" y="6076287"/>
                  </a:lnTo>
                  <a:cubicBezTo>
                    <a:pt x="1733504" y="6081550"/>
                    <a:pt x="1756570" y="6088156"/>
                    <a:pt x="1780307" y="6091963"/>
                  </a:cubicBezTo>
                  <a:lnTo>
                    <a:pt x="1851072" y="6105176"/>
                  </a:lnTo>
                  <a:lnTo>
                    <a:pt x="1886455" y="6111782"/>
                  </a:lnTo>
                  <a:cubicBezTo>
                    <a:pt x="1898212" y="6114021"/>
                    <a:pt x="1909969" y="6116373"/>
                    <a:pt x="1921949" y="6117716"/>
                  </a:cubicBezTo>
                  <a:cubicBezTo>
                    <a:pt x="1969425" y="6124323"/>
                    <a:pt x="2016676" y="6131489"/>
                    <a:pt x="2064152" y="6137647"/>
                  </a:cubicBezTo>
                  <a:cubicBezTo>
                    <a:pt x="2111851" y="6141790"/>
                    <a:pt x="2159438" y="6146381"/>
                    <a:pt x="2206914" y="6151195"/>
                  </a:cubicBezTo>
                  <a:lnTo>
                    <a:pt x="2350011" y="6158250"/>
                  </a:lnTo>
                  <a:cubicBezTo>
                    <a:pt x="2397711" y="6159593"/>
                    <a:pt x="2445410" y="6159146"/>
                    <a:pt x="2493109" y="6159705"/>
                  </a:cubicBezTo>
                  <a:cubicBezTo>
                    <a:pt x="2589068" y="6158137"/>
                    <a:pt x="2685922" y="6154666"/>
                    <a:pt x="2781321" y="6147277"/>
                  </a:cubicBezTo>
                  <a:cubicBezTo>
                    <a:pt x="2972566" y="6132944"/>
                    <a:pt x="3161348" y="6105288"/>
                    <a:pt x="3345091" y="6060276"/>
                  </a:cubicBezTo>
                  <a:cubicBezTo>
                    <a:pt x="3528834" y="6015375"/>
                    <a:pt x="3707539" y="5952785"/>
                    <a:pt x="3878853" y="5871718"/>
                  </a:cubicBezTo>
                  <a:cubicBezTo>
                    <a:pt x="4050167" y="5790428"/>
                    <a:pt x="4213084" y="5689318"/>
                    <a:pt x="4367267" y="5573093"/>
                  </a:cubicBezTo>
                  <a:lnTo>
                    <a:pt x="4424484" y="5528529"/>
                  </a:lnTo>
                  <a:cubicBezTo>
                    <a:pt x="4443631" y="5513637"/>
                    <a:pt x="4463113" y="5499193"/>
                    <a:pt x="4481252" y="5483069"/>
                  </a:cubicBezTo>
                  <a:lnTo>
                    <a:pt x="4536790" y="5435818"/>
                  </a:lnTo>
                  <a:cubicBezTo>
                    <a:pt x="4555265" y="5419918"/>
                    <a:pt x="4574188" y="5404466"/>
                    <a:pt x="4591543" y="5387671"/>
                  </a:cubicBezTo>
                  <a:cubicBezTo>
                    <a:pt x="4662980" y="5321944"/>
                    <a:pt x="4733074" y="5254650"/>
                    <a:pt x="4794209" y="5181198"/>
                  </a:cubicBezTo>
                  <a:cubicBezTo>
                    <a:pt x="4857808" y="5109089"/>
                    <a:pt x="4910434" y="5029926"/>
                    <a:pt x="4956678" y="4945836"/>
                  </a:cubicBezTo>
                  <a:cubicBezTo>
                    <a:pt x="4967651" y="4924450"/>
                    <a:pt x="4978624" y="4903064"/>
                    <a:pt x="4989262" y="4881453"/>
                  </a:cubicBezTo>
                  <a:lnTo>
                    <a:pt x="5017814" y="4814607"/>
                  </a:lnTo>
                  <a:cubicBezTo>
                    <a:pt x="5027891" y="4792549"/>
                    <a:pt x="5035393" y="4769035"/>
                    <a:pt x="5044127" y="4746193"/>
                  </a:cubicBezTo>
                  <a:cubicBezTo>
                    <a:pt x="5052636" y="4723128"/>
                    <a:pt x="5061146" y="4700174"/>
                    <a:pt x="5068425" y="4676436"/>
                  </a:cubicBezTo>
                  <a:cubicBezTo>
                    <a:pt x="5099552" y="4582717"/>
                    <a:pt x="5126985" y="4486422"/>
                    <a:pt x="5154641" y="4390352"/>
                  </a:cubicBezTo>
                  <a:lnTo>
                    <a:pt x="5196854" y="4246134"/>
                  </a:lnTo>
                  <a:lnTo>
                    <a:pt x="5240299" y="4102140"/>
                  </a:lnTo>
                  <a:cubicBezTo>
                    <a:pt x="5299195" y="3910560"/>
                    <a:pt x="5364697" y="3721330"/>
                    <a:pt x="5432440" y="3532884"/>
                  </a:cubicBezTo>
                  <a:cubicBezTo>
                    <a:pt x="5500294" y="3346902"/>
                    <a:pt x="5533549" y="3148714"/>
                    <a:pt x="5528846" y="2951647"/>
                  </a:cubicBezTo>
                  <a:cubicBezTo>
                    <a:pt x="5526831" y="2853113"/>
                    <a:pt x="5515409" y="2755027"/>
                    <a:pt x="5495927" y="2658733"/>
                  </a:cubicBezTo>
                  <a:cubicBezTo>
                    <a:pt x="5491112" y="2634659"/>
                    <a:pt x="5486297" y="2610585"/>
                    <a:pt x="5480027" y="2586848"/>
                  </a:cubicBezTo>
                  <a:cubicBezTo>
                    <a:pt x="5474205" y="2562998"/>
                    <a:pt x="5468718" y="2539036"/>
                    <a:pt x="5461328" y="2515635"/>
                  </a:cubicBezTo>
                  <a:cubicBezTo>
                    <a:pt x="5454386" y="2492009"/>
                    <a:pt x="5447668" y="2468495"/>
                    <a:pt x="5439605" y="2445317"/>
                  </a:cubicBezTo>
                  <a:cubicBezTo>
                    <a:pt x="5431879" y="2422028"/>
                    <a:pt x="5424378" y="2398738"/>
                    <a:pt x="5415532" y="2375896"/>
                  </a:cubicBezTo>
                  <a:cubicBezTo>
                    <a:pt x="5347790" y="2191817"/>
                    <a:pt x="5254071" y="2018599"/>
                    <a:pt x="5144564" y="1857138"/>
                  </a:cubicBezTo>
                  <a:cubicBezTo>
                    <a:pt x="5034946" y="1695565"/>
                    <a:pt x="4909762" y="1545301"/>
                    <a:pt x="4774838" y="1405450"/>
                  </a:cubicBezTo>
                  <a:cubicBezTo>
                    <a:pt x="4638907" y="1265040"/>
                    <a:pt x="4496145" y="1132131"/>
                    <a:pt x="4345769" y="1012323"/>
                  </a:cubicBezTo>
                  <a:cubicBezTo>
                    <a:pt x="4270749" y="952195"/>
                    <a:pt x="4194273" y="894642"/>
                    <a:pt x="4115334" y="841344"/>
                  </a:cubicBezTo>
                  <a:cubicBezTo>
                    <a:pt x="4037067" y="787263"/>
                    <a:pt x="3956336" y="737548"/>
                    <a:pt x="3874038" y="691528"/>
                  </a:cubicBezTo>
                  <a:cubicBezTo>
                    <a:pt x="3709554" y="599712"/>
                    <a:pt x="3537792" y="523349"/>
                    <a:pt x="3359535" y="468819"/>
                  </a:cubicBezTo>
                  <a:cubicBezTo>
                    <a:pt x="3181278" y="414514"/>
                    <a:pt x="2997311" y="380699"/>
                    <a:pt x="2811105" y="366031"/>
                  </a:cubicBezTo>
                  <a:cubicBezTo>
                    <a:pt x="2787703" y="364575"/>
                    <a:pt x="2764525" y="362448"/>
                    <a:pt x="2741124" y="361440"/>
                  </a:cubicBezTo>
                  <a:lnTo>
                    <a:pt x="2671030" y="358417"/>
                  </a:lnTo>
                  <a:lnTo>
                    <a:pt x="2600713" y="357521"/>
                  </a:lnTo>
                  <a:cubicBezTo>
                    <a:pt x="2577087" y="356961"/>
                    <a:pt x="2554805" y="358305"/>
                    <a:pt x="2531739" y="358529"/>
                  </a:cubicBezTo>
                  <a:cubicBezTo>
                    <a:pt x="2440259" y="360992"/>
                    <a:pt x="2349564" y="370285"/>
                    <a:pt x="2259988" y="385289"/>
                  </a:cubicBezTo>
                  <a:cubicBezTo>
                    <a:pt x="2080723" y="415521"/>
                    <a:pt x="1906945" y="473634"/>
                    <a:pt x="1740670" y="553917"/>
                  </a:cubicBezTo>
                  <a:cubicBezTo>
                    <a:pt x="1574506" y="634647"/>
                    <a:pt x="1415844" y="737100"/>
                    <a:pt x="1264124" y="853549"/>
                  </a:cubicBezTo>
                  <a:cubicBezTo>
                    <a:pt x="1112181" y="969886"/>
                    <a:pt x="966508" y="1099212"/>
                    <a:pt x="823074" y="1234136"/>
                  </a:cubicBezTo>
                  <a:cubicBezTo>
                    <a:pt x="787131" y="1267951"/>
                    <a:pt x="751413" y="1301990"/>
                    <a:pt x="715694" y="1336252"/>
                  </a:cubicBezTo>
                  <a:lnTo>
                    <a:pt x="606859" y="1440945"/>
                  </a:lnTo>
                  <a:cubicBezTo>
                    <a:pt x="532623" y="1511374"/>
                    <a:pt x="457267" y="1579452"/>
                    <a:pt x="382023" y="1646074"/>
                  </a:cubicBezTo>
                  <a:lnTo>
                    <a:pt x="158531" y="1843813"/>
                  </a:lnTo>
                  <a:lnTo>
                    <a:pt x="0" y="1991775"/>
                  </a:lnTo>
                  <a:lnTo>
                    <a:pt x="0" y="1074740"/>
                  </a:lnTo>
                  <a:lnTo>
                    <a:pt x="113897" y="949410"/>
                  </a:lnTo>
                  <a:cubicBezTo>
                    <a:pt x="700439" y="362812"/>
                    <a:pt x="1510739" y="0"/>
                    <a:pt x="2405773" y="0"/>
                  </a:cubicBezTo>
                  <a:close/>
                </a:path>
              </a:pathLst>
            </a:custGeom>
            <a:gradFill>
              <a:gsLst>
                <a:gs pos="2000">
                  <a:schemeClr val="bg1">
                    <a:alpha val="10000"/>
                  </a:schemeClr>
                </a:gs>
                <a:gs pos="16000">
                  <a:schemeClr val="accent6">
                    <a:alpha val="10000"/>
                  </a:schemeClr>
                </a:gs>
                <a:gs pos="100000">
                  <a:schemeClr val="bg1">
                    <a:alpha val="10000"/>
                  </a:schemeClr>
                </a:gs>
                <a:gs pos="74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re 1">
            <a:extLst>
              <a:ext uri="{FF2B5EF4-FFF2-40B4-BE49-F238E27FC236}">
                <a16:creationId xmlns:a16="http://schemas.microsoft.com/office/drawing/2014/main" id="{C1158663-98FD-1A15-7569-6AA3C26B27B2}"/>
              </a:ext>
            </a:extLst>
          </p:cNvPr>
          <p:cNvSpPr>
            <a:spLocks noGrp="1"/>
          </p:cNvSpPr>
          <p:nvPr>
            <p:ph type="title"/>
          </p:nvPr>
        </p:nvSpPr>
        <p:spPr>
          <a:xfrm>
            <a:off x="804672" y="2053641"/>
            <a:ext cx="3669161" cy="2760098"/>
          </a:xfrm>
        </p:spPr>
        <p:txBody>
          <a:bodyPr>
            <a:normAutofit/>
          </a:bodyPr>
          <a:lstStyle/>
          <a:p>
            <a:r>
              <a:rPr lang="fr-FR" sz="4000">
                <a:solidFill>
                  <a:schemeClr val="tx2"/>
                </a:solidFill>
              </a:rPr>
              <a:t>Actions RSE</a:t>
            </a:r>
          </a:p>
        </p:txBody>
      </p:sp>
      <p:sp>
        <p:nvSpPr>
          <p:cNvPr id="3" name="Espace réservé du contenu 2">
            <a:extLst>
              <a:ext uri="{FF2B5EF4-FFF2-40B4-BE49-F238E27FC236}">
                <a16:creationId xmlns:a16="http://schemas.microsoft.com/office/drawing/2014/main" id="{B3C667C0-A035-6B95-9E31-8D03F82D2B5D}"/>
              </a:ext>
            </a:extLst>
          </p:cNvPr>
          <p:cNvSpPr>
            <a:spLocks noGrp="1"/>
          </p:cNvSpPr>
          <p:nvPr>
            <p:ph idx="1"/>
          </p:nvPr>
        </p:nvSpPr>
        <p:spPr>
          <a:xfrm>
            <a:off x="6090574" y="801866"/>
            <a:ext cx="5306084" cy="5230634"/>
          </a:xfrm>
          <a:noFill/>
          <a:ln>
            <a:noFill/>
          </a:ln>
        </p:spPr>
        <p:txBody>
          <a:bodyPr vert="horz" lIns="91440" tIns="45720" rIns="91440" bIns="45720" rtlCol="0" anchor="ctr">
            <a:normAutofit/>
          </a:bodyPr>
          <a:lstStyle/>
          <a:p>
            <a:r>
              <a:rPr lang="fr-FR" sz="1700">
                <a:solidFill>
                  <a:schemeClr val="tx2"/>
                </a:solidFill>
                <a:ea typeface="+mn-lt"/>
                <a:cs typeface="+mn-lt"/>
              </a:rPr>
              <a:t>Réduction de l’empreinte carbone et des déchets électroniques</a:t>
            </a:r>
          </a:p>
          <a:p>
            <a:r>
              <a:rPr lang="fr-FR" sz="1700">
                <a:solidFill>
                  <a:schemeClr val="tx2"/>
                </a:solidFill>
                <a:ea typeface="+mn-lt"/>
                <a:cs typeface="+mn-lt"/>
              </a:rPr>
              <a:t>Utilisation de composants électroniques à faible consommation d’énergie.</a:t>
            </a:r>
          </a:p>
          <a:p>
            <a:r>
              <a:rPr lang="fr-FR" sz="1700">
                <a:solidFill>
                  <a:schemeClr val="tx2"/>
                </a:solidFill>
                <a:ea typeface="+mn-lt"/>
                <a:cs typeface="+mn-lt"/>
              </a:rPr>
              <a:t>Recyclage des appareils biométriques obsolètes (capteurs, scanners).</a:t>
            </a:r>
          </a:p>
          <a:p>
            <a:r>
              <a:rPr lang="fr-FR" sz="1700">
                <a:solidFill>
                  <a:schemeClr val="tx2"/>
                </a:solidFill>
                <a:ea typeface="+mn-lt"/>
                <a:cs typeface="+mn-lt"/>
              </a:rPr>
              <a:t>Optimisation des serveurs pour minimiser la consommation énergétique des systèmes de reconnaissance faciale/empreinte digitale.</a:t>
            </a:r>
          </a:p>
          <a:p>
            <a:r>
              <a:rPr lang="fr-FR" sz="1700">
                <a:solidFill>
                  <a:schemeClr val="tx2"/>
                </a:solidFill>
                <a:ea typeface="+mn-lt"/>
                <a:cs typeface="+mn-lt"/>
              </a:rPr>
              <a:t>Hébergement des données biométriques sur des serveurs verts</a:t>
            </a:r>
          </a:p>
          <a:p>
            <a:r>
              <a:rPr lang="fr-FR" sz="1700">
                <a:solidFill>
                  <a:schemeClr val="tx2"/>
                </a:solidFill>
                <a:ea typeface="+mn-lt"/>
                <a:cs typeface="+mn-lt"/>
              </a:rPr>
              <a:t>Développement de technologies garantissant la protection des données biométriques (cryptage avancé, stockage sécurisé).</a:t>
            </a:r>
          </a:p>
          <a:p>
            <a:r>
              <a:rPr lang="fr-FR" sz="1700">
                <a:solidFill>
                  <a:schemeClr val="tx2"/>
                </a:solidFill>
                <a:ea typeface="+mn-lt"/>
                <a:cs typeface="+mn-lt"/>
              </a:rPr>
              <a:t>Conformité stricte au RGPD</a:t>
            </a:r>
          </a:p>
          <a:p>
            <a:r>
              <a:rPr lang="fr-FR" sz="1700">
                <a:solidFill>
                  <a:schemeClr val="tx2"/>
                </a:solidFill>
                <a:ea typeface="+mn-lt"/>
                <a:cs typeface="+mn-lt"/>
              </a:rPr>
              <a:t>Choix de fournisseurs engagés dans des démarches écologiques et sociales.</a:t>
            </a:r>
            <a:br>
              <a:rPr lang="fr-FR" sz="1700">
                <a:solidFill>
                  <a:schemeClr val="tx2"/>
                </a:solidFill>
                <a:ea typeface="+mn-lt"/>
                <a:cs typeface="+mn-lt"/>
              </a:rPr>
            </a:br>
            <a:endParaRPr lang="fr-FR" sz="1700">
              <a:solidFill>
                <a:schemeClr val="tx2"/>
              </a:solidFill>
              <a:ea typeface="+mn-lt"/>
              <a:cs typeface="+mn-lt"/>
            </a:endParaRPr>
          </a:p>
        </p:txBody>
      </p:sp>
    </p:spTree>
    <p:extLst>
      <p:ext uri="{BB962C8B-B14F-4D97-AF65-F5344CB8AC3E}">
        <p14:creationId xmlns:p14="http://schemas.microsoft.com/office/powerpoint/2010/main" val="34317594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89C5E17-24D0-4696-A3C5-A2261FB455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929B58F-2358-44CC-ACE5-EF1BD3C6C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re 1">
            <a:extLst>
              <a:ext uri="{FF2B5EF4-FFF2-40B4-BE49-F238E27FC236}">
                <a16:creationId xmlns:a16="http://schemas.microsoft.com/office/drawing/2014/main" id="{9C31ACAD-DC77-7296-7AC5-C310BD9A8B16}"/>
              </a:ext>
            </a:extLst>
          </p:cNvPr>
          <p:cNvSpPr>
            <a:spLocks noGrp="1"/>
          </p:cNvSpPr>
          <p:nvPr>
            <p:ph type="title"/>
          </p:nvPr>
        </p:nvSpPr>
        <p:spPr>
          <a:xfrm>
            <a:off x="804672" y="1243013"/>
            <a:ext cx="3855720" cy="4371974"/>
          </a:xfrm>
        </p:spPr>
        <p:txBody>
          <a:bodyPr>
            <a:normAutofit/>
          </a:bodyPr>
          <a:lstStyle/>
          <a:p>
            <a:r>
              <a:rPr lang="fr-FR" sz="3600" dirty="0">
                <a:solidFill>
                  <a:schemeClr val="tx2"/>
                </a:solidFill>
              </a:rPr>
              <a:t>Responsable </a:t>
            </a:r>
          </a:p>
        </p:txBody>
      </p:sp>
      <p:grpSp>
        <p:nvGrpSpPr>
          <p:cNvPr id="12" name="Group 11">
            <a:extLst>
              <a:ext uri="{FF2B5EF4-FFF2-40B4-BE49-F238E27FC236}">
                <a16:creationId xmlns:a16="http://schemas.microsoft.com/office/drawing/2014/main" id="{09DA5303-A1AF-4830-806C-51FCD96188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897348" y="5285"/>
            <a:ext cx="7294653" cy="6858000"/>
            <a:chOff x="4897348" y="-5799"/>
            <a:chExt cx="7294653" cy="6858000"/>
          </a:xfrm>
        </p:grpSpPr>
        <p:sp>
          <p:nvSpPr>
            <p:cNvPr id="13" name="Freeform: Shape 12">
              <a:extLst>
                <a:ext uri="{FF2B5EF4-FFF2-40B4-BE49-F238E27FC236}">
                  <a16:creationId xmlns:a16="http://schemas.microsoft.com/office/drawing/2014/main" id="{4FAAA8C8-4EB7-45F1-BF24-3EF0F4DC4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7348" y="-5798"/>
              <a:ext cx="7294652" cy="6857999"/>
            </a:xfrm>
            <a:custGeom>
              <a:avLst/>
              <a:gdLst>
                <a:gd name="connsiteX0" fmla="*/ 7294652 w 7294652"/>
                <a:gd name="connsiteY0" fmla="*/ 6063030 h 6857999"/>
                <a:gd name="connsiteX1" fmla="*/ 7294652 w 7294652"/>
                <a:gd name="connsiteY1" fmla="*/ 6857999 h 6857999"/>
                <a:gd name="connsiteX2" fmla="*/ 6248575 w 7294652"/>
                <a:gd name="connsiteY2" fmla="*/ 6857999 h 6857999"/>
                <a:gd name="connsiteX3" fmla="*/ 6477898 w 7294652"/>
                <a:gd name="connsiteY3" fmla="*/ 6700973 h 6857999"/>
                <a:gd name="connsiteX4" fmla="*/ 6647884 w 7294652"/>
                <a:gd name="connsiteY4" fmla="*/ 6572752 h 6857999"/>
                <a:gd name="connsiteX5" fmla="*/ 6817698 w 7294652"/>
                <a:gd name="connsiteY5" fmla="*/ 6440235 h 6857999"/>
                <a:gd name="connsiteX6" fmla="*/ 7161451 w 7294652"/>
                <a:gd name="connsiteY6" fmla="*/ 6165232 h 6857999"/>
                <a:gd name="connsiteX7" fmla="*/ 1673436 w 7294652"/>
                <a:gd name="connsiteY7" fmla="*/ 0 h 6857999"/>
                <a:gd name="connsiteX8" fmla="*/ 2394951 w 7294652"/>
                <a:gd name="connsiteY8" fmla="*/ 0 h 6857999"/>
                <a:gd name="connsiteX9" fmla="*/ 2244659 w 7294652"/>
                <a:gd name="connsiteY9" fmla="*/ 100763 h 6857999"/>
                <a:gd name="connsiteX10" fmla="*/ 1743903 w 7294652"/>
                <a:gd name="connsiteY10" fmla="*/ 498975 h 6857999"/>
                <a:gd name="connsiteX11" fmla="*/ 1163821 w 7294652"/>
                <a:gd name="connsiteY11" fmla="*/ 1121514 h 6857999"/>
                <a:gd name="connsiteX12" fmla="*/ 704911 w 7294652"/>
                <a:gd name="connsiteY12" fmla="*/ 1837036 h 6857999"/>
                <a:gd name="connsiteX13" fmla="*/ 393472 w 7294652"/>
                <a:gd name="connsiteY13" fmla="*/ 2627669 h 6857999"/>
                <a:gd name="connsiteX14" fmla="*/ 280032 w 7294652"/>
                <a:gd name="connsiteY14" fmla="*/ 3472097 h 6857999"/>
                <a:gd name="connsiteX15" fmla="*/ 327813 w 7294652"/>
                <a:gd name="connsiteY15" fmla="*/ 3884602 h 6857999"/>
                <a:gd name="connsiteX16" fmla="*/ 469096 w 7294652"/>
                <a:gd name="connsiteY16" fmla="*/ 4270809 h 6857999"/>
                <a:gd name="connsiteX17" fmla="*/ 567581 w 7294652"/>
                <a:gd name="connsiteY17" fmla="*/ 4452482 h 6857999"/>
                <a:gd name="connsiteX18" fmla="*/ 680677 w 7294652"/>
                <a:gd name="connsiteY18" fmla="*/ 4628484 h 6857999"/>
                <a:gd name="connsiteX19" fmla="*/ 941928 w 7294652"/>
                <a:gd name="connsiteY19" fmla="*/ 4968628 h 6857999"/>
                <a:gd name="connsiteX20" fmla="*/ 1224665 w 7294652"/>
                <a:gd name="connsiteY20" fmla="*/ 5311349 h 6857999"/>
                <a:gd name="connsiteX21" fmla="*/ 1365259 w 7294652"/>
                <a:gd name="connsiteY21" fmla="*/ 5490273 h 6857999"/>
                <a:gd name="connsiteX22" fmla="*/ 1432808 w 7294652"/>
                <a:gd name="connsiteY22" fmla="*/ 5577931 h 6857999"/>
                <a:gd name="connsiteX23" fmla="*/ 1498980 w 7294652"/>
                <a:gd name="connsiteY23" fmla="*/ 5662148 h 6857999"/>
                <a:gd name="connsiteX24" fmla="*/ 2067548 w 7294652"/>
                <a:gd name="connsiteY24" fmla="*/ 6283312 h 6857999"/>
                <a:gd name="connsiteX25" fmla="*/ 2369879 w 7294652"/>
                <a:gd name="connsiteY25" fmla="*/ 6562782 h 6857999"/>
                <a:gd name="connsiteX26" fmla="*/ 2686645 w 7294652"/>
                <a:gd name="connsiteY26" fmla="*/ 6820598 h 6857999"/>
                <a:gd name="connsiteX27" fmla="*/ 2738907 w 7294652"/>
                <a:gd name="connsiteY27" fmla="*/ 6857999 h 6857999"/>
                <a:gd name="connsiteX28" fmla="*/ 1731787 w 7294652"/>
                <a:gd name="connsiteY28" fmla="*/ 6857999 h 6857999"/>
                <a:gd name="connsiteX29" fmla="*/ 1607949 w 7294652"/>
                <a:gd name="connsiteY29" fmla="*/ 6732770 h 6857999"/>
                <a:gd name="connsiteX30" fmla="*/ 1309057 w 7294652"/>
                <a:gd name="connsiteY30" fmla="*/ 6370109 h 6857999"/>
                <a:gd name="connsiteX31" fmla="*/ 1048147 w 7294652"/>
                <a:gd name="connsiteY31" fmla="*/ 5986138 h 6857999"/>
                <a:gd name="connsiteX32" fmla="*/ 987131 w 7294652"/>
                <a:gd name="connsiteY32" fmla="*/ 5888512 h 6857999"/>
                <a:gd name="connsiteX33" fmla="*/ 928866 w 7294652"/>
                <a:gd name="connsiteY33" fmla="*/ 5793463 h 6857999"/>
                <a:gd name="connsiteX34" fmla="*/ 813708 w 7294652"/>
                <a:gd name="connsiteY34" fmla="*/ 5609556 h 6857999"/>
                <a:gd name="connsiteX35" fmla="*/ 574972 w 7294652"/>
                <a:gd name="connsiteY35" fmla="*/ 5231598 h 6857999"/>
                <a:gd name="connsiteX36" fmla="*/ 342424 w 7294652"/>
                <a:gd name="connsiteY36" fmla="*/ 4834048 h 6857999"/>
                <a:gd name="connsiteX37" fmla="*/ 237579 w 7294652"/>
                <a:gd name="connsiteY37" fmla="*/ 4623500 h 6857999"/>
                <a:gd name="connsiteX38" fmla="*/ 148373 w 7294652"/>
                <a:gd name="connsiteY38" fmla="*/ 4404356 h 6857999"/>
                <a:gd name="connsiteX39" fmla="*/ 79623 w 7294652"/>
                <a:gd name="connsiteY39" fmla="*/ 4175762 h 6857999"/>
                <a:gd name="connsiteX40" fmla="*/ 54185 w 7294652"/>
                <a:gd name="connsiteY40" fmla="*/ 4059229 h 6857999"/>
                <a:gd name="connsiteX41" fmla="*/ 43013 w 7294652"/>
                <a:gd name="connsiteY41" fmla="*/ 4000790 h 6857999"/>
                <a:gd name="connsiteX42" fmla="*/ 33734 w 7294652"/>
                <a:gd name="connsiteY42" fmla="*/ 3942180 h 6857999"/>
                <a:gd name="connsiteX43" fmla="*/ 45 w 7294652"/>
                <a:gd name="connsiteY43" fmla="*/ 3472097 h 6857999"/>
                <a:gd name="connsiteX44" fmla="*/ 95436 w 7294652"/>
                <a:gd name="connsiteY44" fmla="*/ 2557372 h 6857999"/>
                <a:gd name="connsiteX45" fmla="*/ 382126 w 7294652"/>
                <a:gd name="connsiteY45" fmla="*/ 1680799 h 6857999"/>
                <a:gd name="connsiteX46" fmla="*/ 1457043 w 7294652"/>
                <a:gd name="connsiteY46" fmla="*/ 19217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7294652" h="6857999">
                  <a:moveTo>
                    <a:pt x="7294652" y="6063030"/>
                  </a:moveTo>
                  <a:lnTo>
                    <a:pt x="7294652" y="6857999"/>
                  </a:lnTo>
                  <a:lnTo>
                    <a:pt x="6248575" y="6857999"/>
                  </a:lnTo>
                  <a:lnTo>
                    <a:pt x="6477898" y="6700973"/>
                  </a:lnTo>
                  <a:cubicBezTo>
                    <a:pt x="6534790" y="6659378"/>
                    <a:pt x="6591336" y="6616237"/>
                    <a:pt x="6647884" y="6572752"/>
                  </a:cubicBezTo>
                  <a:cubicBezTo>
                    <a:pt x="6704432" y="6529268"/>
                    <a:pt x="6761151" y="6485095"/>
                    <a:pt x="6817698" y="6440235"/>
                  </a:cubicBezTo>
                  <a:lnTo>
                    <a:pt x="7161451" y="6165232"/>
                  </a:lnTo>
                  <a:close/>
                  <a:moveTo>
                    <a:pt x="1673436" y="0"/>
                  </a:moveTo>
                  <a:lnTo>
                    <a:pt x="2394951" y="0"/>
                  </a:lnTo>
                  <a:lnTo>
                    <a:pt x="2244659" y="100763"/>
                  </a:lnTo>
                  <a:cubicBezTo>
                    <a:pt x="2071051" y="224086"/>
                    <a:pt x="1903860" y="356975"/>
                    <a:pt x="1743903" y="498975"/>
                  </a:cubicBezTo>
                  <a:cubicBezTo>
                    <a:pt x="1533218" y="689638"/>
                    <a:pt x="1339146" y="897902"/>
                    <a:pt x="1163821" y="1121514"/>
                  </a:cubicBezTo>
                  <a:cubicBezTo>
                    <a:pt x="988284" y="1344764"/>
                    <a:pt x="834608" y="1584376"/>
                    <a:pt x="704911" y="1837036"/>
                  </a:cubicBezTo>
                  <a:cubicBezTo>
                    <a:pt x="573950" y="2089059"/>
                    <a:pt x="469577" y="2354041"/>
                    <a:pt x="393472" y="2627669"/>
                  </a:cubicBezTo>
                  <a:cubicBezTo>
                    <a:pt x="318269" y="2902842"/>
                    <a:pt x="280119" y="3186833"/>
                    <a:pt x="280032" y="3472097"/>
                  </a:cubicBezTo>
                  <a:cubicBezTo>
                    <a:pt x="280349" y="3610956"/>
                    <a:pt x="296380" y="3749334"/>
                    <a:pt x="327813" y="3884602"/>
                  </a:cubicBezTo>
                  <a:cubicBezTo>
                    <a:pt x="360878" y="4018046"/>
                    <a:pt x="408244" y="4147540"/>
                    <a:pt x="469096" y="4270809"/>
                  </a:cubicBezTo>
                  <a:cubicBezTo>
                    <a:pt x="499175" y="4332511"/>
                    <a:pt x="532347" y="4393012"/>
                    <a:pt x="567581" y="4452482"/>
                  </a:cubicBezTo>
                  <a:cubicBezTo>
                    <a:pt x="602815" y="4511953"/>
                    <a:pt x="641144" y="4570562"/>
                    <a:pt x="680677" y="4628484"/>
                  </a:cubicBezTo>
                  <a:cubicBezTo>
                    <a:pt x="760771" y="4743985"/>
                    <a:pt x="849802" y="4856048"/>
                    <a:pt x="941928" y="4968628"/>
                  </a:cubicBezTo>
                  <a:cubicBezTo>
                    <a:pt x="1034055" y="5081206"/>
                    <a:pt x="1130994" y="5193958"/>
                    <a:pt x="1224665" y="5311349"/>
                  </a:cubicBezTo>
                  <a:cubicBezTo>
                    <a:pt x="1271987" y="5369787"/>
                    <a:pt x="1318853" y="5429429"/>
                    <a:pt x="1365259" y="5490273"/>
                  </a:cubicBezTo>
                  <a:lnTo>
                    <a:pt x="1432808" y="5577931"/>
                  </a:lnTo>
                  <a:cubicBezTo>
                    <a:pt x="1454979" y="5605947"/>
                    <a:pt x="1476121" y="5634821"/>
                    <a:pt x="1498980" y="5662148"/>
                  </a:cubicBezTo>
                  <a:cubicBezTo>
                    <a:pt x="1676323" y="5880038"/>
                    <a:pt x="1866158" y="6087441"/>
                    <a:pt x="2067548" y="6283312"/>
                  </a:cubicBezTo>
                  <a:cubicBezTo>
                    <a:pt x="2166203" y="6379907"/>
                    <a:pt x="2266974" y="6473064"/>
                    <a:pt x="2369879" y="6562782"/>
                  </a:cubicBezTo>
                  <a:cubicBezTo>
                    <a:pt x="2473005" y="6652331"/>
                    <a:pt x="2577677" y="6738957"/>
                    <a:pt x="2686645" y="6820598"/>
                  </a:cubicBezTo>
                  <a:lnTo>
                    <a:pt x="2738907" y="6857999"/>
                  </a:lnTo>
                  <a:lnTo>
                    <a:pt x="1731787" y="6857999"/>
                  </a:lnTo>
                  <a:lnTo>
                    <a:pt x="1607949" y="6732770"/>
                  </a:lnTo>
                  <a:cubicBezTo>
                    <a:pt x="1501232" y="6617903"/>
                    <a:pt x="1401421" y="6496799"/>
                    <a:pt x="1309057" y="6370109"/>
                  </a:cubicBezTo>
                  <a:cubicBezTo>
                    <a:pt x="1217103" y="6244469"/>
                    <a:pt x="1129618" y="6116590"/>
                    <a:pt x="1048147" y="5986138"/>
                  </a:cubicBezTo>
                  <a:cubicBezTo>
                    <a:pt x="1027179" y="5953825"/>
                    <a:pt x="1007414" y="5920996"/>
                    <a:pt x="987131" y="5888512"/>
                  </a:cubicBezTo>
                  <a:lnTo>
                    <a:pt x="928866" y="5793463"/>
                  </a:lnTo>
                  <a:cubicBezTo>
                    <a:pt x="891568" y="5732276"/>
                    <a:pt x="852725" y="5671260"/>
                    <a:pt x="813708" y="5609556"/>
                  </a:cubicBezTo>
                  <a:lnTo>
                    <a:pt x="574972" y="5231598"/>
                  </a:lnTo>
                  <a:cubicBezTo>
                    <a:pt x="495221" y="5103551"/>
                    <a:pt x="416158" y="4971549"/>
                    <a:pt x="342424" y="4834048"/>
                  </a:cubicBezTo>
                  <a:cubicBezTo>
                    <a:pt x="305641" y="4765298"/>
                    <a:pt x="270236" y="4695343"/>
                    <a:pt x="237579" y="4623500"/>
                  </a:cubicBezTo>
                  <a:cubicBezTo>
                    <a:pt x="204922" y="4551655"/>
                    <a:pt x="175187" y="4478607"/>
                    <a:pt x="148373" y="4404356"/>
                  </a:cubicBezTo>
                  <a:cubicBezTo>
                    <a:pt x="121561" y="4330107"/>
                    <a:pt x="99046" y="4252934"/>
                    <a:pt x="79623" y="4175762"/>
                  </a:cubicBezTo>
                  <a:cubicBezTo>
                    <a:pt x="70514" y="4136916"/>
                    <a:pt x="61577" y="4098245"/>
                    <a:pt x="54185" y="4059229"/>
                  </a:cubicBezTo>
                  <a:lnTo>
                    <a:pt x="43013" y="4000790"/>
                  </a:lnTo>
                  <a:lnTo>
                    <a:pt x="33734" y="3942180"/>
                  </a:lnTo>
                  <a:cubicBezTo>
                    <a:pt x="10461" y="3786581"/>
                    <a:pt x="-801" y="3629416"/>
                    <a:pt x="45" y="3472097"/>
                  </a:cubicBezTo>
                  <a:cubicBezTo>
                    <a:pt x="863" y="3164748"/>
                    <a:pt x="32824" y="2858275"/>
                    <a:pt x="95436" y="2557372"/>
                  </a:cubicBezTo>
                  <a:cubicBezTo>
                    <a:pt x="157549" y="2255281"/>
                    <a:pt x="253728" y="1961216"/>
                    <a:pt x="382126" y="1680799"/>
                  </a:cubicBezTo>
                  <a:cubicBezTo>
                    <a:pt x="639940" y="1120482"/>
                    <a:pt x="1015492" y="619117"/>
                    <a:pt x="1457043" y="192176"/>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A77FC097-E4F2-4A45-82E8-3808FA553C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0650" y="-5799"/>
              <a:ext cx="7291350" cy="6858000"/>
            </a:xfrm>
            <a:custGeom>
              <a:avLst/>
              <a:gdLst>
                <a:gd name="connsiteX0" fmla="*/ 7291350 w 7291350"/>
                <a:gd name="connsiteY0" fmla="*/ 5718699 h 6858000"/>
                <a:gd name="connsiteX1" fmla="*/ 7291350 w 7291350"/>
                <a:gd name="connsiteY1" fmla="*/ 6806115 h 6858000"/>
                <a:gd name="connsiteX2" fmla="*/ 7224124 w 7291350"/>
                <a:gd name="connsiteY2" fmla="*/ 6858000 h 6858000"/>
                <a:gd name="connsiteX3" fmla="*/ 5607142 w 7291350"/>
                <a:gd name="connsiteY3" fmla="*/ 6858000 h 6858000"/>
                <a:gd name="connsiteX4" fmla="*/ 5736072 w 7291350"/>
                <a:gd name="connsiteY4" fmla="*/ 6801170 h 6858000"/>
                <a:gd name="connsiteX5" fmla="*/ 6949826 w 7291350"/>
                <a:gd name="connsiteY5" fmla="*/ 5983707 h 6858000"/>
                <a:gd name="connsiteX6" fmla="*/ 7220703 w 7291350"/>
                <a:gd name="connsiteY6" fmla="*/ 5773675 h 6858000"/>
                <a:gd name="connsiteX7" fmla="*/ 7218419 w 7291350"/>
                <a:gd name="connsiteY7" fmla="*/ 0 h 6858000"/>
                <a:gd name="connsiteX8" fmla="*/ 7291350 w 7291350"/>
                <a:gd name="connsiteY8" fmla="*/ 0 h 6858000"/>
                <a:gd name="connsiteX9" fmla="*/ 7291350 w 7291350"/>
                <a:gd name="connsiteY9" fmla="*/ 50138 h 6858000"/>
                <a:gd name="connsiteX10" fmla="*/ 1797607 w 7291350"/>
                <a:gd name="connsiteY10" fmla="*/ 0 h 6858000"/>
                <a:gd name="connsiteX11" fmla="*/ 3385676 w 7291350"/>
                <a:gd name="connsiteY11" fmla="*/ 0 h 6858000"/>
                <a:gd name="connsiteX12" fmla="*/ 3360567 w 7291350"/>
                <a:gd name="connsiteY12" fmla="*/ 11552 h 6858000"/>
                <a:gd name="connsiteX13" fmla="*/ 2267395 w 7291350"/>
                <a:gd name="connsiteY13" fmla="*/ 725831 h 6858000"/>
                <a:gd name="connsiteX14" fmla="*/ 1234074 w 7291350"/>
                <a:gd name="connsiteY14" fmla="*/ 2007171 h 6858000"/>
                <a:gd name="connsiteX15" fmla="*/ 859383 w 7291350"/>
                <a:gd name="connsiteY15" fmla="*/ 3498372 h 6858000"/>
                <a:gd name="connsiteX16" fmla="*/ 1479513 w 7291350"/>
                <a:gd name="connsiteY16" fmla="*/ 4883182 h 6858000"/>
                <a:gd name="connsiteX17" fmla="*/ 1791985 w 7291350"/>
                <a:gd name="connsiteY17" fmla="*/ 5322671 h 6858000"/>
                <a:gd name="connsiteX18" fmla="*/ 3397295 w 7291350"/>
                <a:gd name="connsiteY18" fmla="*/ 6784567 h 6858000"/>
                <a:gd name="connsiteX19" fmla="*/ 3590446 w 7291350"/>
                <a:gd name="connsiteY19" fmla="*/ 6858000 h 6858000"/>
                <a:gd name="connsiteX20" fmla="*/ 1970757 w 7291350"/>
                <a:gd name="connsiteY20" fmla="*/ 6858000 h 6858000"/>
                <a:gd name="connsiteX21" fmla="*/ 1735872 w 7291350"/>
                <a:gd name="connsiteY21" fmla="*/ 6627685 h 6858000"/>
                <a:gd name="connsiteX22" fmla="*/ 1080932 w 7291350"/>
                <a:gd name="connsiteY22" fmla="*/ 5805127 h 6858000"/>
                <a:gd name="connsiteX23" fmla="*/ 0 w 7291350"/>
                <a:gd name="connsiteY23" fmla="*/ 3498372 h 6858000"/>
                <a:gd name="connsiteX24" fmla="*/ 1708174 w 7291350"/>
                <a:gd name="connsiteY24" fmla="*/ 7330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291350" h="6858000">
                  <a:moveTo>
                    <a:pt x="7291350" y="5718699"/>
                  </a:moveTo>
                  <a:lnTo>
                    <a:pt x="7291350" y="6806115"/>
                  </a:lnTo>
                  <a:lnTo>
                    <a:pt x="7224124" y="6858000"/>
                  </a:lnTo>
                  <a:lnTo>
                    <a:pt x="5607142" y="6858000"/>
                  </a:lnTo>
                  <a:lnTo>
                    <a:pt x="5736072" y="6801170"/>
                  </a:lnTo>
                  <a:cubicBezTo>
                    <a:pt x="6122313" y="6616106"/>
                    <a:pt x="6503069" y="6332805"/>
                    <a:pt x="6949826" y="5983707"/>
                  </a:cubicBezTo>
                  <a:cubicBezTo>
                    <a:pt x="7041094" y="5912378"/>
                    <a:pt x="7132358" y="5842426"/>
                    <a:pt x="7220703" y="5773675"/>
                  </a:cubicBezTo>
                  <a:close/>
                  <a:moveTo>
                    <a:pt x="7218419" y="0"/>
                  </a:moveTo>
                  <a:lnTo>
                    <a:pt x="7291350" y="0"/>
                  </a:lnTo>
                  <a:lnTo>
                    <a:pt x="7291350" y="50138"/>
                  </a:lnTo>
                  <a:close/>
                  <a:moveTo>
                    <a:pt x="1797607" y="0"/>
                  </a:moveTo>
                  <a:lnTo>
                    <a:pt x="3385676" y="0"/>
                  </a:lnTo>
                  <a:lnTo>
                    <a:pt x="3360567" y="11552"/>
                  </a:lnTo>
                  <a:cubicBezTo>
                    <a:pt x="2968013" y="202286"/>
                    <a:pt x="2600620" y="442170"/>
                    <a:pt x="2267395" y="725831"/>
                  </a:cubicBezTo>
                  <a:cubicBezTo>
                    <a:pt x="1824986" y="1104820"/>
                    <a:pt x="1477279" y="1536057"/>
                    <a:pt x="1234074" y="2007171"/>
                  </a:cubicBezTo>
                  <a:cubicBezTo>
                    <a:pt x="985368" y="2488770"/>
                    <a:pt x="859383" y="2990476"/>
                    <a:pt x="859383" y="3498372"/>
                  </a:cubicBezTo>
                  <a:cubicBezTo>
                    <a:pt x="859383" y="4010222"/>
                    <a:pt x="1060651" y="4308942"/>
                    <a:pt x="1479513" y="4883182"/>
                  </a:cubicBezTo>
                  <a:cubicBezTo>
                    <a:pt x="1580577" y="5021714"/>
                    <a:pt x="1685078" y="5164888"/>
                    <a:pt x="1791985" y="5322671"/>
                  </a:cubicBezTo>
                  <a:cubicBezTo>
                    <a:pt x="2283419" y="6046950"/>
                    <a:pt x="2796809" y="6521439"/>
                    <a:pt x="3397295" y="6784567"/>
                  </a:cubicBezTo>
                  <a:lnTo>
                    <a:pt x="3590446" y="6858000"/>
                  </a:lnTo>
                  <a:lnTo>
                    <a:pt x="1970757" y="6858000"/>
                  </a:lnTo>
                  <a:lnTo>
                    <a:pt x="1735872" y="6627685"/>
                  </a:lnTo>
                  <a:cubicBezTo>
                    <a:pt x="1502484" y="6382823"/>
                    <a:pt x="1285774" y="6107254"/>
                    <a:pt x="1080932" y="5805127"/>
                  </a:cubicBezTo>
                  <a:cubicBezTo>
                    <a:pt x="556365" y="5032027"/>
                    <a:pt x="0" y="4501616"/>
                    <a:pt x="0" y="3498372"/>
                  </a:cubicBezTo>
                  <a:cubicBezTo>
                    <a:pt x="0" y="2160829"/>
                    <a:pt x="685186" y="949872"/>
                    <a:pt x="1708174" y="7330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D0DF88B0-FA8A-47F5-8EAC-1880B1A51B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2894" y="-5799"/>
              <a:ext cx="7269107" cy="6858000"/>
            </a:xfrm>
            <a:custGeom>
              <a:avLst/>
              <a:gdLst>
                <a:gd name="connsiteX0" fmla="*/ 7269107 w 7269107"/>
                <a:gd name="connsiteY0" fmla="*/ 5518449 h 6858000"/>
                <a:gd name="connsiteX1" fmla="*/ 7269107 w 7269107"/>
                <a:gd name="connsiteY1" fmla="*/ 6823281 h 6858000"/>
                <a:gd name="connsiteX2" fmla="*/ 7224122 w 7269107"/>
                <a:gd name="connsiteY2" fmla="*/ 6858000 h 6858000"/>
                <a:gd name="connsiteX3" fmla="*/ 4927054 w 7269107"/>
                <a:gd name="connsiteY3" fmla="*/ 6858000 h 6858000"/>
                <a:gd name="connsiteX4" fmla="*/ 4982167 w 7269107"/>
                <a:gd name="connsiteY4" fmla="*/ 6852876 h 6858000"/>
                <a:gd name="connsiteX5" fmla="*/ 5743768 w 7269107"/>
                <a:gd name="connsiteY5" fmla="*/ 6606245 h 6858000"/>
                <a:gd name="connsiteX6" fmla="*/ 6843778 w 7269107"/>
                <a:gd name="connsiteY6" fmla="*/ 5848440 h 6858000"/>
                <a:gd name="connsiteX7" fmla="*/ 7115515 w 7269107"/>
                <a:gd name="connsiteY7" fmla="*/ 5637891 h 6858000"/>
                <a:gd name="connsiteX8" fmla="*/ 6870111 w 7269107"/>
                <a:gd name="connsiteY8" fmla="*/ 0 h 6858000"/>
                <a:gd name="connsiteX9" fmla="*/ 7269107 w 7269107"/>
                <a:gd name="connsiteY9" fmla="*/ 0 h 6858000"/>
                <a:gd name="connsiteX10" fmla="*/ 7269107 w 7269107"/>
                <a:gd name="connsiteY10" fmla="*/ 243137 h 6858000"/>
                <a:gd name="connsiteX11" fmla="*/ 7089989 w 7269107"/>
                <a:gd name="connsiteY11" fmla="*/ 119955 h 6858000"/>
                <a:gd name="connsiteX12" fmla="*/ 6952948 w 7269107"/>
                <a:gd name="connsiteY12" fmla="*/ 41521 h 6858000"/>
                <a:gd name="connsiteX13" fmla="*/ 1797606 w 7269107"/>
                <a:gd name="connsiteY13" fmla="*/ 0 h 6858000"/>
                <a:gd name="connsiteX14" fmla="*/ 3815328 w 7269107"/>
                <a:gd name="connsiteY14" fmla="*/ 0 h 6858000"/>
                <a:gd name="connsiteX15" fmla="*/ 3627371 w 7269107"/>
                <a:gd name="connsiteY15" fmla="*/ 77142 h 6858000"/>
                <a:gd name="connsiteX16" fmla="*/ 2379115 w 7269107"/>
                <a:gd name="connsiteY16" fmla="*/ 856285 h 6858000"/>
                <a:gd name="connsiteX17" fmla="*/ 1386699 w 7269107"/>
                <a:gd name="connsiteY17" fmla="*/ 2086062 h 6858000"/>
                <a:gd name="connsiteX18" fmla="*/ 1031258 w 7269107"/>
                <a:gd name="connsiteY18" fmla="*/ 3498372 h 6858000"/>
                <a:gd name="connsiteX19" fmla="*/ 1618904 w 7269107"/>
                <a:gd name="connsiteY19" fmla="*/ 4781604 h 6858000"/>
                <a:gd name="connsiteX20" fmla="*/ 1934812 w 7269107"/>
                <a:gd name="connsiteY20" fmla="*/ 5225904 h 6858000"/>
                <a:gd name="connsiteX21" fmla="*/ 3140010 w 7269107"/>
                <a:gd name="connsiteY21" fmla="*/ 6456196 h 6858000"/>
                <a:gd name="connsiteX22" fmla="*/ 4281662 w 7269107"/>
                <a:gd name="connsiteY22" fmla="*/ 6843305 h 6858000"/>
                <a:gd name="connsiteX23" fmla="*/ 4449058 w 7269107"/>
                <a:gd name="connsiteY23" fmla="*/ 6858000 h 6858000"/>
                <a:gd name="connsiteX24" fmla="*/ 1970756 w 7269107"/>
                <a:gd name="connsiteY24" fmla="*/ 6858000 h 6858000"/>
                <a:gd name="connsiteX25" fmla="*/ 1735871 w 7269107"/>
                <a:gd name="connsiteY25" fmla="*/ 6627685 h 6858000"/>
                <a:gd name="connsiteX26" fmla="*/ 1080930 w 7269107"/>
                <a:gd name="connsiteY26" fmla="*/ 5805127 h 6858000"/>
                <a:gd name="connsiteX27" fmla="*/ 0 w 7269107"/>
                <a:gd name="connsiteY27" fmla="*/ 3498372 h 6858000"/>
                <a:gd name="connsiteX28" fmla="*/ 1708172 w 7269107"/>
                <a:gd name="connsiteY28" fmla="*/ 7330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269107" h="6858000">
                  <a:moveTo>
                    <a:pt x="7269107" y="5518449"/>
                  </a:moveTo>
                  <a:lnTo>
                    <a:pt x="7269107" y="6823281"/>
                  </a:lnTo>
                  <a:lnTo>
                    <a:pt x="7224122" y="6858000"/>
                  </a:lnTo>
                  <a:lnTo>
                    <a:pt x="4927054" y="6858000"/>
                  </a:lnTo>
                  <a:lnTo>
                    <a:pt x="4982167" y="6852876"/>
                  </a:lnTo>
                  <a:cubicBezTo>
                    <a:pt x="5236517" y="6821036"/>
                    <a:pt x="5483373" y="6740566"/>
                    <a:pt x="5743768" y="6606245"/>
                  </a:cubicBezTo>
                  <a:cubicBezTo>
                    <a:pt x="6099551" y="6422337"/>
                    <a:pt x="6452586" y="6154209"/>
                    <a:pt x="6843778" y="5848440"/>
                  </a:cubicBezTo>
                  <a:cubicBezTo>
                    <a:pt x="6935559" y="5776768"/>
                    <a:pt x="7026997" y="5706642"/>
                    <a:pt x="7115515" y="5637891"/>
                  </a:cubicBezTo>
                  <a:close/>
                  <a:moveTo>
                    <a:pt x="6870111" y="0"/>
                  </a:moveTo>
                  <a:lnTo>
                    <a:pt x="7269107" y="0"/>
                  </a:lnTo>
                  <a:lnTo>
                    <a:pt x="7269107" y="243137"/>
                  </a:lnTo>
                  <a:lnTo>
                    <a:pt x="7089989" y="119955"/>
                  </a:lnTo>
                  <a:cubicBezTo>
                    <a:pt x="7045081" y="92581"/>
                    <a:pt x="6999384" y="66425"/>
                    <a:pt x="6952948" y="41521"/>
                  </a:cubicBezTo>
                  <a:close/>
                  <a:moveTo>
                    <a:pt x="1797606" y="0"/>
                  </a:moveTo>
                  <a:lnTo>
                    <a:pt x="3815328" y="0"/>
                  </a:lnTo>
                  <a:lnTo>
                    <a:pt x="3627371" y="77142"/>
                  </a:lnTo>
                  <a:cubicBezTo>
                    <a:pt x="3175548" y="273822"/>
                    <a:pt x="2754868" y="536281"/>
                    <a:pt x="2379115" y="856285"/>
                  </a:cubicBezTo>
                  <a:cubicBezTo>
                    <a:pt x="1959736" y="1215679"/>
                    <a:pt x="1616497" y="1640901"/>
                    <a:pt x="1386699" y="2086062"/>
                  </a:cubicBezTo>
                  <a:cubicBezTo>
                    <a:pt x="1151572" y="2543083"/>
                    <a:pt x="1031258" y="3018150"/>
                    <a:pt x="1031258" y="3498372"/>
                  </a:cubicBezTo>
                  <a:cubicBezTo>
                    <a:pt x="1031258" y="3957455"/>
                    <a:pt x="1211213" y="4223692"/>
                    <a:pt x="1618904" y="4781604"/>
                  </a:cubicBezTo>
                  <a:cubicBezTo>
                    <a:pt x="1720826" y="4921339"/>
                    <a:pt x="1826186" y="5065887"/>
                    <a:pt x="1934812" y="5225904"/>
                  </a:cubicBezTo>
                  <a:cubicBezTo>
                    <a:pt x="2318957" y="5792064"/>
                    <a:pt x="2713069" y="6194600"/>
                    <a:pt x="3140010" y="6456196"/>
                  </a:cubicBezTo>
                  <a:cubicBezTo>
                    <a:pt x="3479423" y="6664512"/>
                    <a:pt x="3855769" y="6792387"/>
                    <a:pt x="4281662" y="6843305"/>
                  </a:cubicBezTo>
                  <a:lnTo>
                    <a:pt x="4449058" y="6858000"/>
                  </a:lnTo>
                  <a:lnTo>
                    <a:pt x="1970756" y="6858000"/>
                  </a:lnTo>
                  <a:lnTo>
                    <a:pt x="1735871" y="6627685"/>
                  </a:lnTo>
                  <a:cubicBezTo>
                    <a:pt x="1502482" y="6382823"/>
                    <a:pt x="1285773" y="6107254"/>
                    <a:pt x="1080930" y="5805127"/>
                  </a:cubicBezTo>
                  <a:cubicBezTo>
                    <a:pt x="556364" y="5032027"/>
                    <a:pt x="0" y="4501616"/>
                    <a:pt x="0" y="3498372"/>
                  </a:cubicBezTo>
                  <a:cubicBezTo>
                    <a:pt x="0" y="2160829"/>
                    <a:pt x="685185" y="949872"/>
                    <a:pt x="1708172" y="73302"/>
                  </a:cubicBezTo>
                  <a:close/>
                </a:path>
              </a:pathLst>
            </a:custGeom>
            <a:gradFill>
              <a:gsLst>
                <a:gs pos="2000">
                  <a:schemeClr val="bg1">
                    <a:alpha val="10000"/>
                  </a:schemeClr>
                </a:gs>
                <a:gs pos="5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 name="Espace réservé du contenu 2">
            <a:extLst>
              <a:ext uri="{FF2B5EF4-FFF2-40B4-BE49-F238E27FC236}">
                <a16:creationId xmlns:a16="http://schemas.microsoft.com/office/drawing/2014/main" id="{FD0AFD49-4205-1218-BC36-ABAC463B3D5A}"/>
              </a:ext>
            </a:extLst>
          </p:cNvPr>
          <p:cNvSpPr>
            <a:spLocks noGrp="1"/>
          </p:cNvSpPr>
          <p:nvPr>
            <p:ph idx="1"/>
          </p:nvPr>
        </p:nvSpPr>
        <p:spPr>
          <a:xfrm>
            <a:off x="6632812" y="1032987"/>
            <a:ext cx="4919108" cy="4792027"/>
          </a:xfrm>
        </p:spPr>
        <p:txBody>
          <a:bodyPr vert="horz" lIns="91440" tIns="45720" rIns="91440" bIns="45720" rtlCol="0" anchor="ctr">
            <a:normAutofit/>
          </a:bodyPr>
          <a:lstStyle/>
          <a:p>
            <a:r>
              <a:rPr lang="fr-FR" sz="2000" dirty="0">
                <a:solidFill>
                  <a:schemeClr val="tx2"/>
                </a:solidFill>
                <a:ea typeface="+mn-lt"/>
                <a:cs typeface="+mn-lt"/>
              </a:rPr>
              <a:t>Crée une entreprise, prend des risques</a:t>
            </a:r>
          </a:p>
          <a:p>
            <a:r>
              <a:rPr lang="fr-FR" sz="2000" dirty="0">
                <a:solidFill>
                  <a:schemeClr val="tx2"/>
                </a:solidFill>
                <a:ea typeface="+mn-lt"/>
                <a:cs typeface="+mn-lt"/>
              </a:rPr>
              <a:t>Identifie une opportunité et développe les projets</a:t>
            </a:r>
          </a:p>
          <a:p>
            <a:r>
              <a:rPr lang="fr-FR" sz="2000" dirty="0">
                <a:solidFill>
                  <a:schemeClr val="tx2"/>
                </a:solidFill>
                <a:ea typeface="+mn-lt"/>
                <a:cs typeface="+mn-lt"/>
              </a:rPr>
              <a:t>Assume les échecs de son entreprise </a:t>
            </a:r>
          </a:p>
          <a:p>
            <a:r>
              <a:rPr lang="fr-FR" sz="2000" dirty="0">
                <a:solidFill>
                  <a:schemeClr val="tx2"/>
                </a:solidFill>
                <a:ea typeface="+mn-lt"/>
                <a:cs typeface="+mn-lt"/>
              </a:rPr>
              <a:t>Manager + entrepreneur</a:t>
            </a:r>
          </a:p>
        </p:txBody>
      </p:sp>
    </p:spTree>
    <p:extLst>
      <p:ext uri="{BB962C8B-B14F-4D97-AF65-F5344CB8AC3E}">
        <p14:creationId xmlns:p14="http://schemas.microsoft.com/office/powerpoint/2010/main" val="30062030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51171BE9-2078-315F-3822-32CDE1C40491}"/>
              </a:ext>
            </a:extLst>
          </p:cNvPr>
          <p:cNvSpPr>
            <a:spLocks noGrp="1"/>
          </p:cNvSpPr>
          <p:nvPr>
            <p:ph type="title"/>
          </p:nvPr>
        </p:nvSpPr>
        <p:spPr>
          <a:xfrm>
            <a:off x="621792" y="1161288"/>
            <a:ext cx="3602736" cy="4526280"/>
          </a:xfrm>
        </p:spPr>
        <p:txBody>
          <a:bodyPr>
            <a:normAutofit/>
          </a:bodyPr>
          <a:lstStyle/>
          <a:p>
            <a:r>
              <a:rPr lang="fr-FR" sz="4000"/>
              <a:t>Pérennité</a:t>
            </a:r>
          </a:p>
        </p:txBody>
      </p:sp>
      <p:graphicFrame>
        <p:nvGraphicFramePr>
          <p:cNvPr id="5" name="Espace réservé du contenu 2">
            <a:extLst>
              <a:ext uri="{FF2B5EF4-FFF2-40B4-BE49-F238E27FC236}">
                <a16:creationId xmlns:a16="http://schemas.microsoft.com/office/drawing/2014/main" id="{3FE6E5B6-A23B-FDE5-5259-FB303442318E}"/>
              </a:ext>
            </a:extLst>
          </p:cNvPr>
          <p:cNvGraphicFramePr>
            <a:graphicFrameLocks noGrp="1"/>
          </p:cNvGraphicFramePr>
          <p:nvPr>
            <p:ph idx="1"/>
            <p:extLst>
              <p:ext uri="{D42A27DB-BD31-4B8C-83A1-F6EECF244321}">
                <p14:modId xmlns:p14="http://schemas.microsoft.com/office/powerpoint/2010/main" val="2880251182"/>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231068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51922D2-D397-9EA4-A66D-55B0884D1A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A39A3C72-D281-AB31-7F18-0E1496EF78C7}"/>
              </a:ext>
            </a:extLst>
          </p:cNvPr>
          <p:cNvSpPr>
            <a:spLocks noGrp="1"/>
          </p:cNvSpPr>
          <p:nvPr>
            <p:ph type="title"/>
          </p:nvPr>
        </p:nvSpPr>
        <p:spPr>
          <a:xfrm>
            <a:off x="612649" y="548639"/>
            <a:ext cx="3494314" cy="5786638"/>
          </a:xfrm>
        </p:spPr>
        <p:txBody>
          <a:bodyPr anchor="t">
            <a:normAutofit/>
          </a:bodyPr>
          <a:lstStyle/>
          <a:p>
            <a:r>
              <a:rPr lang="fr-FR">
                <a:latin typeface="Calibri"/>
                <a:ea typeface="Calibri"/>
                <a:cs typeface="Calibri"/>
              </a:rPr>
              <a:t>Les principaux déséquilibres qui impactent l’entreprise</a:t>
            </a:r>
          </a:p>
        </p:txBody>
      </p:sp>
      <p:graphicFrame>
        <p:nvGraphicFramePr>
          <p:cNvPr id="5" name="Espace réservé du contenu 2">
            <a:extLst>
              <a:ext uri="{FF2B5EF4-FFF2-40B4-BE49-F238E27FC236}">
                <a16:creationId xmlns:a16="http://schemas.microsoft.com/office/drawing/2014/main" id="{695F063A-C182-45F3-4355-511AB7651DC0}"/>
              </a:ext>
            </a:extLst>
          </p:cNvPr>
          <p:cNvGraphicFramePr>
            <a:graphicFrameLocks noGrp="1"/>
          </p:cNvGraphicFramePr>
          <p:nvPr>
            <p:ph idx="1"/>
            <p:extLst>
              <p:ext uri="{D42A27DB-BD31-4B8C-83A1-F6EECF244321}">
                <p14:modId xmlns:p14="http://schemas.microsoft.com/office/powerpoint/2010/main" val="1466785522"/>
              </p:ext>
            </p:extLst>
          </p:nvPr>
        </p:nvGraphicFramePr>
        <p:xfrm>
          <a:off x="4608246" y="548640"/>
          <a:ext cx="6949440" cy="57866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910785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89C5E17-24D0-4696-A3C5-A2261FB455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929B58F-2358-44CC-ACE5-EF1BD3C6C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re 1">
            <a:extLst>
              <a:ext uri="{FF2B5EF4-FFF2-40B4-BE49-F238E27FC236}">
                <a16:creationId xmlns:a16="http://schemas.microsoft.com/office/drawing/2014/main" id="{3968BBCD-65F5-C807-B87E-6D5118923BFD}"/>
              </a:ext>
            </a:extLst>
          </p:cNvPr>
          <p:cNvSpPr>
            <a:spLocks noGrp="1"/>
          </p:cNvSpPr>
          <p:nvPr>
            <p:ph type="title"/>
          </p:nvPr>
        </p:nvSpPr>
        <p:spPr>
          <a:xfrm>
            <a:off x="804672" y="1243013"/>
            <a:ext cx="3855720" cy="4371974"/>
          </a:xfrm>
        </p:spPr>
        <p:txBody>
          <a:bodyPr>
            <a:normAutofit/>
          </a:bodyPr>
          <a:lstStyle/>
          <a:p>
            <a:r>
              <a:rPr lang="fr-FR" sz="3600">
                <a:solidFill>
                  <a:schemeClr val="tx2"/>
                </a:solidFill>
              </a:rPr>
              <a:t>Impots / Taxes / Cotisations Sociale</a:t>
            </a:r>
          </a:p>
        </p:txBody>
      </p:sp>
      <p:grpSp>
        <p:nvGrpSpPr>
          <p:cNvPr id="12" name="Group 11">
            <a:extLst>
              <a:ext uri="{FF2B5EF4-FFF2-40B4-BE49-F238E27FC236}">
                <a16:creationId xmlns:a16="http://schemas.microsoft.com/office/drawing/2014/main" id="{09DA5303-A1AF-4830-806C-51FCD96188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897348" y="5285"/>
            <a:ext cx="7294653" cy="6858000"/>
            <a:chOff x="4897348" y="-5799"/>
            <a:chExt cx="7294653" cy="6858000"/>
          </a:xfrm>
        </p:grpSpPr>
        <p:sp>
          <p:nvSpPr>
            <p:cNvPr id="13" name="Freeform: Shape 12">
              <a:extLst>
                <a:ext uri="{FF2B5EF4-FFF2-40B4-BE49-F238E27FC236}">
                  <a16:creationId xmlns:a16="http://schemas.microsoft.com/office/drawing/2014/main" id="{4FAAA8C8-4EB7-45F1-BF24-3EF0F4DC4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7348" y="-5798"/>
              <a:ext cx="7294652" cy="6857999"/>
            </a:xfrm>
            <a:custGeom>
              <a:avLst/>
              <a:gdLst>
                <a:gd name="connsiteX0" fmla="*/ 7294652 w 7294652"/>
                <a:gd name="connsiteY0" fmla="*/ 6063030 h 6857999"/>
                <a:gd name="connsiteX1" fmla="*/ 7294652 w 7294652"/>
                <a:gd name="connsiteY1" fmla="*/ 6857999 h 6857999"/>
                <a:gd name="connsiteX2" fmla="*/ 6248575 w 7294652"/>
                <a:gd name="connsiteY2" fmla="*/ 6857999 h 6857999"/>
                <a:gd name="connsiteX3" fmla="*/ 6477898 w 7294652"/>
                <a:gd name="connsiteY3" fmla="*/ 6700973 h 6857999"/>
                <a:gd name="connsiteX4" fmla="*/ 6647884 w 7294652"/>
                <a:gd name="connsiteY4" fmla="*/ 6572752 h 6857999"/>
                <a:gd name="connsiteX5" fmla="*/ 6817698 w 7294652"/>
                <a:gd name="connsiteY5" fmla="*/ 6440235 h 6857999"/>
                <a:gd name="connsiteX6" fmla="*/ 7161451 w 7294652"/>
                <a:gd name="connsiteY6" fmla="*/ 6165232 h 6857999"/>
                <a:gd name="connsiteX7" fmla="*/ 1673436 w 7294652"/>
                <a:gd name="connsiteY7" fmla="*/ 0 h 6857999"/>
                <a:gd name="connsiteX8" fmla="*/ 2394951 w 7294652"/>
                <a:gd name="connsiteY8" fmla="*/ 0 h 6857999"/>
                <a:gd name="connsiteX9" fmla="*/ 2244659 w 7294652"/>
                <a:gd name="connsiteY9" fmla="*/ 100763 h 6857999"/>
                <a:gd name="connsiteX10" fmla="*/ 1743903 w 7294652"/>
                <a:gd name="connsiteY10" fmla="*/ 498975 h 6857999"/>
                <a:gd name="connsiteX11" fmla="*/ 1163821 w 7294652"/>
                <a:gd name="connsiteY11" fmla="*/ 1121514 h 6857999"/>
                <a:gd name="connsiteX12" fmla="*/ 704911 w 7294652"/>
                <a:gd name="connsiteY12" fmla="*/ 1837036 h 6857999"/>
                <a:gd name="connsiteX13" fmla="*/ 393472 w 7294652"/>
                <a:gd name="connsiteY13" fmla="*/ 2627669 h 6857999"/>
                <a:gd name="connsiteX14" fmla="*/ 280032 w 7294652"/>
                <a:gd name="connsiteY14" fmla="*/ 3472097 h 6857999"/>
                <a:gd name="connsiteX15" fmla="*/ 327813 w 7294652"/>
                <a:gd name="connsiteY15" fmla="*/ 3884602 h 6857999"/>
                <a:gd name="connsiteX16" fmla="*/ 469096 w 7294652"/>
                <a:gd name="connsiteY16" fmla="*/ 4270809 h 6857999"/>
                <a:gd name="connsiteX17" fmla="*/ 567581 w 7294652"/>
                <a:gd name="connsiteY17" fmla="*/ 4452482 h 6857999"/>
                <a:gd name="connsiteX18" fmla="*/ 680677 w 7294652"/>
                <a:gd name="connsiteY18" fmla="*/ 4628484 h 6857999"/>
                <a:gd name="connsiteX19" fmla="*/ 941928 w 7294652"/>
                <a:gd name="connsiteY19" fmla="*/ 4968628 h 6857999"/>
                <a:gd name="connsiteX20" fmla="*/ 1224665 w 7294652"/>
                <a:gd name="connsiteY20" fmla="*/ 5311349 h 6857999"/>
                <a:gd name="connsiteX21" fmla="*/ 1365259 w 7294652"/>
                <a:gd name="connsiteY21" fmla="*/ 5490273 h 6857999"/>
                <a:gd name="connsiteX22" fmla="*/ 1432808 w 7294652"/>
                <a:gd name="connsiteY22" fmla="*/ 5577931 h 6857999"/>
                <a:gd name="connsiteX23" fmla="*/ 1498980 w 7294652"/>
                <a:gd name="connsiteY23" fmla="*/ 5662148 h 6857999"/>
                <a:gd name="connsiteX24" fmla="*/ 2067548 w 7294652"/>
                <a:gd name="connsiteY24" fmla="*/ 6283312 h 6857999"/>
                <a:gd name="connsiteX25" fmla="*/ 2369879 w 7294652"/>
                <a:gd name="connsiteY25" fmla="*/ 6562782 h 6857999"/>
                <a:gd name="connsiteX26" fmla="*/ 2686645 w 7294652"/>
                <a:gd name="connsiteY26" fmla="*/ 6820598 h 6857999"/>
                <a:gd name="connsiteX27" fmla="*/ 2738907 w 7294652"/>
                <a:gd name="connsiteY27" fmla="*/ 6857999 h 6857999"/>
                <a:gd name="connsiteX28" fmla="*/ 1731787 w 7294652"/>
                <a:gd name="connsiteY28" fmla="*/ 6857999 h 6857999"/>
                <a:gd name="connsiteX29" fmla="*/ 1607949 w 7294652"/>
                <a:gd name="connsiteY29" fmla="*/ 6732770 h 6857999"/>
                <a:gd name="connsiteX30" fmla="*/ 1309057 w 7294652"/>
                <a:gd name="connsiteY30" fmla="*/ 6370109 h 6857999"/>
                <a:gd name="connsiteX31" fmla="*/ 1048147 w 7294652"/>
                <a:gd name="connsiteY31" fmla="*/ 5986138 h 6857999"/>
                <a:gd name="connsiteX32" fmla="*/ 987131 w 7294652"/>
                <a:gd name="connsiteY32" fmla="*/ 5888512 h 6857999"/>
                <a:gd name="connsiteX33" fmla="*/ 928866 w 7294652"/>
                <a:gd name="connsiteY33" fmla="*/ 5793463 h 6857999"/>
                <a:gd name="connsiteX34" fmla="*/ 813708 w 7294652"/>
                <a:gd name="connsiteY34" fmla="*/ 5609556 h 6857999"/>
                <a:gd name="connsiteX35" fmla="*/ 574972 w 7294652"/>
                <a:gd name="connsiteY35" fmla="*/ 5231598 h 6857999"/>
                <a:gd name="connsiteX36" fmla="*/ 342424 w 7294652"/>
                <a:gd name="connsiteY36" fmla="*/ 4834048 h 6857999"/>
                <a:gd name="connsiteX37" fmla="*/ 237579 w 7294652"/>
                <a:gd name="connsiteY37" fmla="*/ 4623500 h 6857999"/>
                <a:gd name="connsiteX38" fmla="*/ 148373 w 7294652"/>
                <a:gd name="connsiteY38" fmla="*/ 4404356 h 6857999"/>
                <a:gd name="connsiteX39" fmla="*/ 79623 w 7294652"/>
                <a:gd name="connsiteY39" fmla="*/ 4175762 h 6857999"/>
                <a:gd name="connsiteX40" fmla="*/ 54185 w 7294652"/>
                <a:gd name="connsiteY40" fmla="*/ 4059229 h 6857999"/>
                <a:gd name="connsiteX41" fmla="*/ 43013 w 7294652"/>
                <a:gd name="connsiteY41" fmla="*/ 4000790 h 6857999"/>
                <a:gd name="connsiteX42" fmla="*/ 33734 w 7294652"/>
                <a:gd name="connsiteY42" fmla="*/ 3942180 h 6857999"/>
                <a:gd name="connsiteX43" fmla="*/ 45 w 7294652"/>
                <a:gd name="connsiteY43" fmla="*/ 3472097 h 6857999"/>
                <a:gd name="connsiteX44" fmla="*/ 95436 w 7294652"/>
                <a:gd name="connsiteY44" fmla="*/ 2557372 h 6857999"/>
                <a:gd name="connsiteX45" fmla="*/ 382126 w 7294652"/>
                <a:gd name="connsiteY45" fmla="*/ 1680799 h 6857999"/>
                <a:gd name="connsiteX46" fmla="*/ 1457043 w 7294652"/>
                <a:gd name="connsiteY46" fmla="*/ 19217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7294652" h="6857999">
                  <a:moveTo>
                    <a:pt x="7294652" y="6063030"/>
                  </a:moveTo>
                  <a:lnTo>
                    <a:pt x="7294652" y="6857999"/>
                  </a:lnTo>
                  <a:lnTo>
                    <a:pt x="6248575" y="6857999"/>
                  </a:lnTo>
                  <a:lnTo>
                    <a:pt x="6477898" y="6700973"/>
                  </a:lnTo>
                  <a:cubicBezTo>
                    <a:pt x="6534790" y="6659378"/>
                    <a:pt x="6591336" y="6616237"/>
                    <a:pt x="6647884" y="6572752"/>
                  </a:cubicBezTo>
                  <a:cubicBezTo>
                    <a:pt x="6704432" y="6529268"/>
                    <a:pt x="6761151" y="6485095"/>
                    <a:pt x="6817698" y="6440235"/>
                  </a:cubicBezTo>
                  <a:lnTo>
                    <a:pt x="7161451" y="6165232"/>
                  </a:lnTo>
                  <a:close/>
                  <a:moveTo>
                    <a:pt x="1673436" y="0"/>
                  </a:moveTo>
                  <a:lnTo>
                    <a:pt x="2394951" y="0"/>
                  </a:lnTo>
                  <a:lnTo>
                    <a:pt x="2244659" y="100763"/>
                  </a:lnTo>
                  <a:cubicBezTo>
                    <a:pt x="2071051" y="224086"/>
                    <a:pt x="1903860" y="356975"/>
                    <a:pt x="1743903" y="498975"/>
                  </a:cubicBezTo>
                  <a:cubicBezTo>
                    <a:pt x="1533218" y="689638"/>
                    <a:pt x="1339146" y="897902"/>
                    <a:pt x="1163821" y="1121514"/>
                  </a:cubicBezTo>
                  <a:cubicBezTo>
                    <a:pt x="988284" y="1344764"/>
                    <a:pt x="834608" y="1584376"/>
                    <a:pt x="704911" y="1837036"/>
                  </a:cubicBezTo>
                  <a:cubicBezTo>
                    <a:pt x="573950" y="2089059"/>
                    <a:pt x="469577" y="2354041"/>
                    <a:pt x="393472" y="2627669"/>
                  </a:cubicBezTo>
                  <a:cubicBezTo>
                    <a:pt x="318269" y="2902842"/>
                    <a:pt x="280119" y="3186833"/>
                    <a:pt x="280032" y="3472097"/>
                  </a:cubicBezTo>
                  <a:cubicBezTo>
                    <a:pt x="280349" y="3610956"/>
                    <a:pt x="296380" y="3749334"/>
                    <a:pt x="327813" y="3884602"/>
                  </a:cubicBezTo>
                  <a:cubicBezTo>
                    <a:pt x="360878" y="4018046"/>
                    <a:pt x="408244" y="4147540"/>
                    <a:pt x="469096" y="4270809"/>
                  </a:cubicBezTo>
                  <a:cubicBezTo>
                    <a:pt x="499175" y="4332511"/>
                    <a:pt x="532347" y="4393012"/>
                    <a:pt x="567581" y="4452482"/>
                  </a:cubicBezTo>
                  <a:cubicBezTo>
                    <a:pt x="602815" y="4511953"/>
                    <a:pt x="641144" y="4570562"/>
                    <a:pt x="680677" y="4628484"/>
                  </a:cubicBezTo>
                  <a:cubicBezTo>
                    <a:pt x="760771" y="4743985"/>
                    <a:pt x="849802" y="4856048"/>
                    <a:pt x="941928" y="4968628"/>
                  </a:cubicBezTo>
                  <a:cubicBezTo>
                    <a:pt x="1034055" y="5081206"/>
                    <a:pt x="1130994" y="5193958"/>
                    <a:pt x="1224665" y="5311349"/>
                  </a:cubicBezTo>
                  <a:cubicBezTo>
                    <a:pt x="1271987" y="5369787"/>
                    <a:pt x="1318853" y="5429429"/>
                    <a:pt x="1365259" y="5490273"/>
                  </a:cubicBezTo>
                  <a:lnTo>
                    <a:pt x="1432808" y="5577931"/>
                  </a:lnTo>
                  <a:cubicBezTo>
                    <a:pt x="1454979" y="5605947"/>
                    <a:pt x="1476121" y="5634821"/>
                    <a:pt x="1498980" y="5662148"/>
                  </a:cubicBezTo>
                  <a:cubicBezTo>
                    <a:pt x="1676323" y="5880038"/>
                    <a:pt x="1866158" y="6087441"/>
                    <a:pt x="2067548" y="6283312"/>
                  </a:cubicBezTo>
                  <a:cubicBezTo>
                    <a:pt x="2166203" y="6379907"/>
                    <a:pt x="2266974" y="6473064"/>
                    <a:pt x="2369879" y="6562782"/>
                  </a:cubicBezTo>
                  <a:cubicBezTo>
                    <a:pt x="2473005" y="6652331"/>
                    <a:pt x="2577677" y="6738957"/>
                    <a:pt x="2686645" y="6820598"/>
                  </a:cubicBezTo>
                  <a:lnTo>
                    <a:pt x="2738907" y="6857999"/>
                  </a:lnTo>
                  <a:lnTo>
                    <a:pt x="1731787" y="6857999"/>
                  </a:lnTo>
                  <a:lnTo>
                    <a:pt x="1607949" y="6732770"/>
                  </a:lnTo>
                  <a:cubicBezTo>
                    <a:pt x="1501232" y="6617903"/>
                    <a:pt x="1401421" y="6496799"/>
                    <a:pt x="1309057" y="6370109"/>
                  </a:cubicBezTo>
                  <a:cubicBezTo>
                    <a:pt x="1217103" y="6244469"/>
                    <a:pt x="1129618" y="6116590"/>
                    <a:pt x="1048147" y="5986138"/>
                  </a:cubicBezTo>
                  <a:cubicBezTo>
                    <a:pt x="1027179" y="5953825"/>
                    <a:pt x="1007414" y="5920996"/>
                    <a:pt x="987131" y="5888512"/>
                  </a:cubicBezTo>
                  <a:lnTo>
                    <a:pt x="928866" y="5793463"/>
                  </a:lnTo>
                  <a:cubicBezTo>
                    <a:pt x="891568" y="5732276"/>
                    <a:pt x="852725" y="5671260"/>
                    <a:pt x="813708" y="5609556"/>
                  </a:cubicBezTo>
                  <a:lnTo>
                    <a:pt x="574972" y="5231598"/>
                  </a:lnTo>
                  <a:cubicBezTo>
                    <a:pt x="495221" y="5103551"/>
                    <a:pt x="416158" y="4971549"/>
                    <a:pt x="342424" y="4834048"/>
                  </a:cubicBezTo>
                  <a:cubicBezTo>
                    <a:pt x="305641" y="4765298"/>
                    <a:pt x="270236" y="4695343"/>
                    <a:pt x="237579" y="4623500"/>
                  </a:cubicBezTo>
                  <a:cubicBezTo>
                    <a:pt x="204922" y="4551655"/>
                    <a:pt x="175187" y="4478607"/>
                    <a:pt x="148373" y="4404356"/>
                  </a:cubicBezTo>
                  <a:cubicBezTo>
                    <a:pt x="121561" y="4330107"/>
                    <a:pt x="99046" y="4252934"/>
                    <a:pt x="79623" y="4175762"/>
                  </a:cubicBezTo>
                  <a:cubicBezTo>
                    <a:pt x="70514" y="4136916"/>
                    <a:pt x="61577" y="4098245"/>
                    <a:pt x="54185" y="4059229"/>
                  </a:cubicBezTo>
                  <a:lnTo>
                    <a:pt x="43013" y="4000790"/>
                  </a:lnTo>
                  <a:lnTo>
                    <a:pt x="33734" y="3942180"/>
                  </a:lnTo>
                  <a:cubicBezTo>
                    <a:pt x="10461" y="3786581"/>
                    <a:pt x="-801" y="3629416"/>
                    <a:pt x="45" y="3472097"/>
                  </a:cubicBezTo>
                  <a:cubicBezTo>
                    <a:pt x="863" y="3164748"/>
                    <a:pt x="32824" y="2858275"/>
                    <a:pt x="95436" y="2557372"/>
                  </a:cubicBezTo>
                  <a:cubicBezTo>
                    <a:pt x="157549" y="2255281"/>
                    <a:pt x="253728" y="1961216"/>
                    <a:pt x="382126" y="1680799"/>
                  </a:cubicBezTo>
                  <a:cubicBezTo>
                    <a:pt x="639940" y="1120482"/>
                    <a:pt x="1015492" y="619117"/>
                    <a:pt x="1457043" y="192176"/>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A77FC097-E4F2-4A45-82E8-3808FA553C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0650" y="-5799"/>
              <a:ext cx="7291350" cy="6858000"/>
            </a:xfrm>
            <a:custGeom>
              <a:avLst/>
              <a:gdLst>
                <a:gd name="connsiteX0" fmla="*/ 7291350 w 7291350"/>
                <a:gd name="connsiteY0" fmla="*/ 5718699 h 6858000"/>
                <a:gd name="connsiteX1" fmla="*/ 7291350 w 7291350"/>
                <a:gd name="connsiteY1" fmla="*/ 6806115 h 6858000"/>
                <a:gd name="connsiteX2" fmla="*/ 7224124 w 7291350"/>
                <a:gd name="connsiteY2" fmla="*/ 6858000 h 6858000"/>
                <a:gd name="connsiteX3" fmla="*/ 5607142 w 7291350"/>
                <a:gd name="connsiteY3" fmla="*/ 6858000 h 6858000"/>
                <a:gd name="connsiteX4" fmla="*/ 5736072 w 7291350"/>
                <a:gd name="connsiteY4" fmla="*/ 6801170 h 6858000"/>
                <a:gd name="connsiteX5" fmla="*/ 6949826 w 7291350"/>
                <a:gd name="connsiteY5" fmla="*/ 5983707 h 6858000"/>
                <a:gd name="connsiteX6" fmla="*/ 7220703 w 7291350"/>
                <a:gd name="connsiteY6" fmla="*/ 5773675 h 6858000"/>
                <a:gd name="connsiteX7" fmla="*/ 7218419 w 7291350"/>
                <a:gd name="connsiteY7" fmla="*/ 0 h 6858000"/>
                <a:gd name="connsiteX8" fmla="*/ 7291350 w 7291350"/>
                <a:gd name="connsiteY8" fmla="*/ 0 h 6858000"/>
                <a:gd name="connsiteX9" fmla="*/ 7291350 w 7291350"/>
                <a:gd name="connsiteY9" fmla="*/ 50138 h 6858000"/>
                <a:gd name="connsiteX10" fmla="*/ 1797607 w 7291350"/>
                <a:gd name="connsiteY10" fmla="*/ 0 h 6858000"/>
                <a:gd name="connsiteX11" fmla="*/ 3385676 w 7291350"/>
                <a:gd name="connsiteY11" fmla="*/ 0 h 6858000"/>
                <a:gd name="connsiteX12" fmla="*/ 3360567 w 7291350"/>
                <a:gd name="connsiteY12" fmla="*/ 11552 h 6858000"/>
                <a:gd name="connsiteX13" fmla="*/ 2267395 w 7291350"/>
                <a:gd name="connsiteY13" fmla="*/ 725831 h 6858000"/>
                <a:gd name="connsiteX14" fmla="*/ 1234074 w 7291350"/>
                <a:gd name="connsiteY14" fmla="*/ 2007171 h 6858000"/>
                <a:gd name="connsiteX15" fmla="*/ 859383 w 7291350"/>
                <a:gd name="connsiteY15" fmla="*/ 3498372 h 6858000"/>
                <a:gd name="connsiteX16" fmla="*/ 1479513 w 7291350"/>
                <a:gd name="connsiteY16" fmla="*/ 4883182 h 6858000"/>
                <a:gd name="connsiteX17" fmla="*/ 1791985 w 7291350"/>
                <a:gd name="connsiteY17" fmla="*/ 5322671 h 6858000"/>
                <a:gd name="connsiteX18" fmla="*/ 3397295 w 7291350"/>
                <a:gd name="connsiteY18" fmla="*/ 6784567 h 6858000"/>
                <a:gd name="connsiteX19" fmla="*/ 3590446 w 7291350"/>
                <a:gd name="connsiteY19" fmla="*/ 6858000 h 6858000"/>
                <a:gd name="connsiteX20" fmla="*/ 1970757 w 7291350"/>
                <a:gd name="connsiteY20" fmla="*/ 6858000 h 6858000"/>
                <a:gd name="connsiteX21" fmla="*/ 1735872 w 7291350"/>
                <a:gd name="connsiteY21" fmla="*/ 6627685 h 6858000"/>
                <a:gd name="connsiteX22" fmla="*/ 1080932 w 7291350"/>
                <a:gd name="connsiteY22" fmla="*/ 5805127 h 6858000"/>
                <a:gd name="connsiteX23" fmla="*/ 0 w 7291350"/>
                <a:gd name="connsiteY23" fmla="*/ 3498372 h 6858000"/>
                <a:gd name="connsiteX24" fmla="*/ 1708174 w 7291350"/>
                <a:gd name="connsiteY24" fmla="*/ 7330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291350" h="6858000">
                  <a:moveTo>
                    <a:pt x="7291350" y="5718699"/>
                  </a:moveTo>
                  <a:lnTo>
                    <a:pt x="7291350" y="6806115"/>
                  </a:lnTo>
                  <a:lnTo>
                    <a:pt x="7224124" y="6858000"/>
                  </a:lnTo>
                  <a:lnTo>
                    <a:pt x="5607142" y="6858000"/>
                  </a:lnTo>
                  <a:lnTo>
                    <a:pt x="5736072" y="6801170"/>
                  </a:lnTo>
                  <a:cubicBezTo>
                    <a:pt x="6122313" y="6616106"/>
                    <a:pt x="6503069" y="6332805"/>
                    <a:pt x="6949826" y="5983707"/>
                  </a:cubicBezTo>
                  <a:cubicBezTo>
                    <a:pt x="7041094" y="5912378"/>
                    <a:pt x="7132358" y="5842426"/>
                    <a:pt x="7220703" y="5773675"/>
                  </a:cubicBezTo>
                  <a:close/>
                  <a:moveTo>
                    <a:pt x="7218419" y="0"/>
                  </a:moveTo>
                  <a:lnTo>
                    <a:pt x="7291350" y="0"/>
                  </a:lnTo>
                  <a:lnTo>
                    <a:pt x="7291350" y="50138"/>
                  </a:lnTo>
                  <a:close/>
                  <a:moveTo>
                    <a:pt x="1797607" y="0"/>
                  </a:moveTo>
                  <a:lnTo>
                    <a:pt x="3385676" y="0"/>
                  </a:lnTo>
                  <a:lnTo>
                    <a:pt x="3360567" y="11552"/>
                  </a:lnTo>
                  <a:cubicBezTo>
                    <a:pt x="2968013" y="202286"/>
                    <a:pt x="2600620" y="442170"/>
                    <a:pt x="2267395" y="725831"/>
                  </a:cubicBezTo>
                  <a:cubicBezTo>
                    <a:pt x="1824986" y="1104820"/>
                    <a:pt x="1477279" y="1536057"/>
                    <a:pt x="1234074" y="2007171"/>
                  </a:cubicBezTo>
                  <a:cubicBezTo>
                    <a:pt x="985368" y="2488770"/>
                    <a:pt x="859383" y="2990476"/>
                    <a:pt x="859383" y="3498372"/>
                  </a:cubicBezTo>
                  <a:cubicBezTo>
                    <a:pt x="859383" y="4010222"/>
                    <a:pt x="1060651" y="4308942"/>
                    <a:pt x="1479513" y="4883182"/>
                  </a:cubicBezTo>
                  <a:cubicBezTo>
                    <a:pt x="1580577" y="5021714"/>
                    <a:pt x="1685078" y="5164888"/>
                    <a:pt x="1791985" y="5322671"/>
                  </a:cubicBezTo>
                  <a:cubicBezTo>
                    <a:pt x="2283419" y="6046950"/>
                    <a:pt x="2796809" y="6521439"/>
                    <a:pt x="3397295" y="6784567"/>
                  </a:cubicBezTo>
                  <a:lnTo>
                    <a:pt x="3590446" y="6858000"/>
                  </a:lnTo>
                  <a:lnTo>
                    <a:pt x="1970757" y="6858000"/>
                  </a:lnTo>
                  <a:lnTo>
                    <a:pt x="1735872" y="6627685"/>
                  </a:lnTo>
                  <a:cubicBezTo>
                    <a:pt x="1502484" y="6382823"/>
                    <a:pt x="1285774" y="6107254"/>
                    <a:pt x="1080932" y="5805127"/>
                  </a:cubicBezTo>
                  <a:cubicBezTo>
                    <a:pt x="556365" y="5032027"/>
                    <a:pt x="0" y="4501616"/>
                    <a:pt x="0" y="3498372"/>
                  </a:cubicBezTo>
                  <a:cubicBezTo>
                    <a:pt x="0" y="2160829"/>
                    <a:pt x="685186" y="949872"/>
                    <a:pt x="1708174" y="7330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D0DF88B0-FA8A-47F5-8EAC-1880B1A51B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2894" y="-5799"/>
              <a:ext cx="7269107" cy="6858000"/>
            </a:xfrm>
            <a:custGeom>
              <a:avLst/>
              <a:gdLst>
                <a:gd name="connsiteX0" fmla="*/ 7269107 w 7269107"/>
                <a:gd name="connsiteY0" fmla="*/ 5518449 h 6858000"/>
                <a:gd name="connsiteX1" fmla="*/ 7269107 w 7269107"/>
                <a:gd name="connsiteY1" fmla="*/ 6823281 h 6858000"/>
                <a:gd name="connsiteX2" fmla="*/ 7224122 w 7269107"/>
                <a:gd name="connsiteY2" fmla="*/ 6858000 h 6858000"/>
                <a:gd name="connsiteX3" fmla="*/ 4927054 w 7269107"/>
                <a:gd name="connsiteY3" fmla="*/ 6858000 h 6858000"/>
                <a:gd name="connsiteX4" fmla="*/ 4982167 w 7269107"/>
                <a:gd name="connsiteY4" fmla="*/ 6852876 h 6858000"/>
                <a:gd name="connsiteX5" fmla="*/ 5743768 w 7269107"/>
                <a:gd name="connsiteY5" fmla="*/ 6606245 h 6858000"/>
                <a:gd name="connsiteX6" fmla="*/ 6843778 w 7269107"/>
                <a:gd name="connsiteY6" fmla="*/ 5848440 h 6858000"/>
                <a:gd name="connsiteX7" fmla="*/ 7115515 w 7269107"/>
                <a:gd name="connsiteY7" fmla="*/ 5637891 h 6858000"/>
                <a:gd name="connsiteX8" fmla="*/ 6870111 w 7269107"/>
                <a:gd name="connsiteY8" fmla="*/ 0 h 6858000"/>
                <a:gd name="connsiteX9" fmla="*/ 7269107 w 7269107"/>
                <a:gd name="connsiteY9" fmla="*/ 0 h 6858000"/>
                <a:gd name="connsiteX10" fmla="*/ 7269107 w 7269107"/>
                <a:gd name="connsiteY10" fmla="*/ 243137 h 6858000"/>
                <a:gd name="connsiteX11" fmla="*/ 7089989 w 7269107"/>
                <a:gd name="connsiteY11" fmla="*/ 119955 h 6858000"/>
                <a:gd name="connsiteX12" fmla="*/ 6952948 w 7269107"/>
                <a:gd name="connsiteY12" fmla="*/ 41521 h 6858000"/>
                <a:gd name="connsiteX13" fmla="*/ 1797606 w 7269107"/>
                <a:gd name="connsiteY13" fmla="*/ 0 h 6858000"/>
                <a:gd name="connsiteX14" fmla="*/ 3815328 w 7269107"/>
                <a:gd name="connsiteY14" fmla="*/ 0 h 6858000"/>
                <a:gd name="connsiteX15" fmla="*/ 3627371 w 7269107"/>
                <a:gd name="connsiteY15" fmla="*/ 77142 h 6858000"/>
                <a:gd name="connsiteX16" fmla="*/ 2379115 w 7269107"/>
                <a:gd name="connsiteY16" fmla="*/ 856285 h 6858000"/>
                <a:gd name="connsiteX17" fmla="*/ 1386699 w 7269107"/>
                <a:gd name="connsiteY17" fmla="*/ 2086062 h 6858000"/>
                <a:gd name="connsiteX18" fmla="*/ 1031258 w 7269107"/>
                <a:gd name="connsiteY18" fmla="*/ 3498372 h 6858000"/>
                <a:gd name="connsiteX19" fmla="*/ 1618904 w 7269107"/>
                <a:gd name="connsiteY19" fmla="*/ 4781604 h 6858000"/>
                <a:gd name="connsiteX20" fmla="*/ 1934812 w 7269107"/>
                <a:gd name="connsiteY20" fmla="*/ 5225904 h 6858000"/>
                <a:gd name="connsiteX21" fmla="*/ 3140010 w 7269107"/>
                <a:gd name="connsiteY21" fmla="*/ 6456196 h 6858000"/>
                <a:gd name="connsiteX22" fmla="*/ 4281662 w 7269107"/>
                <a:gd name="connsiteY22" fmla="*/ 6843305 h 6858000"/>
                <a:gd name="connsiteX23" fmla="*/ 4449058 w 7269107"/>
                <a:gd name="connsiteY23" fmla="*/ 6858000 h 6858000"/>
                <a:gd name="connsiteX24" fmla="*/ 1970756 w 7269107"/>
                <a:gd name="connsiteY24" fmla="*/ 6858000 h 6858000"/>
                <a:gd name="connsiteX25" fmla="*/ 1735871 w 7269107"/>
                <a:gd name="connsiteY25" fmla="*/ 6627685 h 6858000"/>
                <a:gd name="connsiteX26" fmla="*/ 1080930 w 7269107"/>
                <a:gd name="connsiteY26" fmla="*/ 5805127 h 6858000"/>
                <a:gd name="connsiteX27" fmla="*/ 0 w 7269107"/>
                <a:gd name="connsiteY27" fmla="*/ 3498372 h 6858000"/>
                <a:gd name="connsiteX28" fmla="*/ 1708172 w 7269107"/>
                <a:gd name="connsiteY28" fmla="*/ 7330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269107" h="6858000">
                  <a:moveTo>
                    <a:pt x="7269107" y="5518449"/>
                  </a:moveTo>
                  <a:lnTo>
                    <a:pt x="7269107" y="6823281"/>
                  </a:lnTo>
                  <a:lnTo>
                    <a:pt x="7224122" y="6858000"/>
                  </a:lnTo>
                  <a:lnTo>
                    <a:pt x="4927054" y="6858000"/>
                  </a:lnTo>
                  <a:lnTo>
                    <a:pt x="4982167" y="6852876"/>
                  </a:lnTo>
                  <a:cubicBezTo>
                    <a:pt x="5236517" y="6821036"/>
                    <a:pt x="5483373" y="6740566"/>
                    <a:pt x="5743768" y="6606245"/>
                  </a:cubicBezTo>
                  <a:cubicBezTo>
                    <a:pt x="6099551" y="6422337"/>
                    <a:pt x="6452586" y="6154209"/>
                    <a:pt x="6843778" y="5848440"/>
                  </a:cubicBezTo>
                  <a:cubicBezTo>
                    <a:pt x="6935559" y="5776768"/>
                    <a:pt x="7026997" y="5706642"/>
                    <a:pt x="7115515" y="5637891"/>
                  </a:cubicBezTo>
                  <a:close/>
                  <a:moveTo>
                    <a:pt x="6870111" y="0"/>
                  </a:moveTo>
                  <a:lnTo>
                    <a:pt x="7269107" y="0"/>
                  </a:lnTo>
                  <a:lnTo>
                    <a:pt x="7269107" y="243137"/>
                  </a:lnTo>
                  <a:lnTo>
                    <a:pt x="7089989" y="119955"/>
                  </a:lnTo>
                  <a:cubicBezTo>
                    <a:pt x="7045081" y="92581"/>
                    <a:pt x="6999384" y="66425"/>
                    <a:pt x="6952948" y="41521"/>
                  </a:cubicBezTo>
                  <a:close/>
                  <a:moveTo>
                    <a:pt x="1797606" y="0"/>
                  </a:moveTo>
                  <a:lnTo>
                    <a:pt x="3815328" y="0"/>
                  </a:lnTo>
                  <a:lnTo>
                    <a:pt x="3627371" y="77142"/>
                  </a:lnTo>
                  <a:cubicBezTo>
                    <a:pt x="3175548" y="273822"/>
                    <a:pt x="2754868" y="536281"/>
                    <a:pt x="2379115" y="856285"/>
                  </a:cubicBezTo>
                  <a:cubicBezTo>
                    <a:pt x="1959736" y="1215679"/>
                    <a:pt x="1616497" y="1640901"/>
                    <a:pt x="1386699" y="2086062"/>
                  </a:cubicBezTo>
                  <a:cubicBezTo>
                    <a:pt x="1151572" y="2543083"/>
                    <a:pt x="1031258" y="3018150"/>
                    <a:pt x="1031258" y="3498372"/>
                  </a:cubicBezTo>
                  <a:cubicBezTo>
                    <a:pt x="1031258" y="3957455"/>
                    <a:pt x="1211213" y="4223692"/>
                    <a:pt x="1618904" y="4781604"/>
                  </a:cubicBezTo>
                  <a:cubicBezTo>
                    <a:pt x="1720826" y="4921339"/>
                    <a:pt x="1826186" y="5065887"/>
                    <a:pt x="1934812" y="5225904"/>
                  </a:cubicBezTo>
                  <a:cubicBezTo>
                    <a:pt x="2318957" y="5792064"/>
                    <a:pt x="2713069" y="6194600"/>
                    <a:pt x="3140010" y="6456196"/>
                  </a:cubicBezTo>
                  <a:cubicBezTo>
                    <a:pt x="3479423" y="6664512"/>
                    <a:pt x="3855769" y="6792387"/>
                    <a:pt x="4281662" y="6843305"/>
                  </a:cubicBezTo>
                  <a:lnTo>
                    <a:pt x="4449058" y="6858000"/>
                  </a:lnTo>
                  <a:lnTo>
                    <a:pt x="1970756" y="6858000"/>
                  </a:lnTo>
                  <a:lnTo>
                    <a:pt x="1735871" y="6627685"/>
                  </a:lnTo>
                  <a:cubicBezTo>
                    <a:pt x="1502482" y="6382823"/>
                    <a:pt x="1285773" y="6107254"/>
                    <a:pt x="1080930" y="5805127"/>
                  </a:cubicBezTo>
                  <a:cubicBezTo>
                    <a:pt x="556364" y="5032027"/>
                    <a:pt x="0" y="4501616"/>
                    <a:pt x="0" y="3498372"/>
                  </a:cubicBezTo>
                  <a:cubicBezTo>
                    <a:pt x="0" y="2160829"/>
                    <a:pt x="685185" y="949872"/>
                    <a:pt x="1708172" y="73302"/>
                  </a:cubicBezTo>
                  <a:close/>
                </a:path>
              </a:pathLst>
            </a:custGeom>
            <a:gradFill>
              <a:gsLst>
                <a:gs pos="2000">
                  <a:schemeClr val="bg1">
                    <a:alpha val="10000"/>
                  </a:schemeClr>
                </a:gs>
                <a:gs pos="5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 name="Espace réservé du contenu 2">
            <a:extLst>
              <a:ext uri="{FF2B5EF4-FFF2-40B4-BE49-F238E27FC236}">
                <a16:creationId xmlns:a16="http://schemas.microsoft.com/office/drawing/2014/main" id="{1FE672FD-24D1-46F1-7C8D-309D697C72A2}"/>
              </a:ext>
            </a:extLst>
          </p:cNvPr>
          <p:cNvSpPr>
            <a:spLocks noGrp="1"/>
          </p:cNvSpPr>
          <p:nvPr>
            <p:ph idx="1"/>
          </p:nvPr>
        </p:nvSpPr>
        <p:spPr>
          <a:xfrm>
            <a:off x="6632812" y="1032987"/>
            <a:ext cx="4919108" cy="4792027"/>
          </a:xfrm>
        </p:spPr>
        <p:txBody>
          <a:bodyPr vert="horz" lIns="91440" tIns="45720" rIns="91440" bIns="45720" rtlCol="0" anchor="ctr">
            <a:normAutofit/>
          </a:bodyPr>
          <a:lstStyle/>
          <a:p>
            <a:r>
              <a:rPr lang="fr-FR" sz="1700" dirty="0">
                <a:solidFill>
                  <a:schemeClr val="tx2"/>
                </a:solidFill>
                <a:latin typeface="Arial"/>
                <a:ea typeface="Calibri"/>
                <a:cs typeface="Calibri"/>
              </a:rPr>
              <a:t>Les impôts et taxes courantes sont la Tva mensuelle à déclarer et payer et le CFE payé annuellement. Et enfin l’IS résultant du bilan (paiement annuel).</a:t>
            </a:r>
            <a:endParaRPr lang="fr-FR" sz="1700" dirty="0">
              <a:solidFill>
                <a:schemeClr val="tx2"/>
              </a:solidFill>
              <a:latin typeface="Arial"/>
              <a:cs typeface="Arial"/>
            </a:endParaRPr>
          </a:p>
          <a:p>
            <a:r>
              <a:rPr lang="fr-FR" sz="1700" dirty="0">
                <a:solidFill>
                  <a:schemeClr val="tx2"/>
                </a:solidFill>
                <a:latin typeface="Arial"/>
                <a:ea typeface="Calibri"/>
                <a:cs typeface="Calibri"/>
              </a:rPr>
              <a:t>Les charges sociales sont calculées par un organisme auquel nous sommes affilié, qui les calcule et les  déclare auprès des organismes (URSSAF, …), ce qui induit les prélèvements correspondants.</a:t>
            </a:r>
            <a:endParaRPr lang="fr-FR" sz="1700" dirty="0">
              <a:solidFill>
                <a:schemeClr val="tx2"/>
              </a:solidFill>
              <a:latin typeface="Arial"/>
              <a:cs typeface="Arial"/>
            </a:endParaRPr>
          </a:p>
          <a:p>
            <a:r>
              <a:rPr lang="fr-FR" sz="1700" dirty="0">
                <a:solidFill>
                  <a:schemeClr val="tx2"/>
                </a:solidFill>
                <a:latin typeface="Arial"/>
                <a:ea typeface="Calibri"/>
                <a:cs typeface="Calibri"/>
              </a:rPr>
              <a:t>Quant au subventions, nous ne touchons que l’allocation versée pour le poste en alternance (pour toi) versée trimestriellement. Ce poste étant aidé, nous n’avons aucune charge au titre de l’école de l’alternant (ce qui constitue une subvention). Au moment du Covid, nous avons contracté un prêt BPI, qui nous a permis de survivre, et que nous remboursons mensuellement.</a:t>
            </a:r>
            <a:endParaRPr lang="fr-FR" sz="1700" dirty="0">
              <a:solidFill>
                <a:schemeClr val="tx2"/>
              </a:solidFill>
              <a:latin typeface="Arial"/>
              <a:cs typeface="Arial"/>
            </a:endParaRPr>
          </a:p>
        </p:txBody>
      </p:sp>
    </p:spTree>
    <p:extLst>
      <p:ext uri="{BB962C8B-B14F-4D97-AF65-F5344CB8AC3E}">
        <p14:creationId xmlns:p14="http://schemas.microsoft.com/office/powerpoint/2010/main" val="29567587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re 1">
            <a:extLst>
              <a:ext uri="{FF2B5EF4-FFF2-40B4-BE49-F238E27FC236}">
                <a16:creationId xmlns:a16="http://schemas.microsoft.com/office/drawing/2014/main" id="{1269B014-4447-1F97-9FE0-89DA1429FAA0}"/>
              </a:ext>
            </a:extLst>
          </p:cNvPr>
          <p:cNvSpPr>
            <a:spLocks noGrp="1"/>
          </p:cNvSpPr>
          <p:nvPr>
            <p:ph type="title"/>
          </p:nvPr>
        </p:nvSpPr>
        <p:spPr>
          <a:xfrm>
            <a:off x="640080" y="1243013"/>
            <a:ext cx="3855720" cy="4371974"/>
          </a:xfrm>
        </p:spPr>
        <p:txBody>
          <a:bodyPr>
            <a:normAutofit/>
          </a:bodyPr>
          <a:lstStyle/>
          <a:p>
            <a:r>
              <a:rPr lang="fr-FR" sz="3600">
                <a:solidFill>
                  <a:schemeClr val="tx2"/>
                </a:solidFill>
              </a:rPr>
              <a:t>Règles / Normes</a:t>
            </a:r>
          </a:p>
        </p:txBody>
      </p:sp>
      <p:sp>
        <p:nvSpPr>
          <p:cNvPr id="3" name="Espace réservé du contenu 2">
            <a:extLst>
              <a:ext uri="{FF2B5EF4-FFF2-40B4-BE49-F238E27FC236}">
                <a16:creationId xmlns:a16="http://schemas.microsoft.com/office/drawing/2014/main" id="{3E0486F5-96FE-241D-1A54-5E97047FB498}"/>
              </a:ext>
            </a:extLst>
          </p:cNvPr>
          <p:cNvSpPr>
            <a:spLocks noGrp="1"/>
          </p:cNvSpPr>
          <p:nvPr>
            <p:ph idx="1"/>
          </p:nvPr>
        </p:nvSpPr>
        <p:spPr>
          <a:xfrm>
            <a:off x="6172200" y="804672"/>
            <a:ext cx="5221224" cy="5230368"/>
          </a:xfrm>
        </p:spPr>
        <p:txBody>
          <a:bodyPr vert="horz" lIns="91440" tIns="45720" rIns="91440" bIns="45720" rtlCol="0" anchor="ctr">
            <a:normAutofit/>
          </a:bodyPr>
          <a:lstStyle/>
          <a:p>
            <a:r>
              <a:rPr lang="fr-FR" sz="1800">
                <a:solidFill>
                  <a:schemeClr val="tx2"/>
                </a:solidFill>
                <a:latin typeface="Arial"/>
                <a:cs typeface="Times New Roman"/>
              </a:rPr>
              <a:t> </a:t>
            </a:r>
            <a:r>
              <a:rPr lang="fr-FR" sz="1800">
                <a:solidFill>
                  <a:schemeClr val="tx2"/>
                </a:solidFill>
                <a:latin typeface="Arial"/>
                <a:ea typeface="Calibri"/>
                <a:cs typeface="Calibri"/>
              </a:rPr>
              <a:t>Nous mettons en œuvre des solutions technologiques (connectique, vidéo, gestion d’accès et d’identité) tous métiers utilisant des dispositifs normalisés et donc encadrés. Ces normes sont embarquées dans le matériel installé. Nous n’avons donc pas d’effort particulier à faire, car la mise en service normale de ces solutions suppose le respect de ces normes</a:t>
            </a:r>
            <a:endParaRPr lang="fr-FR" sz="1800">
              <a:solidFill>
                <a:schemeClr val="tx2"/>
              </a:solidFill>
              <a:latin typeface="Arial"/>
              <a:cs typeface="Arial"/>
            </a:endParaRPr>
          </a:p>
        </p:txBody>
      </p:sp>
    </p:spTree>
    <p:extLst>
      <p:ext uri="{BB962C8B-B14F-4D97-AF65-F5344CB8AC3E}">
        <p14:creationId xmlns:p14="http://schemas.microsoft.com/office/powerpoint/2010/main" val="3019009478"/>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90</TotalTime>
  <Words>830</Words>
  <Application>Microsoft Office PowerPoint</Application>
  <PresentationFormat>Grand écran</PresentationFormat>
  <Paragraphs>86</Paragraphs>
  <Slides>15</Slides>
  <Notes>2</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15</vt:i4>
      </vt:variant>
    </vt:vector>
  </HeadingPairs>
  <TitlesOfParts>
    <vt:vector size="22" baseType="lpstr">
      <vt:lpstr>Aptos</vt:lpstr>
      <vt:lpstr>Aptos Display</vt:lpstr>
      <vt:lpstr>Arial</vt:lpstr>
      <vt:lpstr>Calibri</vt:lpstr>
      <vt:lpstr>Century Schoolbook</vt:lpstr>
      <vt:lpstr>Verdana</vt:lpstr>
      <vt:lpstr>Thème Office</vt:lpstr>
      <vt:lpstr>FICHE D'ENTREPRISE</vt:lpstr>
      <vt:lpstr>SOMMAIRE</vt:lpstr>
      <vt:lpstr>Présentation PowerPoint</vt:lpstr>
      <vt:lpstr>Présentation PowerPoint</vt:lpstr>
      <vt:lpstr>Secteur d'activité : </vt:lpstr>
      <vt:lpstr>Historique</vt:lpstr>
      <vt:lpstr>RGPD</vt:lpstr>
      <vt:lpstr>Principales Parties Prenantes</vt:lpstr>
      <vt:lpstr>Pouvons-nous considérer ISTEC comme une entreprise performante ?</vt:lpstr>
      <vt:lpstr>Actions RSE</vt:lpstr>
      <vt:lpstr>Responsable </vt:lpstr>
      <vt:lpstr>Pérennité</vt:lpstr>
      <vt:lpstr>Les principaux déséquilibres qui impactent l’entreprise</vt:lpstr>
      <vt:lpstr>Impots / Taxes / Cotisations Sociale</vt:lpstr>
      <vt:lpstr>Règles / Normes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Ilan</dc:creator>
  <cp:lastModifiedBy>Ilan BENAMOU</cp:lastModifiedBy>
  <cp:revision>411</cp:revision>
  <dcterms:created xsi:type="dcterms:W3CDTF">2025-01-07T11:32:56Z</dcterms:created>
  <dcterms:modified xsi:type="dcterms:W3CDTF">2026-02-25T20:13:51Z</dcterms:modified>
</cp:coreProperties>
</file>